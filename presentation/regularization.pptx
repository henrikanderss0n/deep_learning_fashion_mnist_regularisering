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8" r:id="rId3"/>
    <p:sldId id="259" r:id="rId4"/>
    <p:sldId id="260" r:id="rId5"/>
    <p:sldId id="261" r:id="rId6"/>
    <p:sldId id="262" r:id="rId7"/>
    <p:sldId id="263" r:id="rId8"/>
    <p:sldId id="264" r:id="rId9"/>
    <p:sldId id="265" r:id="rId10"/>
    <p:sldId id="266" r:id="rId11"/>
  </p:sldIdLst>
  <p:sldSz cx="12192000" cy="6858000"/>
  <p:notesSz cx="6858000" cy="9144000"/>
  <p:defaultTextStyle>
    <a:defPPr>
      <a:defRPr lang="sv-S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8CFF"/>
    <a:srgbClr val="EAF4FF"/>
    <a:srgbClr val="FFFFFF"/>
    <a:srgbClr val="522E2E"/>
    <a:srgbClr val="B57BFF"/>
    <a:srgbClr val="45B36B"/>
    <a:srgbClr val="E88A2E"/>
    <a:srgbClr val="63B3FF"/>
    <a:srgbClr val="006BB3"/>
    <a:srgbClr val="5CC8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Rubrikbild">
    <p:spTree>
      <p:nvGrpSpPr>
        <p:cNvPr id="1" name=""/>
        <p:cNvGrpSpPr/>
        <p:nvPr/>
      </p:nvGrpSpPr>
      <p:grpSpPr>
        <a:xfrm>
          <a:off x="0" y="0"/>
          <a:ext cx="0" cy="0"/>
          <a:chOff x="0" y="0"/>
          <a:chExt cx="0" cy="0"/>
        </a:xfrm>
      </p:grpSpPr>
      <p:sp>
        <p:nvSpPr>
          <p:cNvPr id="2" name="Rubrik 1"/>
          <p:cNvSpPr>
            <a:spLocks noGrp="1"/>
          </p:cNvSpPr>
          <p:nvPr>
            <p:ph type="ctrTitle"/>
          </p:nvPr>
        </p:nvSpPr>
        <p:spPr>
          <a:xfrm>
            <a:off x="1524000" y="1122363"/>
            <a:ext cx="9144000" cy="2387600"/>
          </a:xfrm>
        </p:spPr>
        <p:txBody>
          <a:bodyPr anchor="b"/>
          <a:lstStyle>
            <a:lvl1pPr algn="ctr">
              <a:defRPr sz="6000"/>
            </a:lvl1pPr>
          </a:lstStyle>
          <a:p>
            <a:r>
              <a:rPr lang="sv-SE"/>
              <a:t>Klicka här för att ändra format</a:t>
            </a:r>
          </a:p>
        </p:txBody>
      </p:sp>
      <p:sp>
        <p:nvSpPr>
          <p:cNvPr id="3" name="Underrubrik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sv-SE"/>
              <a:t>Klicka här för att ändra format på underrubrik i bakgrunden</a:t>
            </a:r>
          </a:p>
        </p:txBody>
      </p:sp>
      <p:sp>
        <p:nvSpPr>
          <p:cNvPr id="4" name="Platshållare för datum 3"/>
          <p:cNvSpPr>
            <a:spLocks noGrp="1"/>
          </p:cNvSpPr>
          <p:nvPr>
            <p:ph type="dt" sz="half" idx="10"/>
          </p:nvPr>
        </p:nvSpPr>
        <p:spPr/>
        <p:txBody>
          <a:bodyPr/>
          <a:lstStyle/>
          <a:p>
            <a:fld id="{1560A13A-DB3F-4AD5-B6AF-BDA0278A0A39}" type="datetimeFigureOut">
              <a:rPr lang="sv-SE" smtClean="0"/>
              <a:t>2026-05-25</a:t>
            </a:fld>
            <a:endParaRPr lang="sv-SE"/>
          </a:p>
        </p:txBody>
      </p:sp>
      <p:sp>
        <p:nvSpPr>
          <p:cNvPr id="5" name="Platshållare för sidfot 4"/>
          <p:cNvSpPr>
            <a:spLocks noGrp="1"/>
          </p:cNvSpPr>
          <p:nvPr>
            <p:ph type="ftr" sz="quarter" idx="11"/>
          </p:nvPr>
        </p:nvSpPr>
        <p:spPr/>
        <p:txBody>
          <a:bodyPr/>
          <a:lstStyle/>
          <a:p>
            <a:endParaRPr lang="sv-SE"/>
          </a:p>
        </p:txBody>
      </p:sp>
      <p:sp>
        <p:nvSpPr>
          <p:cNvPr id="6" name="Platshållare för bildnummer 5"/>
          <p:cNvSpPr>
            <a:spLocks noGrp="1"/>
          </p:cNvSpPr>
          <p:nvPr>
            <p:ph type="sldNum" sz="quarter" idx="12"/>
          </p:nvPr>
        </p:nvSpPr>
        <p:spPr/>
        <p:txBody>
          <a:bodyPr/>
          <a:lstStyle/>
          <a:p>
            <a:fld id="{F7C2F05B-BAF9-488D-83DE-20A7CCFAC190}" type="slidenum">
              <a:rPr lang="sv-SE" smtClean="0"/>
              <a:t>‹#›</a:t>
            </a:fld>
            <a:endParaRPr lang="sv-SE"/>
          </a:p>
        </p:txBody>
      </p:sp>
    </p:spTree>
    <p:extLst>
      <p:ext uri="{BB962C8B-B14F-4D97-AF65-F5344CB8AC3E}">
        <p14:creationId xmlns:p14="http://schemas.microsoft.com/office/powerpoint/2010/main" val="378442252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Rubrik och innehåll">
    <p:spTree>
      <p:nvGrpSpPr>
        <p:cNvPr id="1" name=""/>
        <p:cNvGrpSpPr/>
        <p:nvPr/>
      </p:nvGrpSpPr>
      <p:grpSpPr>
        <a:xfrm>
          <a:off x="0" y="0"/>
          <a:ext cx="0" cy="0"/>
          <a:chOff x="0" y="0"/>
          <a:chExt cx="0" cy="0"/>
        </a:xfrm>
      </p:grpSpPr>
      <p:sp>
        <p:nvSpPr>
          <p:cNvPr id="2" name="Rubrik 1"/>
          <p:cNvSpPr>
            <a:spLocks noGrp="1"/>
          </p:cNvSpPr>
          <p:nvPr>
            <p:ph type="title"/>
          </p:nvPr>
        </p:nvSpPr>
        <p:spPr/>
        <p:txBody>
          <a:bodyPr/>
          <a:lstStyle/>
          <a:p>
            <a:r>
              <a:rPr lang="sv-SE"/>
              <a:t>Klicka här för att ändra format</a:t>
            </a:r>
          </a:p>
        </p:txBody>
      </p:sp>
      <p:sp>
        <p:nvSpPr>
          <p:cNvPr id="3" name="Platshållare för innehåll 2"/>
          <p:cNvSpPr>
            <a:spLocks noGrp="1"/>
          </p:cNvSpPr>
          <p:nvPr>
            <p:ph idx="1"/>
          </p:nvPr>
        </p:nvSpPr>
        <p:spPr/>
        <p:txBody>
          <a:bodyPr/>
          <a:lstStyle/>
          <a:p>
            <a:pPr lvl="0"/>
            <a:r>
              <a:rPr lang="sv-SE"/>
              <a:t>Klicka här för att ändra format på bakgrundstexten</a:t>
            </a:r>
          </a:p>
          <a:p>
            <a:pPr lvl="1"/>
            <a:r>
              <a:rPr lang="sv-SE"/>
              <a:t>Nivå två</a:t>
            </a:r>
          </a:p>
          <a:p>
            <a:pPr lvl="2"/>
            <a:r>
              <a:rPr lang="sv-SE"/>
              <a:t>Nivå tre</a:t>
            </a:r>
          </a:p>
          <a:p>
            <a:pPr lvl="3"/>
            <a:r>
              <a:rPr lang="sv-SE"/>
              <a:t>Nivå fyra</a:t>
            </a:r>
          </a:p>
          <a:p>
            <a:pPr lvl="4"/>
            <a:r>
              <a:rPr lang="sv-SE"/>
              <a:t>Nivå fem</a:t>
            </a:r>
          </a:p>
        </p:txBody>
      </p:sp>
      <p:sp>
        <p:nvSpPr>
          <p:cNvPr id="4" name="Platshållare för datum 3"/>
          <p:cNvSpPr>
            <a:spLocks noGrp="1"/>
          </p:cNvSpPr>
          <p:nvPr>
            <p:ph type="dt" sz="half" idx="10"/>
          </p:nvPr>
        </p:nvSpPr>
        <p:spPr/>
        <p:txBody>
          <a:bodyPr/>
          <a:lstStyle/>
          <a:p>
            <a:fld id="{1560A13A-DB3F-4AD5-B6AF-BDA0278A0A39}" type="datetimeFigureOut">
              <a:rPr lang="sv-SE" smtClean="0"/>
              <a:t>2026-05-25</a:t>
            </a:fld>
            <a:endParaRPr lang="sv-SE"/>
          </a:p>
        </p:txBody>
      </p:sp>
      <p:sp>
        <p:nvSpPr>
          <p:cNvPr id="5" name="Platshållare för sidfot 4"/>
          <p:cNvSpPr>
            <a:spLocks noGrp="1"/>
          </p:cNvSpPr>
          <p:nvPr>
            <p:ph type="ftr" sz="quarter" idx="11"/>
          </p:nvPr>
        </p:nvSpPr>
        <p:spPr/>
        <p:txBody>
          <a:bodyPr/>
          <a:lstStyle/>
          <a:p>
            <a:endParaRPr lang="sv-SE"/>
          </a:p>
        </p:txBody>
      </p:sp>
      <p:sp>
        <p:nvSpPr>
          <p:cNvPr id="6" name="Platshållare för bildnummer 5"/>
          <p:cNvSpPr>
            <a:spLocks noGrp="1"/>
          </p:cNvSpPr>
          <p:nvPr>
            <p:ph type="sldNum" sz="quarter" idx="12"/>
          </p:nvPr>
        </p:nvSpPr>
        <p:spPr/>
        <p:txBody>
          <a:bodyPr/>
          <a:lstStyle/>
          <a:p>
            <a:fld id="{F7C2F05B-BAF9-488D-83DE-20A7CCFAC190}" type="slidenum">
              <a:rPr lang="sv-SE" smtClean="0"/>
              <a:t>‹#›</a:t>
            </a:fld>
            <a:endParaRPr lang="sv-SE"/>
          </a:p>
        </p:txBody>
      </p:sp>
    </p:spTree>
    <p:extLst>
      <p:ext uri="{BB962C8B-B14F-4D97-AF65-F5344CB8AC3E}">
        <p14:creationId xmlns:p14="http://schemas.microsoft.com/office/powerpoint/2010/main" val="132272054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Avsnittsrubrik">
    <p:spTree>
      <p:nvGrpSpPr>
        <p:cNvPr id="1" name=""/>
        <p:cNvGrpSpPr/>
        <p:nvPr/>
      </p:nvGrpSpPr>
      <p:grpSpPr>
        <a:xfrm>
          <a:off x="0" y="0"/>
          <a:ext cx="0" cy="0"/>
          <a:chOff x="0" y="0"/>
          <a:chExt cx="0" cy="0"/>
        </a:xfrm>
      </p:grpSpPr>
      <p:sp>
        <p:nvSpPr>
          <p:cNvPr id="2" name="Rubrik 1"/>
          <p:cNvSpPr>
            <a:spLocks noGrp="1"/>
          </p:cNvSpPr>
          <p:nvPr>
            <p:ph type="title"/>
          </p:nvPr>
        </p:nvSpPr>
        <p:spPr>
          <a:xfrm>
            <a:off x="831850" y="1709738"/>
            <a:ext cx="10515600" cy="2852737"/>
          </a:xfrm>
        </p:spPr>
        <p:txBody>
          <a:bodyPr anchor="b"/>
          <a:lstStyle>
            <a:lvl1pPr>
              <a:defRPr sz="6000"/>
            </a:lvl1pPr>
          </a:lstStyle>
          <a:p>
            <a:r>
              <a:rPr lang="sv-SE"/>
              <a:t>Klicka här för att ändra format</a:t>
            </a:r>
          </a:p>
        </p:txBody>
      </p:sp>
      <p:sp>
        <p:nvSpPr>
          <p:cNvPr id="3" name="Platshållare för text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sv-SE"/>
              <a:t>Klicka här för att ändra format på bakgrundstexten</a:t>
            </a:r>
          </a:p>
        </p:txBody>
      </p:sp>
      <p:sp>
        <p:nvSpPr>
          <p:cNvPr id="4" name="Platshållare för datum 3"/>
          <p:cNvSpPr>
            <a:spLocks noGrp="1"/>
          </p:cNvSpPr>
          <p:nvPr>
            <p:ph type="dt" sz="half" idx="10"/>
          </p:nvPr>
        </p:nvSpPr>
        <p:spPr/>
        <p:txBody>
          <a:bodyPr/>
          <a:lstStyle/>
          <a:p>
            <a:fld id="{1560A13A-DB3F-4AD5-B6AF-BDA0278A0A39}" type="datetimeFigureOut">
              <a:rPr lang="sv-SE" smtClean="0"/>
              <a:t>2026-05-25</a:t>
            </a:fld>
            <a:endParaRPr lang="sv-SE"/>
          </a:p>
        </p:txBody>
      </p:sp>
      <p:sp>
        <p:nvSpPr>
          <p:cNvPr id="5" name="Platshållare för sidfot 4"/>
          <p:cNvSpPr>
            <a:spLocks noGrp="1"/>
          </p:cNvSpPr>
          <p:nvPr>
            <p:ph type="ftr" sz="quarter" idx="11"/>
          </p:nvPr>
        </p:nvSpPr>
        <p:spPr/>
        <p:txBody>
          <a:bodyPr/>
          <a:lstStyle/>
          <a:p>
            <a:endParaRPr lang="sv-SE"/>
          </a:p>
        </p:txBody>
      </p:sp>
      <p:sp>
        <p:nvSpPr>
          <p:cNvPr id="6" name="Platshållare för bildnummer 5"/>
          <p:cNvSpPr>
            <a:spLocks noGrp="1"/>
          </p:cNvSpPr>
          <p:nvPr>
            <p:ph type="sldNum" sz="quarter" idx="12"/>
          </p:nvPr>
        </p:nvSpPr>
        <p:spPr/>
        <p:txBody>
          <a:bodyPr/>
          <a:lstStyle/>
          <a:p>
            <a:fld id="{F7C2F05B-BAF9-488D-83DE-20A7CCFAC190}" type="slidenum">
              <a:rPr lang="sv-SE" smtClean="0"/>
              <a:t>‹#›</a:t>
            </a:fld>
            <a:endParaRPr lang="sv-SE"/>
          </a:p>
        </p:txBody>
      </p:sp>
    </p:spTree>
    <p:extLst>
      <p:ext uri="{BB962C8B-B14F-4D97-AF65-F5344CB8AC3E}">
        <p14:creationId xmlns:p14="http://schemas.microsoft.com/office/powerpoint/2010/main" val="418672825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vå innehållsdelar">
    <p:spTree>
      <p:nvGrpSpPr>
        <p:cNvPr id="1" name=""/>
        <p:cNvGrpSpPr/>
        <p:nvPr/>
      </p:nvGrpSpPr>
      <p:grpSpPr>
        <a:xfrm>
          <a:off x="0" y="0"/>
          <a:ext cx="0" cy="0"/>
          <a:chOff x="0" y="0"/>
          <a:chExt cx="0" cy="0"/>
        </a:xfrm>
      </p:grpSpPr>
      <p:sp>
        <p:nvSpPr>
          <p:cNvPr id="2" name="Rubrik 1"/>
          <p:cNvSpPr>
            <a:spLocks noGrp="1"/>
          </p:cNvSpPr>
          <p:nvPr>
            <p:ph type="title"/>
          </p:nvPr>
        </p:nvSpPr>
        <p:spPr/>
        <p:txBody>
          <a:bodyPr/>
          <a:lstStyle/>
          <a:p>
            <a:r>
              <a:rPr lang="sv-SE"/>
              <a:t>Klicka här för att ändra format</a:t>
            </a:r>
          </a:p>
        </p:txBody>
      </p:sp>
      <p:sp>
        <p:nvSpPr>
          <p:cNvPr id="3" name="Platshållare för innehåll 2"/>
          <p:cNvSpPr>
            <a:spLocks noGrp="1"/>
          </p:cNvSpPr>
          <p:nvPr>
            <p:ph sz="half" idx="1"/>
          </p:nvPr>
        </p:nvSpPr>
        <p:spPr>
          <a:xfrm>
            <a:off x="838200" y="1825625"/>
            <a:ext cx="5181600" cy="4351338"/>
          </a:xfrm>
        </p:spPr>
        <p:txBody>
          <a:bodyPr/>
          <a:lstStyle/>
          <a:p>
            <a:pPr lvl="0"/>
            <a:r>
              <a:rPr lang="sv-SE"/>
              <a:t>Klicka här för att ändra format på bakgrundstexten</a:t>
            </a:r>
          </a:p>
          <a:p>
            <a:pPr lvl="1"/>
            <a:r>
              <a:rPr lang="sv-SE"/>
              <a:t>Nivå två</a:t>
            </a:r>
          </a:p>
          <a:p>
            <a:pPr lvl="2"/>
            <a:r>
              <a:rPr lang="sv-SE"/>
              <a:t>Nivå tre</a:t>
            </a:r>
          </a:p>
          <a:p>
            <a:pPr lvl="3"/>
            <a:r>
              <a:rPr lang="sv-SE"/>
              <a:t>Nivå fyra</a:t>
            </a:r>
          </a:p>
          <a:p>
            <a:pPr lvl="4"/>
            <a:r>
              <a:rPr lang="sv-SE"/>
              <a:t>Nivå fem</a:t>
            </a:r>
          </a:p>
        </p:txBody>
      </p:sp>
      <p:sp>
        <p:nvSpPr>
          <p:cNvPr id="4" name="Platshållare för innehåll 3"/>
          <p:cNvSpPr>
            <a:spLocks noGrp="1"/>
          </p:cNvSpPr>
          <p:nvPr>
            <p:ph sz="half" idx="2"/>
          </p:nvPr>
        </p:nvSpPr>
        <p:spPr>
          <a:xfrm>
            <a:off x="6172200" y="1825625"/>
            <a:ext cx="5181600" cy="4351338"/>
          </a:xfrm>
        </p:spPr>
        <p:txBody>
          <a:bodyPr/>
          <a:lstStyle/>
          <a:p>
            <a:pPr lvl="0"/>
            <a:r>
              <a:rPr lang="sv-SE"/>
              <a:t>Klicka här för att ändra format på bakgrundstexten</a:t>
            </a:r>
          </a:p>
          <a:p>
            <a:pPr lvl="1"/>
            <a:r>
              <a:rPr lang="sv-SE"/>
              <a:t>Nivå två</a:t>
            </a:r>
          </a:p>
          <a:p>
            <a:pPr lvl="2"/>
            <a:r>
              <a:rPr lang="sv-SE"/>
              <a:t>Nivå tre</a:t>
            </a:r>
          </a:p>
          <a:p>
            <a:pPr lvl="3"/>
            <a:r>
              <a:rPr lang="sv-SE"/>
              <a:t>Nivå fyra</a:t>
            </a:r>
          </a:p>
          <a:p>
            <a:pPr lvl="4"/>
            <a:r>
              <a:rPr lang="sv-SE"/>
              <a:t>Nivå fem</a:t>
            </a:r>
          </a:p>
        </p:txBody>
      </p:sp>
      <p:sp>
        <p:nvSpPr>
          <p:cNvPr id="5" name="Platshållare för datum 4"/>
          <p:cNvSpPr>
            <a:spLocks noGrp="1"/>
          </p:cNvSpPr>
          <p:nvPr>
            <p:ph type="dt" sz="half" idx="10"/>
          </p:nvPr>
        </p:nvSpPr>
        <p:spPr/>
        <p:txBody>
          <a:bodyPr/>
          <a:lstStyle/>
          <a:p>
            <a:fld id="{1560A13A-DB3F-4AD5-B6AF-BDA0278A0A39}" type="datetimeFigureOut">
              <a:rPr lang="sv-SE" smtClean="0"/>
              <a:t>2026-05-25</a:t>
            </a:fld>
            <a:endParaRPr lang="sv-SE"/>
          </a:p>
        </p:txBody>
      </p:sp>
      <p:sp>
        <p:nvSpPr>
          <p:cNvPr id="6" name="Platshållare för sidfot 5"/>
          <p:cNvSpPr>
            <a:spLocks noGrp="1"/>
          </p:cNvSpPr>
          <p:nvPr>
            <p:ph type="ftr" sz="quarter" idx="11"/>
          </p:nvPr>
        </p:nvSpPr>
        <p:spPr/>
        <p:txBody>
          <a:bodyPr/>
          <a:lstStyle/>
          <a:p>
            <a:endParaRPr lang="sv-SE"/>
          </a:p>
        </p:txBody>
      </p:sp>
      <p:sp>
        <p:nvSpPr>
          <p:cNvPr id="7" name="Platshållare för bildnummer 6"/>
          <p:cNvSpPr>
            <a:spLocks noGrp="1"/>
          </p:cNvSpPr>
          <p:nvPr>
            <p:ph type="sldNum" sz="quarter" idx="12"/>
          </p:nvPr>
        </p:nvSpPr>
        <p:spPr/>
        <p:txBody>
          <a:bodyPr/>
          <a:lstStyle/>
          <a:p>
            <a:fld id="{F7C2F05B-BAF9-488D-83DE-20A7CCFAC190}" type="slidenum">
              <a:rPr lang="sv-SE" smtClean="0"/>
              <a:t>‹#›</a:t>
            </a:fld>
            <a:endParaRPr lang="sv-SE"/>
          </a:p>
        </p:txBody>
      </p:sp>
    </p:spTree>
    <p:extLst>
      <p:ext uri="{BB962C8B-B14F-4D97-AF65-F5344CB8AC3E}">
        <p14:creationId xmlns:p14="http://schemas.microsoft.com/office/powerpoint/2010/main" val="359236055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Jämförelse">
    <p:spTree>
      <p:nvGrpSpPr>
        <p:cNvPr id="1" name=""/>
        <p:cNvGrpSpPr/>
        <p:nvPr/>
      </p:nvGrpSpPr>
      <p:grpSpPr>
        <a:xfrm>
          <a:off x="0" y="0"/>
          <a:ext cx="0" cy="0"/>
          <a:chOff x="0" y="0"/>
          <a:chExt cx="0" cy="0"/>
        </a:xfrm>
      </p:grpSpPr>
      <p:sp>
        <p:nvSpPr>
          <p:cNvPr id="2" name="Rubrik 1"/>
          <p:cNvSpPr>
            <a:spLocks noGrp="1"/>
          </p:cNvSpPr>
          <p:nvPr>
            <p:ph type="title"/>
          </p:nvPr>
        </p:nvSpPr>
        <p:spPr>
          <a:xfrm>
            <a:off x="839788" y="365125"/>
            <a:ext cx="10515600" cy="1325563"/>
          </a:xfrm>
        </p:spPr>
        <p:txBody>
          <a:bodyPr/>
          <a:lstStyle/>
          <a:p>
            <a:r>
              <a:rPr lang="sv-SE"/>
              <a:t>Klicka här för att ändra format</a:t>
            </a:r>
          </a:p>
        </p:txBody>
      </p:sp>
      <p:sp>
        <p:nvSpPr>
          <p:cNvPr id="3" name="Platshållare för text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sv-SE"/>
              <a:t>Klicka här för att ändra format på bakgrundstexten</a:t>
            </a:r>
          </a:p>
        </p:txBody>
      </p:sp>
      <p:sp>
        <p:nvSpPr>
          <p:cNvPr id="4" name="Platshållare för innehåll 3"/>
          <p:cNvSpPr>
            <a:spLocks noGrp="1"/>
          </p:cNvSpPr>
          <p:nvPr>
            <p:ph sz="half" idx="2"/>
          </p:nvPr>
        </p:nvSpPr>
        <p:spPr>
          <a:xfrm>
            <a:off x="839788" y="2505075"/>
            <a:ext cx="5157787" cy="3684588"/>
          </a:xfrm>
        </p:spPr>
        <p:txBody>
          <a:bodyPr/>
          <a:lstStyle/>
          <a:p>
            <a:pPr lvl="0"/>
            <a:r>
              <a:rPr lang="sv-SE"/>
              <a:t>Klicka här för att ändra format på bakgrundstexten</a:t>
            </a:r>
          </a:p>
          <a:p>
            <a:pPr lvl="1"/>
            <a:r>
              <a:rPr lang="sv-SE"/>
              <a:t>Nivå två</a:t>
            </a:r>
          </a:p>
          <a:p>
            <a:pPr lvl="2"/>
            <a:r>
              <a:rPr lang="sv-SE"/>
              <a:t>Nivå tre</a:t>
            </a:r>
          </a:p>
          <a:p>
            <a:pPr lvl="3"/>
            <a:r>
              <a:rPr lang="sv-SE"/>
              <a:t>Nivå fyra</a:t>
            </a:r>
          </a:p>
          <a:p>
            <a:pPr lvl="4"/>
            <a:r>
              <a:rPr lang="sv-SE"/>
              <a:t>Nivå fem</a:t>
            </a:r>
          </a:p>
        </p:txBody>
      </p:sp>
      <p:sp>
        <p:nvSpPr>
          <p:cNvPr id="5" name="Platshållare för text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sv-SE"/>
              <a:t>Klicka här för att ändra format på bakgrundstexten</a:t>
            </a:r>
          </a:p>
        </p:txBody>
      </p:sp>
      <p:sp>
        <p:nvSpPr>
          <p:cNvPr id="6" name="Platshållare för innehåll 5"/>
          <p:cNvSpPr>
            <a:spLocks noGrp="1"/>
          </p:cNvSpPr>
          <p:nvPr>
            <p:ph sz="quarter" idx="4"/>
          </p:nvPr>
        </p:nvSpPr>
        <p:spPr>
          <a:xfrm>
            <a:off x="6172200" y="2505075"/>
            <a:ext cx="5183188" cy="3684588"/>
          </a:xfrm>
        </p:spPr>
        <p:txBody>
          <a:bodyPr/>
          <a:lstStyle/>
          <a:p>
            <a:pPr lvl="0"/>
            <a:r>
              <a:rPr lang="sv-SE"/>
              <a:t>Klicka här för att ändra format på bakgrundstexten</a:t>
            </a:r>
          </a:p>
          <a:p>
            <a:pPr lvl="1"/>
            <a:r>
              <a:rPr lang="sv-SE"/>
              <a:t>Nivå två</a:t>
            </a:r>
          </a:p>
          <a:p>
            <a:pPr lvl="2"/>
            <a:r>
              <a:rPr lang="sv-SE"/>
              <a:t>Nivå tre</a:t>
            </a:r>
          </a:p>
          <a:p>
            <a:pPr lvl="3"/>
            <a:r>
              <a:rPr lang="sv-SE"/>
              <a:t>Nivå fyra</a:t>
            </a:r>
          </a:p>
          <a:p>
            <a:pPr lvl="4"/>
            <a:r>
              <a:rPr lang="sv-SE"/>
              <a:t>Nivå fem</a:t>
            </a:r>
          </a:p>
        </p:txBody>
      </p:sp>
      <p:sp>
        <p:nvSpPr>
          <p:cNvPr id="7" name="Platshållare för datum 6"/>
          <p:cNvSpPr>
            <a:spLocks noGrp="1"/>
          </p:cNvSpPr>
          <p:nvPr>
            <p:ph type="dt" sz="half" idx="10"/>
          </p:nvPr>
        </p:nvSpPr>
        <p:spPr/>
        <p:txBody>
          <a:bodyPr/>
          <a:lstStyle/>
          <a:p>
            <a:fld id="{1560A13A-DB3F-4AD5-B6AF-BDA0278A0A39}" type="datetimeFigureOut">
              <a:rPr lang="sv-SE" smtClean="0"/>
              <a:t>2026-05-25</a:t>
            </a:fld>
            <a:endParaRPr lang="sv-SE"/>
          </a:p>
        </p:txBody>
      </p:sp>
      <p:sp>
        <p:nvSpPr>
          <p:cNvPr id="8" name="Platshållare för sidfot 7"/>
          <p:cNvSpPr>
            <a:spLocks noGrp="1"/>
          </p:cNvSpPr>
          <p:nvPr>
            <p:ph type="ftr" sz="quarter" idx="11"/>
          </p:nvPr>
        </p:nvSpPr>
        <p:spPr/>
        <p:txBody>
          <a:bodyPr/>
          <a:lstStyle/>
          <a:p>
            <a:endParaRPr lang="sv-SE"/>
          </a:p>
        </p:txBody>
      </p:sp>
      <p:sp>
        <p:nvSpPr>
          <p:cNvPr id="9" name="Platshållare för bildnummer 8"/>
          <p:cNvSpPr>
            <a:spLocks noGrp="1"/>
          </p:cNvSpPr>
          <p:nvPr>
            <p:ph type="sldNum" sz="quarter" idx="12"/>
          </p:nvPr>
        </p:nvSpPr>
        <p:spPr/>
        <p:txBody>
          <a:bodyPr/>
          <a:lstStyle/>
          <a:p>
            <a:fld id="{F7C2F05B-BAF9-488D-83DE-20A7CCFAC190}" type="slidenum">
              <a:rPr lang="sv-SE" smtClean="0"/>
              <a:t>‹#›</a:t>
            </a:fld>
            <a:endParaRPr lang="sv-SE"/>
          </a:p>
        </p:txBody>
      </p:sp>
    </p:spTree>
    <p:extLst>
      <p:ext uri="{BB962C8B-B14F-4D97-AF65-F5344CB8AC3E}">
        <p14:creationId xmlns:p14="http://schemas.microsoft.com/office/powerpoint/2010/main" val="327765072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Endast rubrik">
    <p:spTree>
      <p:nvGrpSpPr>
        <p:cNvPr id="1" name=""/>
        <p:cNvGrpSpPr/>
        <p:nvPr/>
      </p:nvGrpSpPr>
      <p:grpSpPr>
        <a:xfrm>
          <a:off x="0" y="0"/>
          <a:ext cx="0" cy="0"/>
          <a:chOff x="0" y="0"/>
          <a:chExt cx="0" cy="0"/>
        </a:xfrm>
      </p:grpSpPr>
      <p:sp>
        <p:nvSpPr>
          <p:cNvPr id="2" name="Rubrik 1"/>
          <p:cNvSpPr>
            <a:spLocks noGrp="1"/>
          </p:cNvSpPr>
          <p:nvPr>
            <p:ph type="title"/>
          </p:nvPr>
        </p:nvSpPr>
        <p:spPr/>
        <p:txBody>
          <a:bodyPr/>
          <a:lstStyle/>
          <a:p>
            <a:r>
              <a:rPr lang="sv-SE"/>
              <a:t>Klicka här för att ändra format</a:t>
            </a:r>
          </a:p>
        </p:txBody>
      </p:sp>
      <p:sp>
        <p:nvSpPr>
          <p:cNvPr id="3" name="Platshållare för datum 2"/>
          <p:cNvSpPr>
            <a:spLocks noGrp="1"/>
          </p:cNvSpPr>
          <p:nvPr>
            <p:ph type="dt" sz="half" idx="10"/>
          </p:nvPr>
        </p:nvSpPr>
        <p:spPr/>
        <p:txBody>
          <a:bodyPr/>
          <a:lstStyle/>
          <a:p>
            <a:fld id="{1560A13A-DB3F-4AD5-B6AF-BDA0278A0A39}" type="datetimeFigureOut">
              <a:rPr lang="sv-SE" smtClean="0"/>
              <a:t>2026-05-25</a:t>
            </a:fld>
            <a:endParaRPr lang="sv-SE"/>
          </a:p>
        </p:txBody>
      </p:sp>
      <p:sp>
        <p:nvSpPr>
          <p:cNvPr id="4" name="Platshållare för sidfot 3"/>
          <p:cNvSpPr>
            <a:spLocks noGrp="1"/>
          </p:cNvSpPr>
          <p:nvPr>
            <p:ph type="ftr" sz="quarter" idx="11"/>
          </p:nvPr>
        </p:nvSpPr>
        <p:spPr/>
        <p:txBody>
          <a:bodyPr/>
          <a:lstStyle/>
          <a:p>
            <a:endParaRPr lang="sv-SE"/>
          </a:p>
        </p:txBody>
      </p:sp>
      <p:sp>
        <p:nvSpPr>
          <p:cNvPr id="5" name="Platshållare för bildnummer 4"/>
          <p:cNvSpPr>
            <a:spLocks noGrp="1"/>
          </p:cNvSpPr>
          <p:nvPr>
            <p:ph type="sldNum" sz="quarter" idx="12"/>
          </p:nvPr>
        </p:nvSpPr>
        <p:spPr/>
        <p:txBody>
          <a:bodyPr/>
          <a:lstStyle/>
          <a:p>
            <a:fld id="{F7C2F05B-BAF9-488D-83DE-20A7CCFAC190}" type="slidenum">
              <a:rPr lang="sv-SE" smtClean="0"/>
              <a:t>‹#›</a:t>
            </a:fld>
            <a:endParaRPr lang="sv-SE"/>
          </a:p>
        </p:txBody>
      </p:sp>
    </p:spTree>
    <p:extLst>
      <p:ext uri="{BB962C8B-B14F-4D97-AF65-F5344CB8AC3E}">
        <p14:creationId xmlns:p14="http://schemas.microsoft.com/office/powerpoint/2010/main" val="325660961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Tom">
    <p:spTree>
      <p:nvGrpSpPr>
        <p:cNvPr id="1" name=""/>
        <p:cNvGrpSpPr/>
        <p:nvPr/>
      </p:nvGrpSpPr>
      <p:grpSpPr>
        <a:xfrm>
          <a:off x="0" y="0"/>
          <a:ext cx="0" cy="0"/>
          <a:chOff x="0" y="0"/>
          <a:chExt cx="0" cy="0"/>
        </a:xfrm>
      </p:grpSpPr>
      <p:sp>
        <p:nvSpPr>
          <p:cNvPr id="2" name="Platshållare för datum 1"/>
          <p:cNvSpPr>
            <a:spLocks noGrp="1"/>
          </p:cNvSpPr>
          <p:nvPr>
            <p:ph type="dt" sz="half" idx="10"/>
          </p:nvPr>
        </p:nvSpPr>
        <p:spPr/>
        <p:txBody>
          <a:bodyPr/>
          <a:lstStyle/>
          <a:p>
            <a:fld id="{1560A13A-DB3F-4AD5-B6AF-BDA0278A0A39}" type="datetimeFigureOut">
              <a:rPr lang="sv-SE" smtClean="0"/>
              <a:t>2026-05-25</a:t>
            </a:fld>
            <a:endParaRPr lang="sv-SE"/>
          </a:p>
        </p:txBody>
      </p:sp>
      <p:sp>
        <p:nvSpPr>
          <p:cNvPr id="3" name="Platshållare för sidfot 2"/>
          <p:cNvSpPr>
            <a:spLocks noGrp="1"/>
          </p:cNvSpPr>
          <p:nvPr>
            <p:ph type="ftr" sz="quarter" idx="11"/>
          </p:nvPr>
        </p:nvSpPr>
        <p:spPr/>
        <p:txBody>
          <a:bodyPr/>
          <a:lstStyle/>
          <a:p>
            <a:endParaRPr lang="sv-SE"/>
          </a:p>
        </p:txBody>
      </p:sp>
      <p:sp>
        <p:nvSpPr>
          <p:cNvPr id="4" name="Platshållare för bildnummer 3"/>
          <p:cNvSpPr>
            <a:spLocks noGrp="1"/>
          </p:cNvSpPr>
          <p:nvPr>
            <p:ph type="sldNum" sz="quarter" idx="12"/>
          </p:nvPr>
        </p:nvSpPr>
        <p:spPr/>
        <p:txBody>
          <a:bodyPr/>
          <a:lstStyle/>
          <a:p>
            <a:fld id="{F7C2F05B-BAF9-488D-83DE-20A7CCFAC190}" type="slidenum">
              <a:rPr lang="sv-SE" smtClean="0"/>
              <a:t>‹#›</a:t>
            </a:fld>
            <a:endParaRPr lang="sv-SE"/>
          </a:p>
        </p:txBody>
      </p:sp>
    </p:spTree>
    <p:extLst>
      <p:ext uri="{BB962C8B-B14F-4D97-AF65-F5344CB8AC3E}">
        <p14:creationId xmlns:p14="http://schemas.microsoft.com/office/powerpoint/2010/main" val="331107657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Innehåll med bildtext">
    <p:spTree>
      <p:nvGrpSpPr>
        <p:cNvPr id="1" name=""/>
        <p:cNvGrpSpPr/>
        <p:nvPr/>
      </p:nvGrpSpPr>
      <p:grpSpPr>
        <a:xfrm>
          <a:off x="0" y="0"/>
          <a:ext cx="0" cy="0"/>
          <a:chOff x="0" y="0"/>
          <a:chExt cx="0" cy="0"/>
        </a:xfrm>
      </p:grpSpPr>
      <p:sp>
        <p:nvSpPr>
          <p:cNvPr id="2" name="Rubrik 1"/>
          <p:cNvSpPr>
            <a:spLocks noGrp="1"/>
          </p:cNvSpPr>
          <p:nvPr>
            <p:ph type="title"/>
          </p:nvPr>
        </p:nvSpPr>
        <p:spPr>
          <a:xfrm>
            <a:off x="839788" y="457200"/>
            <a:ext cx="3932237" cy="1600200"/>
          </a:xfrm>
        </p:spPr>
        <p:txBody>
          <a:bodyPr anchor="b"/>
          <a:lstStyle>
            <a:lvl1pPr>
              <a:defRPr sz="3200"/>
            </a:lvl1pPr>
          </a:lstStyle>
          <a:p>
            <a:r>
              <a:rPr lang="sv-SE"/>
              <a:t>Klicka här för att ändra format</a:t>
            </a:r>
          </a:p>
        </p:txBody>
      </p:sp>
      <p:sp>
        <p:nvSpPr>
          <p:cNvPr id="3" name="Platshållare för innehåll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sv-SE"/>
              <a:t>Klicka här för att ändra format på bakgrundstexten</a:t>
            </a:r>
          </a:p>
          <a:p>
            <a:pPr lvl="1"/>
            <a:r>
              <a:rPr lang="sv-SE"/>
              <a:t>Nivå två</a:t>
            </a:r>
          </a:p>
          <a:p>
            <a:pPr lvl="2"/>
            <a:r>
              <a:rPr lang="sv-SE"/>
              <a:t>Nivå tre</a:t>
            </a:r>
          </a:p>
          <a:p>
            <a:pPr lvl="3"/>
            <a:r>
              <a:rPr lang="sv-SE"/>
              <a:t>Nivå fyra</a:t>
            </a:r>
          </a:p>
          <a:p>
            <a:pPr lvl="4"/>
            <a:r>
              <a:rPr lang="sv-SE"/>
              <a:t>Nivå fem</a:t>
            </a:r>
          </a:p>
        </p:txBody>
      </p:sp>
      <p:sp>
        <p:nvSpPr>
          <p:cNvPr id="4" name="Platshållare för text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sv-SE"/>
              <a:t>Klicka här för att ändra format på bakgrundstexten</a:t>
            </a:r>
          </a:p>
        </p:txBody>
      </p:sp>
      <p:sp>
        <p:nvSpPr>
          <p:cNvPr id="5" name="Platshållare för datum 4"/>
          <p:cNvSpPr>
            <a:spLocks noGrp="1"/>
          </p:cNvSpPr>
          <p:nvPr>
            <p:ph type="dt" sz="half" idx="10"/>
          </p:nvPr>
        </p:nvSpPr>
        <p:spPr/>
        <p:txBody>
          <a:bodyPr/>
          <a:lstStyle/>
          <a:p>
            <a:fld id="{1560A13A-DB3F-4AD5-B6AF-BDA0278A0A39}" type="datetimeFigureOut">
              <a:rPr lang="sv-SE" smtClean="0"/>
              <a:t>2026-05-25</a:t>
            </a:fld>
            <a:endParaRPr lang="sv-SE"/>
          </a:p>
        </p:txBody>
      </p:sp>
      <p:sp>
        <p:nvSpPr>
          <p:cNvPr id="6" name="Platshållare för sidfot 5"/>
          <p:cNvSpPr>
            <a:spLocks noGrp="1"/>
          </p:cNvSpPr>
          <p:nvPr>
            <p:ph type="ftr" sz="quarter" idx="11"/>
          </p:nvPr>
        </p:nvSpPr>
        <p:spPr/>
        <p:txBody>
          <a:bodyPr/>
          <a:lstStyle/>
          <a:p>
            <a:endParaRPr lang="sv-SE"/>
          </a:p>
        </p:txBody>
      </p:sp>
      <p:sp>
        <p:nvSpPr>
          <p:cNvPr id="7" name="Platshållare för bildnummer 6"/>
          <p:cNvSpPr>
            <a:spLocks noGrp="1"/>
          </p:cNvSpPr>
          <p:nvPr>
            <p:ph type="sldNum" sz="quarter" idx="12"/>
          </p:nvPr>
        </p:nvSpPr>
        <p:spPr/>
        <p:txBody>
          <a:bodyPr/>
          <a:lstStyle/>
          <a:p>
            <a:fld id="{F7C2F05B-BAF9-488D-83DE-20A7CCFAC190}" type="slidenum">
              <a:rPr lang="sv-SE" smtClean="0"/>
              <a:t>‹#›</a:t>
            </a:fld>
            <a:endParaRPr lang="sv-SE"/>
          </a:p>
        </p:txBody>
      </p:sp>
    </p:spTree>
    <p:extLst>
      <p:ext uri="{BB962C8B-B14F-4D97-AF65-F5344CB8AC3E}">
        <p14:creationId xmlns:p14="http://schemas.microsoft.com/office/powerpoint/2010/main" val="154896550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Bild med bildtext">
    <p:spTree>
      <p:nvGrpSpPr>
        <p:cNvPr id="1" name=""/>
        <p:cNvGrpSpPr/>
        <p:nvPr/>
      </p:nvGrpSpPr>
      <p:grpSpPr>
        <a:xfrm>
          <a:off x="0" y="0"/>
          <a:ext cx="0" cy="0"/>
          <a:chOff x="0" y="0"/>
          <a:chExt cx="0" cy="0"/>
        </a:xfrm>
      </p:grpSpPr>
      <p:sp>
        <p:nvSpPr>
          <p:cNvPr id="2" name="Rubrik 1"/>
          <p:cNvSpPr>
            <a:spLocks noGrp="1"/>
          </p:cNvSpPr>
          <p:nvPr>
            <p:ph type="title"/>
          </p:nvPr>
        </p:nvSpPr>
        <p:spPr>
          <a:xfrm>
            <a:off x="839788" y="457200"/>
            <a:ext cx="3932237" cy="1600200"/>
          </a:xfrm>
        </p:spPr>
        <p:txBody>
          <a:bodyPr anchor="b"/>
          <a:lstStyle>
            <a:lvl1pPr>
              <a:defRPr sz="3200"/>
            </a:lvl1pPr>
          </a:lstStyle>
          <a:p>
            <a:r>
              <a:rPr lang="sv-SE"/>
              <a:t>Klicka här för att ändra format</a:t>
            </a:r>
          </a:p>
        </p:txBody>
      </p:sp>
      <p:sp>
        <p:nvSpPr>
          <p:cNvPr id="3" name="Platshållare för bild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sv-SE"/>
          </a:p>
        </p:txBody>
      </p:sp>
      <p:sp>
        <p:nvSpPr>
          <p:cNvPr id="4" name="Platshållare för text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sv-SE"/>
              <a:t>Klicka här för att ändra format på bakgrundstexten</a:t>
            </a:r>
          </a:p>
        </p:txBody>
      </p:sp>
      <p:sp>
        <p:nvSpPr>
          <p:cNvPr id="5" name="Platshållare för datum 4"/>
          <p:cNvSpPr>
            <a:spLocks noGrp="1"/>
          </p:cNvSpPr>
          <p:nvPr>
            <p:ph type="dt" sz="half" idx="10"/>
          </p:nvPr>
        </p:nvSpPr>
        <p:spPr/>
        <p:txBody>
          <a:bodyPr/>
          <a:lstStyle/>
          <a:p>
            <a:fld id="{1560A13A-DB3F-4AD5-B6AF-BDA0278A0A39}" type="datetimeFigureOut">
              <a:rPr lang="sv-SE" smtClean="0"/>
              <a:t>2026-05-25</a:t>
            </a:fld>
            <a:endParaRPr lang="sv-SE"/>
          </a:p>
        </p:txBody>
      </p:sp>
      <p:sp>
        <p:nvSpPr>
          <p:cNvPr id="6" name="Platshållare för sidfot 5"/>
          <p:cNvSpPr>
            <a:spLocks noGrp="1"/>
          </p:cNvSpPr>
          <p:nvPr>
            <p:ph type="ftr" sz="quarter" idx="11"/>
          </p:nvPr>
        </p:nvSpPr>
        <p:spPr/>
        <p:txBody>
          <a:bodyPr/>
          <a:lstStyle/>
          <a:p>
            <a:endParaRPr lang="sv-SE"/>
          </a:p>
        </p:txBody>
      </p:sp>
      <p:sp>
        <p:nvSpPr>
          <p:cNvPr id="7" name="Platshållare för bildnummer 6"/>
          <p:cNvSpPr>
            <a:spLocks noGrp="1"/>
          </p:cNvSpPr>
          <p:nvPr>
            <p:ph type="sldNum" sz="quarter" idx="12"/>
          </p:nvPr>
        </p:nvSpPr>
        <p:spPr/>
        <p:txBody>
          <a:bodyPr/>
          <a:lstStyle/>
          <a:p>
            <a:fld id="{F7C2F05B-BAF9-488D-83DE-20A7CCFAC190}" type="slidenum">
              <a:rPr lang="sv-SE" smtClean="0"/>
              <a:t>‹#›</a:t>
            </a:fld>
            <a:endParaRPr lang="sv-SE"/>
          </a:p>
        </p:txBody>
      </p:sp>
    </p:spTree>
    <p:extLst>
      <p:ext uri="{BB962C8B-B14F-4D97-AF65-F5344CB8AC3E}">
        <p14:creationId xmlns:p14="http://schemas.microsoft.com/office/powerpoint/2010/main" val="417145381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Rubrik och lodrät text">
    <p:spTree>
      <p:nvGrpSpPr>
        <p:cNvPr id="1" name=""/>
        <p:cNvGrpSpPr/>
        <p:nvPr/>
      </p:nvGrpSpPr>
      <p:grpSpPr>
        <a:xfrm>
          <a:off x="0" y="0"/>
          <a:ext cx="0" cy="0"/>
          <a:chOff x="0" y="0"/>
          <a:chExt cx="0" cy="0"/>
        </a:xfrm>
      </p:grpSpPr>
      <p:sp>
        <p:nvSpPr>
          <p:cNvPr id="2" name="Rubrik 1"/>
          <p:cNvSpPr>
            <a:spLocks noGrp="1"/>
          </p:cNvSpPr>
          <p:nvPr>
            <p:ph type="title"/>
          </p:nvPr>
        </p:nvSpPr>
        <p:spPr/>
        <p:txBody>
          <a:bodyPr/>
          <a:lstStyle/>
          <a:p>
            <a:r>
              <a:rPr lang="sv-SE"/>
              <a:t>Klicka här för att ändra format</a:t>
            </a:r>
          </a:p>
        </p:txBody>
      </p:sp>
      <p:sp>
        <p:nvSpPr>
          <p:cNvPr id="3" name="Platshållare för lodrät text 2"/>
          <p:cNvSpPr>
            <a:spLocks noGrp="1"/>
          </p:cNvSpPr>
          <p:nvPr>
            <p:ph type="body" orient="vert" idx="1"/>
          </p:nvPr>
        </p:nvSpPr>
        <p:spPr/>
        <p:txBody>
          <a:bodyPr vert="eaVert"/>
          <a:lstStyle/>
          <a:p>
            <a:pPr lvl="0"/>
            <a:r>
              <a:rPr lang="sv-SE"/>
              <a:t>Klicka här för att ändra format på bakgrundstexten</a:t>
            </a:r>
          </a:p>
          <a:p>
            <a:pPr lvl="1"/>
            <a:r>
              <a:rPr lang="sv-SE"/>
              <a:t>Nivå två</a:t>
            </a:r>
          </a:p>
          <a:p>
            <a:pPr lvl="2"/>
            <a:r>
              <a:rPr lang="sv-SE"/>
              <a:t>Nivå tre</a:t>
            </a:r>
          </a:p>
          <a:p>
            <a:pPr lvl="3"/>
            <a:r>
              <a:rPr lang="sv-SE"/>
              <a:t>Nivå fyra</a:t>
            </a:r>
          </a:p>
          <a:p>
            <a:pPr lvl="4"/>
            <a:r>
              <a:rPr lang="sv-SE"/>
              <a:t>Nivå fem</a:t>
            </a:r>
          </a:p>
        </p:txBody>
      </p:sp>
      <p:sp>
        <p:nvSpPr>
          <p:cNvPr id="4" name="Platshållare för datum 3"/>
          <p:cNvSpPr>
            <a:spLocks noGrp="1"/>
          </p:cNvSpPr>
          <p:nvPr>
            <p:ph type="dt" sz="half" idx="10"/>
          </p:nvPr>
        </p:nvSpPr>
        <p:spPr/>
        <p:txBody>
          <a:bodyPr/>
          <a:lstStyle/>
          <a:p>
            <a:fld id="{1560A13A-DB3F-4AD5-B6AF-BDA0278A0A39}" type="datetimeFigureOut">
              <a:rPr lang="sv-SE" smtClean="0"/>
              <a:t>2026-05-25</a:t>
            </a:fld>
            <a:endParaRPr lang="sv-SE"/>
          </a:p>
        </p:txBody>
      </p:sp>
      <p:sp>
        <p:nvSpPr>
          <p:cNvPr id="5" name="Platshållare för sidfot 4"/>
          <p:cNvSpPr>
            <a:spLocks noGrp="1"/>
          </p:cNvSpPr>
          <p:nvPr>
            <p:ph type="ftr" sz="quarter" idx="11"/>
          </p:nvPr>
        </p:nvSpPr>
        <p:spPr/>
        <p:txBody>
          <a:bodyPr/>
          <a:lstStyle/>
          <a:p>
            <a:endParaRPr lang="sv-SE"/>
          </a:p>
        </p:txBody>
      </p:sp>
      <p:sp>
        <p:nvSpPr>
          <p:cNvPr id="6" name="Platshållare för bildnummer 5"/>
          <p:cNvSpPr>
            <a:spLocks noGrp="1"/>
          </p:cNvSpPr>
          <p:nvPr>
            <p:ph type="sldNum" sz="quarter" idx="12"/>
          </p:nvPr>
        </p:nvSpPr>
        <p:spPr/>
        <p:txBody>
          <a:bodyPr/>
          <a:lstStyle/>
          <a:p>
            <a:fld id="{F7C2F05B-BAF9-488D-83DE-20A7CCFAC190}" type="slidenum">
              <a:rPr lang="sv-SE" smtClean="0"/>
              <a:t>‹#›</a:t>
            </a:fld>
            <a:endParaRPr lang="sv-SE"/>
          </a:p>
        </p:txBody>
      </p:sp>
    </p:spTree>
    <p:extLst>
      <p:ext uri="{BB962C8B-B14F-4D97-AF65-F5344CB8AC3E}">
        <p14:creationId xmlns:p14="http://schemas.microsoft.com/office/powerpoint/2010/main" val="262371934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Lodrät rubrik och text">
    <p:spTree>
      <p:nvGrpSpPr>
        <p:cNvPr id="1" name=""/>
        <p:cNvGrpSpPr/>
        <p:nvPr/>
      </p:nvGrpSpPr>
      <p:grpSpPr>
        <a:xfrm>
          <a:off x="0" y="0"/>
          <a:ext cx="0" cy="0"/>
          <a:chOff x="0" y="0"/>
          <a:chExt cx="0" cy="0"/>
        </a:xfrm>
      </p:grpSpPr>
      <p:sp>
        <p:nvSpPr>
          <p:cNvPr id="2" name="Lodrät rubrik 1"/>
          <p:cNvSpPr>
            <a:spLocks noGrp="1"/>
          </p:cNvSpPr>
          <p:nvPr>
            <p:ph type="title" orient="vert"/>
          </p:nvPr>
        </p:nvSpPr>
        <p:spPr>
          <a:xfrm>
            <a:off x="8724900" y="365125"/>
            <a:ext cx="2628900" cy="5811838"/>
          </a:xfrm>
        </p:spPr>
        <p:txBody>
          <a:bodyPr vert="eaVert"/>
          <a:lstStyle/>
          <a:p>
            <a:r>
              <a:rPr lang="sv-SE"/>
              <a:t>Klicka här för att ändra format</a:t>
            </a:r>
          </a:p>
        </p:txBody>
      </p:sp>
      <p:sp>
        <p:nvSpPr>
          <p:cNvPr id="3" name="Platshållare för lodrät text 2"/>
          <p:cNvSpPr>
            <a:spLocks noGrp="1"/>
          </p:cNvSpPr>
          <p:nvPr>
            <p:ph type="body" orient="vert" idx="1"/>
          </p:nvPr>
        </p:nvSpPr>
        <p:spPr>
          <a:xfrm>
            <a:off x="838200" y="365125"/>
            <a:ext cx="7734300" cy="5811838"/>
          </a:xfrm>
        </p:spPr>
        <p:txBody>
          <a:bodyPr vert="eaVert"/>
          <a:lstStyle/>
          <a:p>
            <a:pPr lvl="0"/>
            <a:r>
              <a:rPr lang="sv-SE"/>
              <a:t>Klicka här för att ändra format på bakgrundstexten</a:t>
            </a:r>
          </a:p>
          <a:p>
            <a:pPr lvl="1"/>
            <a:r>
              <a:rPr lang="sv-SE"/>
              <a:t>Nivå två</a:t>
            </a:r>
          </a:p>
          <a:p>
            <a:pPr lvl="2"/>
            <a:r>
              <a:rPr lang="sv-SE"/>
              <a:t>Nivå tre</a:t>
            </a:r>
          </a:p>
          <a:p>
            <a:pPr lvl="3"/>
            <a:r>
              <a:rPr lang="sv-SE"/>
              <a:t>Nivå fyra</a:t>
            </a:r>
          </a:p>
          <a:p>
            <a:pPr lvl="4"/>
            <a:r>
              <a:rPr lang="sv-SE"/>
              <a:t>Nivå fem</a:t>
            </a:r>
          </a:p>
        </p:txBody>
      </p:sp>
      <p:sp>
        <p:nvSpPr>
          <p:cNvPr id="4" name="Platshållare för datum 3"/>
          <p:cNvSpPr>
            <a:spLocks noGrp="1"/>
          </p:cNvSpPr>
          <p:nvPr>
            <p:ph type="dt" sz="half" idx="10"/>
          </p:nvPr>
        </p:nvSpPr>
        <p:spPr/>
        <p:txBody>
          <a:bodyPr/>
          <a:lstStyle/>
          <a:p>
            <a:fld id="{1560A13A-DB3F-4AD5-B6AF-BDA0278A0A39}" type="datetimeFigureOut">
              <a:rPr lang="sv-SE" smtClean="0"/>
              <a:t>2026-05-25</a:t>
            </a:fld>
            <a:endParaRPr lang="sv-SE"/>
          </a:p>
        </p:txBody>
      </p:sp>
      <p:sp>
        <p:nvSpPr>
          <p:cNvPr id="5" name="Platshållare för sidfot 4"/>
          <p:cNvSpPr>
            <a:spLocks noGrp="1"/>
          </p:cNvSpPr>
          <p:nvPr>
            <p:ph type="ftr" sz="quarter" idx="11"/>
          </p:nvPr>
        </p:nvSpPr>
        <p:spPr/>
        <p:txBody>
          <a:bodyPr/>
          <a:lstStyle/>
          <a:p>
            <a:endParaRPr lang="sv-SE"/>
          </a:p>
        </p:txBody>
      </p:sp>
      <p:sp>
        <p:nvSpPr>
          <p:cNvPr id="6" name="Platshållare för bildnummer 5"/>
          <p:cNvSpPr>
            <a:spLocks noGrp="1"/>
          </p:cNvSpPr>
          <p:nvPr>
            <p:ph type="sldNum" sz="quarter" idx="12"/>
          </p:nvPr>
        </p:nvSpPr>
        <p:spPr/>
        <p:txBody>
          <a:bodyPr/>
          <a:lstStyle/>
          <a:p>
            <a:fld id="{F7C2F05B-BAF9-488D-83DE-20A7CCFAC190}" type="slidenum">
              <a:rPr lang="sv-SE" smtClean="0"/>
              <a:t>‹#›</a:t>
            </a:fld>
            <a:endParaRPr lang="sv-SE"/>
          </a:p>
        </p:txBody>
      </p:sp>
    </p:spTree>
    <p:extLst>
      <p:ext uri="{BB962C8B-B14F-4D97-AF65-F5344CB8AC3E}">
        <p14:creationId xmlns:p14="http://schemas.microsoft.com/office/powerpoint/2010/main" val="37164413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Platshållare för rubrik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sv-SE"/>
              <a:t>Klicka här för att ändra format</a:t>
            </a:r>
          </a:p>
        </p:txBody>
      </p:sp>
      <p:sp>
        <p:nvSpPr>
          <p:cNvPr id="3" name="Platshållare för text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sv-SE"/>
              <a:t>Klicka här för att ändra format på bakgrundstexten</a:t>
            </a:r>
          </a:p>
          <a:p>
            <a:pPr lvl="1"/>
            <a:r>
              <a:rPr lang="sv-SE"/>
              <a:t>Nivå två</a:t>
            </a:r>
          </a:p>
          <a:p>
            <a:pPr lvl="2"/>
            <a:r>
              <a:rPr lang="sv-SE"/>
              <a:t>Nivå tre</a:t>
            </a:r>
          </a:p>
          <a:p>
            <a:pPr lvl="3"/>
            <a:r>
              <a:rPr lang="sv-SE"/>
              <a:t>Nivå fyra</a:t>
            </a:r>
          </a:p>
          <a:p>
            <a:pPr lvl="4"/>
            <a:r>
              <a:rPr lang="sv-SE"/>
              <a:t>Nivå fem</a:t>
            </a:r>
          </a:p>
        </p:txBody>
      </p:sp>
      <p:sp>
        <p:nvSpPr>
          <p:cNvPr id="4" name="Platshållare för datum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1560A13A-DB3F-4AD5-B6AF-BDA0278A0A39}" type="datetimeFigureOut">
              <a:rPr lang="sv-SE" smtClean="0"/>
              <a:t>2026-05-25</a:t>
            </a:fld>
            <a:endParaRPr lang="sv-SE"/>
          </a:p>
        </p:txBody>
      </p:sp>
      <p:sp>
        <p:nvSpPr>
          <p:cNvPr id="5" name="Platshållare för sidfot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sv-SE"/>
          </a:p>
        </p:txBody>
      </p:sp>
      <p:sp>
        <p:nvSpPr>
          <p:cNvPr id="6" name="Platshållare för bildnumm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F7C2F05B-BAF9-488D-83DE-20A7CCFAC190}" type="slidenum">
              <a:rPr lang="sv-SE" smtClean="0"/>
              <a:t>‹#›</a:t>
            </a:fld>
            <a:endParaRPr lang="sv-SE"/>
          </a:p>
        </p:txBody>
      </p:sp>
    </p:spTree>
    <p:extLst>
      <p:ext uri="{BB962C8B-B14F-4D97-AF65-F5344CB8AC3E}">
        <p14:creationId xmlns:p14="http://schemas.microsoft.com/office/powerpoint/2010/main" val="370728553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sv-S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3.svg"/><Relationship Id="rId7" Type="http://schemas.openxmlformats.org/officeDocument/2006/relationships/image" Target="../media/image7.svg"/><Relationship Id="rId2" Type="http://schemas.openxmlformats.org/officeDocument/2006/relationships/image" Target="../media/image2.svg"/><Relationship Id="rId1" Type="http://schemas.openxmlformats.org/officeDocument/2006/relationships/slideLayout" Target="../slideLayouts/slideLayout1.xml"/><Relationship Id="rId6" Type="http://schemas.openxmlformats.org/officeDocument/2006/relationships/image" Target="../media/image6.svg"/><Relationship Id="rId5" Type="http://schemas.openxmlformats.org/officeDocument/2006/relationships/image" Target="../media/image5.svg"/><Relationship Id="rId4" Type="http://schemas.openxmlformats.org/officeDocument/2006/relationships/image" Target="../media/image4.svg"/></Relationships>
</file>

<file path=ppt/slides/_rels/slide3.xml.rels><?xml version="1.0" encoding="UTF-8" standalone="yes"?>
<Relationships xmlns="http://schemas.openxmlformats.org/package/2006/relationships"><Relationship Id="rId8" Type="http://schemas.openxmlformats.org/officeDocument/2006/relationships/image" Target="../media/image15.svg"/><Relationship Id="rId3" Type="http://schemas.openxmlformats.org/officeDocument/2006/relationships/image" Target="../media/image10.svg"/><Relationship Id="rId7" Type="http://schemas.openxmlformats.org/officeDocument/2006/relationships/image" Target="../media/image14.png"/><Relationship Id="rId2" Type="http://schemas.openxmlformats.org/officeDocument/2006/relationships/image" Target="../media/image9.svg"/><Relationship Id="rId1" Type="http://schemas.openxmlformats.org/officeDocument/2006/relationships/slideLayout" Target="../slideLayouts/slideLayout1.xml"/><Relationship Id="rId6" Type="http://schemas.openxmlformats.org/officeDocument/2006/relationships/image" Target="../media/image13.svg"/><Relationship Id="rId11" Type="http://schemas.openxmlformats.org/officeDocument/2006/relationships/image" Target="../media/image18.svg"/><Relationship Id="rId5" Type="http://schemas.openxmlformats.org/officeDocument/2006/relationships/image" Target="../media/image12.svg"/><Relationship Id="rId10" Type="http://schemas.openxmlformats.org/officeDocument/2006/relationships/image" Target="../media/image17.svg"/><Relationship Id="rId4" Type="http://schemas.openxmlformats.org/officeDocument/2006/relationships/image" Target="../media/image11.svg"/><Relationship Id="rId9" Type="http://schemas.openxmlformats.org/officeDocument/2006/relationships/image" Target="../media/image16.svg"/></Relationships>
</file>

<file path=ppt/slides/_rels/slide4.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15.svg"/><Relationship Id="rId1" Type="http://schemas.openxmlformats.org/officeDocument/2006/relationships/slideLayout" Target="../slideLayouts/slideLayout1.xml"/><Relationship Id="rId4" Type="http://schemas.openxmlformats.org/officeDocument/2006/relationships/image" Target="../media/image20.png"/></Relationships>
</file>

<file path=ppt/slides/_rels/slide5.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13.svg"/><Relationship Id="rId1" Type="http://schemas.openxmlformats.org/officeDocument/2006/relationships/slideLayout" Target="../slideLayouts/slideLayout1.xml"/><Relationship Id="rId5" Type="http://schemas.openxmlformats.org/officeDocument/2006/relationships/image" Target="../media/image23.svg"/><Relationship Id="rId4" Type="http://schemas.openxmlformats.org/officeDocument/2006/relationships/image" Target="../media/image22.png"/></Relationships>
</file>

<file path=ppt/slides/_rels/slide6.xml.rels><?xml version="1.0" encoding="UTF-8" standalone="yes"?>
<Relationships xmlns="http://schemas.openxmlformats.org/package/2006/relationships"><Relationship Id="rId3" Type="http://schemas.openxmlformats.org/officeDocument/2006/relationships/image" Target="../media/image23.svg"/><Relationship Id="rId2" Type="http://schemas.openxmlformats.org/officeDocument/2006/relationships/image" Target="../media/image13.svg"/><Relationship Id="rId1" Type="http://schemas.openxmlformats.org/officeDocument/2006/relationships/slideLayout" Target="../slideLayouts/slideLayout1.xml"/><Relationship Id="rId5" Type="http://schemas.openxmlformats.org/officeDocument/2006/relationships/image" Target="../media/image25.png"/><Relationship Id="rId4" Type="http://schemas.openxmlformats.org/officeDocument/2006/relationships/image" Target="../media/image24.png"/></Relationships>
</file>

<file path=ppt/slides/_rels/slide7.xml.rels><?xml version="1.0" encoding="UTF-8" standalone="yes"?>
<Relationships xmlns="http://schemas.openxmlformats.org/package/2006/relationships"><Relationship Id="rId3" Type="http://schemas.openxmlformats.org/officeDocument/2006/relationships/image" Target="../media/image23.svg"/><Relationship Id="rId2" Type="http://schemas.openxmlformats.org/officeDocument/2006/relationships/image" Target="../media/image13.svg"/><Relationship Id="rId1" Type="http://schemas.openxmlformats.org/officeDocument/2006/relationships/slideLayout" Target="../slideLayouts/slideLayout1.xml"/><Relationship Id="rId5" Type="http://schemas.openxmlformats.org/officeDocument/2006/relationships/image" Target="../media/image27.png"/><Relationship Id="rId4" Type="http://schemas.openxmlformats.org/officeDocument/2006/relationships/image" Target="../media/image26.png"/></Relationships>
</file>

<file path=ppt/slides/_rels/slide8.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3.sv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32.svg"/><Relationship Id="rId2" Type="http://schemas.openxmlformats.org/officeDocument/2006/relationships/image" Target="../media/image31.svg"/><Relationship Id="rId1" Type="http://schemas.openxmlformats.org/officeDocument/2006/relationships/slideLayout" Target="../slideLayouts/slideLayout1.xml"/><Relationship Id="rId4" Type="http://schemas.openxmlformats.org/officeDocument/2006/relationships/image" Target="../media/image33.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Underrubrik 2"/>
          <p:cNvSpPr>
            <a:spLocks noGrp="1"/>
          </p:cNvSpPr>
          <p:nvPr>
            <p:ph type="subTitle" idx="1"/>
          </p:nvPr>
        </p:nvSpPr>
        <p:spPr/>
        <p:txBody>
          <a:bodyPr/>
          <a:lstStyle/>
          <a:p>
            <a:endParaRPr lang="sv-SE"/>
          </a:p>
        </p:txBody>
      </p:sp>
      <p:pic>
        <p:nvPicPr>
          <p:cNvPr id="5" name="Bildobjekt 4" descr="En bild som visar text, skärmbild, design&#10;&#10;AI-genererat innehåll kan vara felaktigt.">
            <a:extLst>
              <a:ext uri="{FF2B5EF4-FFF2-40B4-BE49-F238E27FC236}">
                <a16:creationId xmlns:a16="http://schemas.microsoft.com/office/drawing/2014/main" id="{16CB4BBE-9ED9-737B-8EE4-CDDB4B239B1A}"/>
              </a:ext>
            </a:extLst>
          </p:cNvPr>
          <p:cNvPicPr>
            <a:picLocks noChangeAspect="1"/>
          </p:cNvPicPr>
          <p:nvPr/>
        </p:nvPicPr>
        <p:blipFill>
          <a:blip r:embed="rId2"/>
          <a:stretch>
            <a:fillRect/>
          </a:stretch>
        </p:blipFill>
        <p:spPr>
          <a:xfrm>
            <a:off x="0" y="8116"/>
            <a:ext cx="12192000" cy="6841767"/>
          </a:xfrm>
          <a:prstGeom prst="rect">
            <a:avLst/>
          </a:prstGeom>
        </p:spPr>
      </p:pic>
    </p:spTree>
    <p:extLst>
      <p:ext uri="{BB962C8B-B14F-4D97-AF65-F5344CB8AC3E}">
        <p14:creationId xmlns:p14="http://schemas.microsoft.com/office/powerpoint/2010/main" val="319437769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399E2821-4EB4-D254-B2E1-D5397D272182}"/>
            </a:ext>
          </a:extLst>
        </p:cNvPr>
        <p:cNvGrpSpPr/>
        <p:nvPr/>
      </p:nvGrpSpPr>
      <p:grpSpPr>
        <a:xfrm>
          <a:off x="0" y="0"/>
          <a:ext cx="0" cy="0"/>
          <a:chOff x="0" y="0"/>
          <a:chExt cx="0" cy="0"/>
        </a:xfrm>
      </p:grpSpPr>
      <p:sp>
        <p:nvSpPr>
          <p:cNvPr id="33" name="Rektangel 32">
            <a:extLst>
              <a:ext uri="{FF2B5EF4-FFF2-40B4-BE49-F238E27FC236}">
                <a16:creationId xmlns:a16="http://schemas.microsoft.com/office/drawing/2014/main" id="{7B32EDC6-FB18-E008-5789-75A7B2DCEADE}"/>
              </a:ext>
            </a:extLst>
          </p:cNvPr>
          <p:cNvSpPr/>
          <p:nvPr/>
        </p:nvSpPr>
        <p:spPr>
          <a:xfrm>
            <a:off x="13729" y="1"/>
            <a:ext cx="12171405" cy="6857999"/>
          </a:xfrm>
          <a:prstGeom prst="rect">
            <a:avLst/>
          </a:prstGeom>
          <a:solidFill>
            <a:srgbClr val="020A1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sv-SE"/>
              <a:t>005A99</a:t>
            </a:r>
          </a:p>
        </p:txBody>
      </p:sp>
      <p:sp>
        <p:nvSpPr>
          <p:cNvPr id="4" name="Flödesschema: Sidbrytningskoppling 3">
            <a:extLst>
              <a:ext uri="{FF2B5EF4-FFF2-40B4-BE49-F238E27FC236}">
                <a16:creationId xmlns:a16="http://schemas.microsoft.com/office/drawing/2014/main" id="{067DA68E-98C7-9229-5C0B-259D4FE5D0CC}"/>
              </a:ext>
            </a:extLst>
          </p:cNvPr>
          <p:cNvSpPr/>
          <p:nvPr/>
        </p:nvSpPr>
        <p:spPr>
          <a:xfrm>
            <a:off x="206721" y="157832"/>
            <a:ext cx="494335" cy="695026"/>
          </a:xfrm>
          <a:prstGeom prst="flowChartOffpageConnector">
            <a:avLst/>
          </a:prstGeom>
          <a:solidFill>
            <a:srgbClr val="008CFF"/>
          </a:solidFill>
          <a:ln>
            <a:solidFill>
              <a:srgbClr val="4472C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sv-SE" sz="3600" b="1"/>
              <a:t>2</a:t>
            </a:r>
          </a:p>
        </p:txBody>
      </p:sp>
      <p:sp>
        <p:nvSpPr>
          <p:cNvPr id="6" name="textruta 5">
            <a:extLst>
              <a:ext uri="{FF2B5EF4-FFF2-40B4-BE49-F238E27FC236}">
                <a16:creationId xmlns:a16="http://schemas.microsoft.com/office/drawing/2014/main" id="{A8F07000-4F7C-B151-118B-03C742ACFC15}"/>
              </a:ext>
            </a:extLst>
          </p:cNvPr>
          <p:cNvSpPr txBox="1"/>
          <p:nvPr/>
        </p:nvSpPr>
        <p:spPr>
          <a:xfrm>
            <a:off x="947351" y="157891"/>
            <a:ext cx="4589846"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sv-SE" sz="2800" b="1">
                <a:solidFill>
                  <a:srgbClr val="FFFFFF"/>
                </a:solidFill>
              </a:rPr>
              <a:t>Fashion MNIST Dataset</a:t>
            </a:r>
          </a:p>
        </p:txBody>
      </p:sp>
      <p:pic>
        <p:nvPicPr>
          <p:cNvPr id="7" name="Bild 6" descr="Databas med hel fyllning">
            <a:extLst>
              <a:ext uri="{FF2B5EF4-FFF2-40B4-BE49-F238E27FC236}">
                <a16:creationId xmlns:a16="http://schemas.microsoft.com/office/drawing/2014/main" id="{AFBFEE02-9AC3-DA13-4FE0-16D608D40168}"/>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40043" y="1125151"/>
            <a:ext cx="626076" cy="557428"/>
          </a:xfrm>
          <a:prstGeom prst="rect">
            <a:avLst/>
          </a:prstGeom>
        </p:spPr>
      </p:pic>
      <p:pic>
        <p:nvPicPr>
          <p:cNvPr id="8" name="Bild 7" descr="Etikett med hel fyllning">
            <a:extLst>
              <a:ext uri="{FF2B5EF4-FFF2-40B4-BE49-F238E27FC236}">
                <a16:creationId xmlns:a16="http://schemas.microsoft.com/office/drawing/2014/main" id="{2F5E29B8-936D-3327-9108-C1404588FD1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40043" y="1832232"/>
            <a:ext cx="674130" cy="612348"/>
          </a:xfrm>
          <a:prstGeom prst="rect">
            <a:avLst/>
          </a:prstGeom>
        </p:spPr>
      </p:pic>
      <p:pic>
        <p:nvPicPr>
          <p:cNvPr id="9" name="Bild 8" descr="Tabell med hel fyllning">
            <a:extLst>
              <a:ext uri="{FF2B5EF4-FFF2-40B4-BE49-F238E27FC236}">
                <a16:creationId xmlns:a16="http://schemas.microsoft.com/office/drawing/2014/main" id="{D6468FB0-3CC8-7D6B-7B4D-786A49DA5A3B}"/>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08692" y="2511854"/>
            <a:ext cx="557428" cy="516239"/>
          </a:xfrm>
          <a:prstGeom prst="rect">
            <a:avLst/>
          </a:prstGeom>
        </p:spPr>
      </p:pic>
      <p:pic>
        <p:nvPicPr>
          <p:cNvPr id="10" name="Bild 9" descr="Cirkeldiagram kontur">
            <a:extLst>
              <a:ext uri="{FF2B5EF4-FFF2-40B4-BE49-F238E27FC236}">
                <a16:creationId xmlns:a16="http://schemas.microsoft.com/office/drawing/2014/main" id="{2A1FC562-44E1-E13C-ADA2-55AF748BADFC}"/>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208691" y="3184612"/>
            <a:ext cx="557428" cy="543699"/>
          </a:xfrm>
          <a:prstGeom prst="rect">
            <a:avLst/>
          </a:prstGeom>
        </p:spPr>
      </p:pic>
      <p:pic>
        <p:nvPicPr>
          <p:cNvPr id="11" name="Bild 10" descr="Långärmad tröja med hel fyllning">
            <a:extLst>
              <a:ext uri="{FF2B5EF4-FFF2-40B4-BE49-F238E27FC236}">
                <a16:creationId xmlns:a16="http://schemas.microsoft.com/office/drawing/2014/main" id="{9DEE37E0-2F01-D12B-67A8-AC148D42459D}"/>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146908" y="4083908"/>
            <a:ext cx="619211" cy="550563"/>
          </a:xfrm>
          <a:prstGeom prst="rect">
            <a:avLst/>
          </a:prstGeom>
        </p:spPr>
      </p:pic>
      <p:pic>
        <p:nvPicPr>
          <p:cNvPr id="12" name="Bild 11" descr="Kugghjul kontur">
            <a:extLst>
              <a:ext uri="{FF2B5EF4-FFF2-40B4-BE49-F238E27FC236}">
                <a16:creationId xmlns:a16="http://schemas.microsoft.com/office/drawing/2014/main" id="{CA6DA7CE-A076-AB50-DFFC-FCD3A8F3428B}"/>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490151" y="5395097"/>
            <a:ext cx="914400" cy="914400"/>
          </a:xfrm>
          <a:prstGeom prst="rect">
            <a:avLst/>
          </a:prstGeom>
        </p:spPr>
      </p:pic>
      <p:sp>
        <p:nvSpPr>
          <p:cNvPr id="13" name="textruta 12">
            <a:extLst>
              <a:ext uri="{FF2B5EF4-FFF2-40B4-BE49-F238E27FC236}">
                <a16:creationId xmlns:a16="http://schemas.microsoft.com/office/drawing/2014/main" id="{B22548B7-AD48-8938-DE45-758FC9F744BC}"/>
              </a:ext>
            </a:extLst>
          </p:cNvPr>
          <p:cNvSpPr txBox="1"/>
          <p:nvPr/>
        </p:nvSpPr>
        <p:spPr>
          <a:xfrm>
            <a:off x="1132703" y="1228810"/>
            <a:ext cx="2743199" cy="33855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sv-SE" sz="1600">
                <a:solidFill>
                  <a:srgbClr val="EAF4FF"/>
                </a:solidFill>
              </a:rPr>
              <a:t>70 000 gråskalebilder</a:t>
            </a:r>
          </a:p>
        </p:txBody>
      </p:sp>
      <p:sp>
        <p:nvSpPr>
          <p:cNvPr id="14" name="textruta 13">
            <a:extLst>
              <a:ext uri="{FF2B5EF4-FFF2-40B4-BE49-F238E27FC236}">
                <a16:creationId xmlns:a16="http://schemas.microsoft.com/office/drawing/2014/main" id="{0774F72B-DDDC-6067-6736-07E512741564}"/>
              </a:ext>
            </a:extLst>
          </p:cNvPr>
          <p:cNvSpPr txBox="1"/>
          <p:nvPr/>
        </p:nvSpPr>
        <p:spPr>
          <a:xfrm>
            <a:off x="1105243" y="1970216"/>
            <a:ext cx="2743199" cy="33855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sv-SE" sz="1600">
                <a:solidFill>
                  <a:srgbClr val="EAF4FF"/>
                </a:solidFill>
              </a:rPr>
              <a:t>10 olika klasser</a:t>
            </a:r>
          </a:p>
        </p:txBody>
      </p:sp>
      <p:sp>
        <p:nvSpPr>
          <p:cNvPr id="15" name="textruta 14">
            <a:extLst>
              <a:ext uri="{FF2B5EF4-FFF2-40B4-BE49-F238E27FC236}">
                <a16:creationId xmlns:a16="http://schemas.microsoft.com/office/drawing/2014/main" id="{B5A0854A-3807-675F-C4B2-9C75CB39DB42}"/>
              </a:ext>
            </a:extLst>
          </p:cNvPr>
          <p:cNvSpPr txBox="1"/>
          <p:nvPr/>
        </p:nvSpPr>
        <p:spPr>
          <a:xfrm>
            <a:off x="1132703" y="2601784"/>
            <a:ext cx="2743199" cy="33855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sv-SE" sz="1600">
                <a:solidFill>
                  <a:srgbClr val="EAF4FF"/>
                </a:solidFill>
              </a:rPr>
              <a:t>28 x 28 pixlar</a:t>
            </a:r>
          </a:p>
        </p:txBody>
      </p:sp>
      <p:sp>
        <p:nvSpPr>
          <p:cNvPr id="16" name="textruta 15">
            <a:extLst>
              <a:ext uri="{FF2B5EF4-FFF2-40B4-BE49-F238E27FC236}">
                <a16:creationId xmlns:a16="http://schemas.microsoft.com/office/drawing/2014/main" id="{81DF77C8-4F9A-3E71-E7C6-D164041CF2C6}"/>
              </a:ext>
            </a:extLst>
          </p:cNvPr>
          <p:cNvSpPr txBox="1"/>
          <p:nvPr/>
        </p:nvSpPr>
        <p:spPr>
          <a:xfrm>
            <a:off x="1105243" y="3260811"/>
            <a:ext cx="4026928" cy="33855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sv-SE" sz="1600">
                <a:solidFill>
                  <a:srgbClr val="EAF4FF"/>
                </a:solidFill>
              </a:rPr>
              <a:t>Träningsdata / validation / testdata</a:t>
            </a:r>
          </a:p>
        </p:txBody>
      </p:sp>
      <p:sp>
        <p:nvSpPr>
          <p:cNvPr id="18" name="textruta 17">
            <a:extLst>
              <a:ext uri="{FF2B5EF4-FFF2-40B4-BE49-F238E27FC236}">
                <a16:creationId xmlns:a16="http://schemas.microsoft.com/office/drawing/2014/main" id="{721F88A7-E3D4-2DD2-B6EB-BD93F61CAE42}"/>
              </a:ext>
            </a:extLst>
          </p:cNvPr>
          <p:cNvSpPr txBox="1"/>
          <p:nvPr/>
        </p:nvSpPr>
        <p:spPr>
          <a:xfrm>
            <a:off x="1112108" y="4221892"/>
            <a:ext cx="2743199" cy="33855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sv-SE" sz="1600">
                <a:solidFill>
                  <a:srgbClr val="EAF4FF"/>
                </a:solidFill>
              </a:rPr>
              <a:t>Bilder av kläder och skor</a:t>
            </a:r>
          </a:p>
        </p:txBody>
      </p:sp>
      <p:sp>
        <p:nvSpPr>
          <p:cNvPr id="19" name="textruta 18">
            <a:extLst>
              <a:ext uri="{FF2B5EF4-FFF2-40B4-BE49-F238E27FC236}">
                <a16:creationId xmlns:a16="http://schemas.microsoft.com/office/drawing/2014/main" id="{33386090-E0E2-B2DC-83FC-9B5F98015C06}"/>
              </a:ext>
            </a:extLst>
          </p:cNvPr>
          <p:cNvSpPr txBox="1"/>
          <p:nvPr/>
        </p:nvSpPr>
        <p:spPr>
          <a:xfrm>
            <a:off x="1414162" y="5670377"/>
            <a:ext cx="1816443" cy="36576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sv-SE">
                <a:solidFill>
                  <a:srgbClr val="EAF4FF"/>
                </a:solidFill>
              </a:rPr>
              <a:t>Preprocessing</a:t>
            </a:r>
            <a:r>
              <a:rPr lang="sv-SE">
                <a:solidFill>
                  <a:srgbClr val="FFFFFF"/>
                </a:solidFill>
              </a:rPr>
              <a:t> </a:t>
            </a:r>
          </a:p>
        </p:txBody>
      </p:sp>
      <p:pic>
        <p:nvPicPr>
          <p:cNvPr id="21" name="Bildobjekt 20" descr="En bild som visar text, skärmbild, vit, svart och vit&#10;&#10;AI-genererat innehåll kan vara felaktigt.">
            <a:extLst>
              <a:ext uri="{FF2B5EF4-FFF2-40B4-BE49-F238E27FC236}">
                <a16:creationId xmlns:a16="http://schemas.microsoft.com/office/drawing/2014/main" id="{1BC3F1AA-4A2C-C513-3223-AE0AF6A56B66}"/>
              </a:ext>
            </a:extLst>
          </p:cNvPr>
          <p:cNvPicPr>
            <a:picLocks noChangeAspect="1"/>
          </p:cNvPicPr>
          <p:nvPr/>
        </p:nvPicPr>
        <p:blipFill>
          <a:blip r:embed="rId8"/>
          <a:stretch>
            <a:fillRect/>
          </a:stretch>
        </p:blipFill>
        <p:spPr>
          <a:xfrm>
            <a:off x="5354638" y="1760409"/>
            <a:ext cx="6411698" cy="2554589"/>
          </a:xfrm>
          <a:prstGeom prst="rect">
            <a:avLst/>
          </a:prstGeom>
        </p:spPr>
      </p:pic>
      <p:sp>
        <p:nvSpPr>
          <p:cNvPr id="22" name="textruta 21">
            <a:extLst>
              <a:ext uri="{FF2B5EF4-FFF2-40B4-BE49-F238E27FC236}">
                <a16:creationId xmlns:a16="http://schemas.microsoft.com/office/drawing/2014/main" id="{61FF9839-EE1C-D156-ABCF-184D99796369}"/>
              </a:ext>
            </a:extLst>
          </p:cNvPr>
          <p:cNvSpPr txBox="1"/>
          <p:nvPr/>
        </p:nvSpPr>
        <p:spPr>
          <a:xfrm>
            <a:off x="6940378" y="1022864"/>
            <a:ext cx="3546388"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sv-SE">
                <a:solidFill>
                  <a:srgbClr val="EAF4FF"/>
                </a:solidFill>
              </a:rPr>
              <a:t>Exempel på bilder från datasetet</a:t>
            </a:r>
          </a:p>
        </p:txBody>
      </p:sp>
      <p:cxnSp>
        <p:nvCxnSpPr>
          <p:cNvPr id="23" name="Rak pilkoppling 22">
            <a:extLst>
              <a:ext uri="{FF2B5EF4-FFF2-40B4-BE49-F238E27FC236}">
                <a16:creationId xmlns:a16="http://schemas.microsoft.com/office/drawing/2014/main" id="{E656D112-06F4-F141-98CF-DBCC92C672E8}"/>
              </a:ext>
            </a:extLst>
          </p:cNvPr>
          <p:cNvCxnSpPr/>
          <p:nvPr/>
        </p:nvCxnSpPr>
        <p:spPr>
          <a:xfrm flipV="1">
            <a:off x="1167028" y="1600886"/>
            <a:ext cx="3323966" cy="5492"/>
          </a:xfrm>
          <a:prstGeom prst="straightConnector1">
            <a:avLst/>
          </a:prstGeom>
          <a:ln w="6350">
            <a:solidFill>
              <a:srgbClr val="008CFF"/>
            </a:solidFill>
          </a:ln>
        </p:spPr>
        <p:style>
          <a:lnRef idx="2">
            <a:schemeClr val="accent1"/>
          </a:lnRef>
          <a:fillRef idx="0">
            <a:schemeClr val="accent1"/>
          </a:fillRef>
          <a:effectRef idx="1">
            <a:schemeClr val="accent1"/>
          </a:effectRef>
          <a:fontRef idx="minor">
            <a:schemeClr val="tx1"/>
          </a:fontRef>
        </p:style>
      </p:cxnSp>
      <p:cxnSp>
        <p:nvCxnSpPr>
          <p:cNvPr id="24" name="Rak pilkoppling 23">
            <a:extLst>
              <a:ext uri="{FF2B5EF4-FFF2-40B4-BE49-F238E27FC236}">
                <a16:creationId xmlns:a16="http://schemas.microsoft.com/office/drawing/2014/main" id="{38FC4542-A47B-A944-FE37-EE29A33FB842}"/>
              </a:ext>
            </a:extLst>
          </p:cNvPr>
          <p:cNvCxnSpPr>
            <a:cxnSpLocks/>
          </p:cNvCxnSpPr>
          <p:nvPr/>
        </p:nvCxnSpPr>
        <p:spPr>
          <a:xfrm flipV="1">
            <a:off x="1167028" y="2301102"/>
            <a:ext cx="3323966" cy="5492"/>
          </a:xfrm>
          <a:prstGeom prst="straightConnector1">
            <a:avLst/>
          </a:prstGeom>
          <a:ln w="6350">
            <a:solidFill>
              <a:srgbClr val="008CFF"/>
            </a:solidFill>
          </a:ln>
        </p:spPr>
        <p:style>
          <a:lnRef idx="2">
            <a:schemeClr val="accent1"/>
          </a:lnRef>
          <a:fillRef idx="0">
            <a:schemeClr val="accent1"/>
          </a:fillRef>
          <a:effectRef idx="1">
            <a:schemeClr val="accent1"/>
          </a:effectRef>
          <a:fontRef idx="minor">
            <a:schemeClr val="tx1"/>
          </a:fontRef>
        </p:style>
      </p:cxnSp>
      <p:cxnSp>
        <p:nvCxnSpPr>
          <p:cNvPr id="25" name="Rak pilkoppling 24">
            <a:extLst>
              <a:ext uri="{FF2B5EF4-FFF2-40B4-BE49-F238E27FC236}">
                <a16:creationId xmlns:a16="http://schemas.microsoft.com/office/drawing/2014/main" id="{40121987-9108-AACD-5581-B4C739089DEC}"/>
              </a:ext>
            </a:extLst>
          </p:cNvPr>
          <p:cNvCxnSpPr>
            <a:cxnSpLocks/>
          </p:cNvCxnSpPr>
          <p:nvPr/>
        </p:nvCxnSpPr>
        <p:spPr>
          <a:xfrm flipV="1">
            <a:off x="1173892" y="3015048"/>
            <a:ext cx="3314054" cy="5492"/>
          </a:xfrm>
          <a:prstGeom prst="straightConnector1">
            <a:avLst/>
          </a:prstGeom>
          <a:ln w="6350">
            <a:solidFill>
              <a:srgbClr val="008CFF"/>
            </a:solidFill>
          </a:ln>
        </p:spPr>
        <p:style>
          <a:lnRef idx="2">
            <a:schemeClr val="accent1"/>
          </a:lnRef>
          <a:fillRef idx="0">
            <a:schemeClr val="accent1"/>
          </a:fillRef>
          <a:effectRef idx="1">
            <a:schemeClr val="accent1"/>
          </a:effectRef>
          <a:fontRef idx="minor">
            <a:schemeClr val="tx1"/>
          </a:fontRef>
        </p:style>
      </p:cxnSp>
      <p:cxnSp>
        <p:nvCxnSpPr>
          <p:cNvPr id="26" name="Rak pilkoppling 25">
            <a:extLst>
              <a:ext uri="{FF2B5EF4-FFF2-40B4-BE49-F238E27FC236}">
                <a16:creationId xmlns:a16="http://schemas.microsoft.com/office/drawing/2014/main" id="{74417396-3983-B4AE-62FB-263881FF4390}"/>
              </a:ext>
            </a:extLst>
          </p:cNvPr>
          <p:cNvCxnSpPr>
            <a:cxnSpLocks/>
          </p:cNvCxnSpPr>
          <p:nvPr/>
        </p:nvCxnSpPr>
        <p:spPr>
          <a:xfrm flipV="1">
            <a:off x="1167028" y="3722129"/>
            <a:ext cx="3323966" cy="5492"/>
          </a:xfrm>
          <a:prstGeom prst="straightConnector1">
            <a:avLst/>
          </a:prstGeom>
          <a:ln w="6350">
            <a:solidFill>
              <a:srgbClr val="008CFF"/>
            </a:solidFill>
          </a:ln>
        </p:spPr>
        <p:style>
          <a:lnRef idx="2">
            <a:schemeClr val="accent1"/>
          </a:lnRef>
          <a:fillRef idx="0">
            <a:schemeClr val="accent1"/>
          </a:fillRef>
          <a:effectRef idx="1">
            <a:schemeClr val="accent1"/>
          </a:effectRef>
          <a:fontRef idx="minor">
            <a:schemeClr val="tx1"/>
          </a:fontRef>
        </p:style>
      </p:cxnSp>
      <p:cxnSp>
        <p:nvCxnSpPr>
          <p:cNvPr id="27" name="Rak pilkoppling 26">
            <a:extLst>
              <a:ext uri="{FF2B5EF4-FFF2-40B4-BE49-F238E27FC236}">
                <a16:creationId xmlns:a16="http://schemas.microsoft.com/office/drawing/2014/main" id="{5D9D76E7-548E-0731-9EA7-CB7B999BFB41}"/>
              </a:ext>
            </a:extLst>
          </p:cNvPr>
          <p:cNvCxnSpPr>
            <a:cxnSpLocks/>
          </p:cNvCxnSpPr>
          <p:nvPr/>
        </p:nvCxnSpPr>
        <p:spPr>
          <a:xfrm flipV="1">
            <a:off x="1132702" y="4593966"/>
            <a:ext cx="3323966" cy="5492"/>
          </a:xfrm>
          <a:prstGeom prst="straightConnector1">
            <a:avLst/>
          </a:prstGeom>
          <a:ln w="6350">
            <a:solidFill>
              <a:srgbClr val="008CFF"/>
            </a:solidFill>
          </a:ln>
        </p:spPr>
        <p:style>
          <a:lnRef idx="2">
            <a:schemeClr val="accent1"/>
          </a:lnRef>
          <a:fillRef idx="0">
            <a:schemeClr val="accent1"/>
          </a:fillRef>
          <a:effectRef idx="1">
            <a:schemeClr val="accent1"/>
          </a:effectRef>
          <a:fontRef idx="minor">
            <a:schemeClr val="tx1"/>
          </a:fontRef>
        </p:style>
      </p:cxnSp>
      <p:sp>
        <p:nvSpPr>
          <p:cNvPr id="28" name="Rektangel: rundade hörn 27">
            <a:extLst>
              <a:ext uri="{FF2B5EF4-FFF2-40B4-BE49-F238E27FC236}">
                <a16:creationId xmlns:a16="http://schemas.microsoft.com/office/drawing/2014/main" id="{8D13DAC1-5758-9EA1-ABAC-87609A3EABA8}"/>
              </a:ext>
            </a:extLst>
          </p:cNvPr>
          <p:cNvSpPr/>
          <p:nvPr/>
        </p:nvSpPr>
        <p:spPr>
          <a:xfrm>
            <a:off x="137299" y="5292811"/>
            <a:ext cx="11856992" cy="1113480"/>
          </a:xfrm>
          <a:prstGeom prst="roundRect">
            <a:avLst/>
          </a:prstGeom>
          <a:noFill/>
          <a:ln w="6350">
            <a:solidFill>
              <a:srgbClr val="006BB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cxnSp>
        <p:nvCxnSpPr>
          <p:cNvPr id="29" name="Rak pilkoppling 28">
            <a:extLst>
              <a:ext uri="{FF2B5EF4-FFF2-40B4-BE49-F238E27FC236}">
                <a16:creationId xmlns:a16="http://schemas.microsoft.com/office/drawing/2014/main" id="{7EA11573-9653-2CD9-9BFC-E7453986D19E}"/>
              </a:ext>
            </a:extLst>
          </p:cNvPr>
          <p:cNvCxnSpPr>
            <a:cxnSpLocks/>
          </p:cNvCxnSpPr>
          <p:nvPr/>
        </p:nvCxnSpPr>
        <p:spPr>
          <a:xfrm flipH="1">
            <a:off x="3269047" y="5443836"/>
            <a:ext cx="26088" cy="866345"/>
          </a:xfrm>
          <a:prstGeom prst="straightConnector1">
            <a:avLst/>
          </a:prstGeom>
          <a:ln w="6350">
            <a:solidFill>
              <a:srgbClr val="008CFF"/>
            </a:solidFill>
          </a:ln>
        </p:spPr>
        <p:style>
          <a:lnRef idx="2">
            <a:schemeClr val="accent1"/>
          </a:lnRef>
          <a:fillRef idx="0">
            <a:schemeClr val="accent1"/>
          </a:fillRef>
          <a:effectRef idx="1">
            <a:schemeClr val="accent1"/>
          </a:effectRef>
          <a:fontRef idx="minor">
            <a:schemeClr val="tx1"/>
          </a:fontRef>
        </p:style>
      </p:cxnSp>
      <p:sp>
        <p:nvSpPr>
          <p:cNvPr id="30" name="textruta 29">
            <a:extLst>
              <a:ext uri="{FF2B5EF4-FFF2-40B4-BE49-F238E27FC236}">
                <a16:creationId xmlns:a16="http://schemas.microsoft.com/office/drawing/2014/main" id="{4DCDE4A4-3AA8-1F45-D797-ADEAD8EEE389}"/>
              </a:ext>
            </a:extLst>
          </p:cNvPr>
          <p:cNvSpPr txBox="1"/>
          <p:nvPr/>
        </p:nvSpPr>
        <p:spPr>
          <a:xfrm>
            <a:off x="3507948" y="5498757"/>
            <a:ext cx="8138982" cy="7076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lnSpc>
                <a:spcPct val="150000"/>
              </a:lnSpc>
              <a:buFont typeface="Arial"/>
              <a:buChar char="•"/>
            </a:pPr>
            <a:r>
              <a:rPr lang="sv-SE" sz="1400">
                <a:solidFill>
                  <a:srgbClr val="EAF4FF"/>
                </a:solidFill>
              </a:rPr>
              <a:t>Normalisering av pixelvärden (dividera med 255) så att alla värden hamnar mellan 0 och 1</a:t>
            </a:r>
            <a:endParaRPr lang="sv-SE">
              <a:solidFill>
                <a:srgbClr val="EAF4FF"/>
              </a:solidFill>
            </a:endParaRPr>
          </a:p>
          <a:p>
            <a:pPr marL="285750" indent="-285750">
              <a:lnSpc>
                <a:spcPct val="150000"/>
              </a:lnSpc>
              <a:buFont typeface="Arial"/>
              <a:buChar char="•"/>
            </a:pPr>
            <a:r>
              <a:rPr lang="sv-SE" sz="1400">
                <a:solidFill>
                  <a:srgbClr val="EAF4FF"/>
                </a:solidFill>
              </a:rPr>
              <a:t>Reshape till 28 x 28 x 1 eftersom CNN-modeller förväntar sig höjd, bredd och kanal</a:t>
            </a:r>
          </a:p>
        </p:txBody>
      </p:sp>
      <p:sp>
        <p:nvSpPr>
          <p:cNvPr id="31" name="Rektangel: rundade hörn 30">
            <a:extLst>
              <a:ext uri="{FF2B5EF4-FFF2-40B4-BE49-F238E27FC236}">
                <a16:creationId xmlns:a16="http://schemas.microsoft.com/office/drawing/2014/main" id="{7FC9D54B-0336-3392-C832-FD626D4562F7}"/>
              </a:ext>
            </a:extLst>
          </p:cNvPr>
          <p:cNvSpPr/>
          <p:nvPr/>
        </p:nvSpPr>
        <p:spPr>
          <a:xfrm>
            <a:off x="5134918" y="1558323"/>
            <a:ext cx="6854703" cy="2993080"/>
          </a:xfrm>
          <a:prstGeom prst="roundRect">
            <a:avLst/>
          </a:prstGeom>
          <a:noFill/>
          <a:ln w="6350">
            <a:solidFill>
              <a:srgbClr val="006BB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cxnSp>
        <p:nvCxnSpPr>
          <p:cNvPr id="32" name="Rak pilkoppling 31">
            <a:extLst>
              <a:ext uri="{FF2B5EF4-FFF2-40B4-BE49-F238E27FC236}">
                <a16:creationId xmlns:a16="http://schemas.microsoft.com/office/drawing/2014/main" id="{A0679523-B185-257A-B2ED-76690AA54093}"/>
              </a:ext>
            </a:extLst>
          </p:cNvPr>
          <p:cNvCxnSpPr/>
          <p:nvPr/>
        </p:nvCxnSpPr>
        <p:spPr>
          <a:xfrm>
            <a:off x="4743621" y="1125839"/>
            <a:ext cx="1373" cy="3509318"/>
          </a:xfrm>
          <a:prstGeom prst="straightConnector1">
            <a:avLst/>
          </a:prstGeom>
          <a:ln w="6350">
            <a:solidFill>
              <a:srgbClr val="008CFF"/>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7487500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B9C8707B-0A13-918E-5400-FD8025FE880F}"/>
            </a:ext>
          </a:extLst>
        </p:cNvPr>
        <p:cNvGrpSpPr/>
        <p:nvPr/>
      </p:nvGrpSpPr>
      <p:grpSpPr>
        <a:xfrm>
          <a:off x="0" y="0"/>
          <a:ext cx="0" cy="0"/>
          <a:chOff x="0" y="0"/>
          <a:chExt cx="0" cy="0"/>
        </a:xfrm>
      </p:grpSpPr>
      <p:sp>
        <p:nvSpPr>
          <p:cNvPr id="33" name="Rektangel 32">
            <a:extLst>
              <a:ext uri="{FF2B5EF4-FFF2-40B4-BE49-F238E27FC236}">
                <a16:creationId xmlns:a16="http://schemas.microsoft.com/office/drawing/2014/main" id="{934017BB-55BA-A724-90E4-CC0C621934BC}"/>
              </a:ext>
            </a:extLst>
          </p:cNvPr>
          <p:cNvSpPr/>
          <p:nvPr/>
        </p:nvSpPr>
        <p:spPr>
          <a:xfrm>
            <a:off x="-13730" y="1"/>
            <a:ext cx="12171405" cy="6857999"/>
          </a:xfrm>
          <a:prstGeom prst="rect">
            <a:avLst/>
          </a:prstGeom>
          <a:solidFill>
            <a:srgbClr val="020A14"/>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sv-SE"/>
          </a:p>
        </p:txBody>
      </p:sp>
      <p:sp>
        <p:nvSpPr>
          <p:cNvPr id="4" name="Flödesschema: Sidbrytningskoppling 3">
            <a:extLst>
              <a:ext uri="{FF2B5EF4-FFF2-40B4-BE49-F238E27FC236}">
                <a16:creationId xmlns:a16="http://schemas.microsoft.com/office/drawing/2014/main" id="{7A2D2618-E134-F504-3122-BDBCDFEFC1D9}"/>
              </a:ext>
            </a:extLst>
          </p:cNvPr>
          <p:cNvSpPr/>
          <p:nvPr/>
        </p:nvSpPr>
        <p:spPr>
          <a:xfrm>
            <a:off x="206721" y="157832"/>
            <a:ext cx="494335" cy="695026"/>
          </a:xfrm>
          <a:prstGeom prst="flowChartOffpageConnector">
            <a:avLst/>
          </a:prstGeom>
          <a:solidFill>
            <a:srgbClr val="008CFF"/>
          </a:solidFill>
          <a:ln>
            <a:solidFill>
              <a:srgbClr val="4472C4"/>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sv-SE" sz="3600" b="1"/>
              <a:t>3</a:t>
            </a:r>
          </a:p>
        </p:txBody>
      </p:sp>
      <p:sp>
        <p:nvSpPr>
          <p:cNvPr id="6" name="textruta 5">
            <a:extLst>
              <a:ext uri="{FF2B5EF4-FFF2-40B4-BE49-F238E27FC236}">
                <a16:creationId xmlns:a16="http://schemas.microsoft.com/office/drawing/2014/main" id="{81996CF0-77B4-CC79-85F2-E18214E4D262}"/>
              </a:ext>
            </a:extLst>
          </p:cNvPr>
          <p:cNvSpPr txBox="1"/>
          <p:nvPr/>
        </p:nvSpPr>
        <p:spPr>
          <a:xfrm>
            <a:off x="947351" y="157891"/>
            <a:ext cx="5118440"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sv-SE" sz="2800" b="1">
                <a:solidFill>
                  <a:srgbClr val="FFFFFF"/>
                </a:solidFill>
              </a:rPr>
              <a:t>Baseline utan regularisering</a:t>
            </a:r>
          </a:p>
        </p:txBody>
      </p:sp>
      <p:sp>
        <p:nvSpPr>
          <p:cNvPr id="22" name="textruta 21">
            <a:extLst>
              <a:ext uri="{FF2B5EF4-FFF2-40B4-BE49-F238E27FC236}">
                <a16:creationId xmlns:a16="http://schemas.microsoft.com/office/drawing/2014/main" id="{CD51FFF1-67DF-3AD9-411D-95CA32573B08}"/>
              </a:ext>
            </a:extLst>
          </p:cNvPr>
          <p:cNvSpPr txBox="1"/>
          <p:nvPr/>
        </p:nvSpPr>
        <p:spPr>
          <a:xfrm>
            <a:off x="5272216" y="913027"/>
            <a:ext cx="3546388"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sv-SE">
                <a:solidFill>
                  <a:srgbClr val="EAF4FF"/>
                </a:solidFill>
              </a:rPr>
              <a:t>Baseline utan regularisering</a:t>
            </a:r>
          </a:p>
        </p:txBody>
      </p:sp>
      <p:sp>
        <p:nvSpPr>
          <p:cNvPr id="28" name="Rektangel: rundade hörn 27">
            <a:extLst>
              <a:ext uri="{FF2B5EF4-FFF2-40B4-BE49-F238E27FC236}">
                <a16:creationId xmlns:a16="http://schemas.microsoft.com/office/drawing/2014/main" id="{9A24871B-72C2-3CA6-95D2-9BC82639DBB0}"/>
              </a:ext>
            </a:extLst>
          </p:cNvPr>
          <p:cNvSpPr/>
          <p:nvPr/>
        </p:nvSpPr>
        <p:spPr>
          <a:xfrm>
            <a:off x="947352" y="5594865"/>
            <a:ext cx="3166074" cy="1113480"/>
          </a:xfrm>
          <a:prstGeom prst="roundRect">
            <a:avLst/>
          </a:prstGeom>
          <a:noFill/>
          <a:ln w="6350">
            <a:solidFill>
              <a:srgbClr val="006BB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cxnSp>
        <p:nvCxnSpPr>
          <p:cNvPr id="32" name="Rak pilkoppling 31">
            <a:extLst>
              <a:ext uri="{FF2B5EF4-FFF2-40B4-BE49-F238E27FC236}">
                <a16:creationId xmlns:a16="http://schemas.microsoft.com/office/drawing/2014/main" id="{FBC06611-070C-ABC1-9424-9B242AB3160E}"/>
              </a:ext>
            </a:extLst>
          </p:cNvPr>
          <p:cNvCxnSpPr/>
          <p:nvPr/>
        </p:nvCxnSpPr>
        <p:spPr>
          <a:xfrm flipH="1">
            <a:off x="4696940" y="1098380"/>
            <a:ext cx="46681" cy="5678614"/>
          </a:xfrm>
          <a:prstGeom prst="straightConnector1">
            <a:avLst/>
          </a:prstGeom>
          <a:ln w="6350">
            <a:solidFill>
              <a:srgbClr val="008CFF"/>
            </a:solidFill>
          </a:ln>
        </p:spPr>
        <p:style>
          <a:lnRef idx="2">
            <a:schemeClr val="accent1"/>
          </a:lnRef>
          <a:fillRef idx="0">
            <a:schemeClr val="accent1"/>
          </a:fillRef>
          <a:effectRef idx="1">
            <a:schemeClr val="accent1"/>
          </a:effectRef>
          <a:fontRef idx="minor">
            <a:schemeClr val="tx1"/>
          </a:fontRef>
        </p:style>
      </p:cxnSp>
      <p:sp>
        <p:nvSpPr>
          <p:cNvPr id="2" name="textruta 1">
            <a:extLst>
              <a:ext uri="{FF2B5EF4-FFF2-40B4-BE49-F238E27FC236}">
                <a16:creationId xmlns:a16="http://schemas.microsoft.com/office/drawing/2014/main" id="{291FB17E-A26C-8933-D580-1F27FB149428}"/>
              </a:ext>
            </a:extLst>
          </p:cNvPr>
          <p:cNvSpPr txBox="1"/>
          <p:nvPr/>
        </p:nvSpPr>
        <p:spPr>
          <a:xfrm>
            <a:off x="989555" y="572947"/>
            <a:ext cx="8726556" cy="2769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sv-SE" sz="1200">
                <a:solidFill>
                  <a:srgbClr val="EAF4FF"/>
                </a:solidFill>
              </a:rPr>
              <a:t>Vår första CNN-modell används som jämförelse för alla regulariseringsmodeller</a:t>
            </a:r>
          </a:p>
        </p:txBody>
      </p:sp>
      <p:sp>
        <p:nvSpPr>
          <p:cNvPr id="3" name="textruta 2">
            <a:extLst>
              <a:ext uri="{FF2B5EF4-FFF2-40B4-BE49-F238E27FC236}">
                <a16:creationId xmlns:a16="http://schemas.microsoft.com/office/drawing/2014/main" id="{63B8EDAF-9C9A-A25E-32B4-50AD391F4799}"/>
              </a:ext>
            </a:extLst>
          </p:cNvPr>
          <p:cNvSpPr txBox="1"/>
          <p:nvPr/>
        </p:nvSpPr>
        <p:spPr>
          <a:xfrm>
            <a:off x="1097483" y="942396"/>
            <a:ext cx="3902765"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sv-SE" sz="1400">
                <a:solidFill>
                  <a:srgbClr val="EAF4FF"/>
                </a:solidFill>
              </a:rPr>
              <a:t>CNN-arkitektur  (baseline)</a:t>
            </a:r>
          </a:p>
        </p:txBody>
      </p:sp>
      <p:sp>
        <p:nvSpPr>
          <p:cNvPr id="5" name="Rektangel: rundade hörn 4">
            <a:extLst>
              <a:ext uri="{FF2B5EF4-FFF2-40B4-BE49-F238E27FC236}">
                <a16:creationId xmlns:a16="http://schemas.microsoft.com/office/drawing/2014/main" id="{83EF604B-BDE4-885F-44DE-FDCA8CC96C1A}"/>
              </a:ext>
            </a:extLst>
          </p:cNvPr>
          <p:cNvSpPr/>
          <p:nvPr/>
        </p:nvSpPr>
        <p:spPr>
          <a:xfrm>
            <a:off x="949322" y="1302473"/>
            <a:ext cx="3160642" cy="669235"/>
          </a:xfrm>
          <a:prstGeom prst="roundRect">
            <a:avLst/>
          </a:prstGeom>
          <a:noFill/>
          <a:ln w="6350">
            <a:solidFill>
              <a:srgbClr val="008C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17" name="textruta 16">
            <a:extLst>
              <a:ext uri="{FF2B5EF4-FFF2-40B4-BE49-F238E27FC236}">
                <a16:creationId xmlns:a16="http://schemas.microsoft.com/office/drawing/2014/main" id="{43BB0681-01D0-9826-C309-564B1E68BF76}"/>
              </a:ext>
            </a:extLst>
          </p:cNvPr>
          <p:cNvSpPr txBox="1"/>
          <p:nvPr/>
        </p:nvSpPr>
        <p:spPr>
          <a:xfrm>
            <a:off x="1680220" y="1299190"/>
            <a:ext cx="2325757" cy="307777"/>
          </a:xfrm>
          <a:prstGeom prst="rect">
            <a:avLst/>
          </a:prstGeom>
          <a:noFill/>
          <a:ln w="12700">
            <a:no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sv-SE" sz="1400">
                <a:solidFill>
                  <a:srgbClr val="EAF4FF"/>
                </a:solidFill>
              </a:rPr>
              <a:t>Conv2D-lager</a:t>
            </a:r>
          </a:p>
        </p:txBody>
      </p:sp>
      <p:sp>
        <p:nvSpPr>
          <p:cNvPr id="20" name="textruta 19">
            <a:extLst>
              <a:ext uri="{FF2B5EF4-FFF2-40B4-BE49-F238E27FC236}">
                <a16:creationId xmlns:a16="http://schemas.microsoft.com/office/drawing/2014/main" id="{425226A1-E14C-385B-BFED-1A7D440146BE}"/>
              </a:ext>
            </a:extLst>
          </p:cNvPr>
          <p:cNvSpPr txBox="1"/>
          <p:nvPr/>
        </p:nvSpPr>
        <p:spPr>
          <a:xfrm>
            <a:off x="1679623" y="1613304"/>
            <a:ext cx="3491947" cy="24622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sv-SE" sz="1000">
                <a:solidFill>
                  <a:srgbClr val="EAF4FF"/>
                </a:solidFill>
              </a:rPr>
              <a:t>Extraherar mönster från bilderna</a:t>
            </a:r>
          </a:p>
        </p:txBody>
      </p:sp>
      <p:pic>
        <p:nvPicPr>
          <p:cNvPr id="34" name="Bild 33" descr="Lager design kontur">
            <a:extLst>
              <a:ext uri="{FF2B5EF4-FFF2-40B4-BE49-F238E27FC236}">
                <a16:creationId xmlns:a16="http://schemas.microsoft.com/office/drawing/2014/main" id="{3D9D5DE2-3C20-61E6-FEDB-75C6EEB763EC}"/>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066799" y="1394792"/>
            <a:ext cx="470453" cy="457200"/>
          </a:xfrm>
          <a:prstGeom prst="rect">
            <a:avLst/>
          </a:prstGeom>
        </p:spPr>
      </p:pic>
      <p:sp>
        <p:nvSpPr>
          <p:cNvPr id="36" name="Pil: nedåt 35">
            <a:extLst>
              <a:ext uri="{FF2B5EF4-FFF2-40B4-BE49-F238E27FC236}">
                <a16:creationId xmlns:a16="http://schemas.microsoft.com/office/drawing/2014/main" id="{D3B575E0-DB74-E8C2-A5CF-7055D781858F}"/>
              </a:ext>
            </a:extLst>
          </p:cNvPr>
          <p:cNvSpPr/>
          <p:nvPr/>
        </p:nvSpPr>
        <p:spPr>
          <a:xfrm>
            <a:off x="2221589" y="1969738"/>
            <a:ext cx="484632" cy="395313"/>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40" name="Rektangel: rundade hörn 39">
            <a:extLst>
              <a:ext uri="{FF2B5EF4-FFF2-40B4-BE49-F238E27FC236}">
                <a16:creationId xmlns:a16="http://schemas.microsoft.com/office/drawing/2014/main" id="{68F2E970-2ECC-CAB7-8FD3-F4BF1FC6491C}"/>
              </a:ext>
            </a:extLst>
          </p:cNvPr>
          <p:cNvSpPr/>
          <p:nvPr/>
        </p:nvSpPr>
        <p:spPr>
          <a:xfrm>
            <a:off x="949321" y="2369272"/>
            <a:ext cx="3160642" cy="669235"/>
          </a:xfrm>
          <a:prstGeom prst="roundRect">
            <a:avLst/>
          </a:prstGeom>
          <a:noFill/>
          <a:ln w="6350">
            <a:solidFill>
              <a:srgbClr val="45B36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41" name="Rektangel: rundade hörn 40">
            <a:extLst>
              <a:ext uri="{FF2B5EF4-FFF2-40B4-BE49-F238E27FC236}">
                <a16:creationId xmlns:a16="http://schemas.microsoft.com/office/drawing/2014/main" id="{B2B2E731-FBE3-4252-DD29-652D70A598C8}"/>
              </a:ext>
            </a:extLst>
          </p:cNvPr>
          <p:cNvSpPr/>
          <p:nvPr/>
        </p:nvSpPr>
        <p:spPr>
          <a:xfrm>
            <a:off x="949320" y="3429445"/>
            <a:ext cx="3160642" cy="669235"/>
          </a:xfrm>
          <a:prstGeom prst="roundRect">
            <a:avLst/>
          </a:prstGeom>
          <a:noFill/>
          <a:ln w="6350">
            <a:solidFill>
              <a:srgbClr val="E88A2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42" name="Rektangel: rundade hörn 41">
            <a:extLst>
              <a:ext uri="{FF2B5EF4-FFF2-40B4-BE49-F238E27FC236}">
                <a16:creationId xmlns:a16="http://schemas.microsoft.com/office/drawing/2014/main" id="{193137FA-6AAE-4A88-466E-3DC083DEDE47}"/>
              </a:ext>
            </a:extLst>
          </p:cNvPr>
          <p:cNvSpPr/>
          <p:nvPr/>
        </p:nvSpPr>
        <p:spPr>
          <a:xfrm>
            <a:off x="949320" y="4463115"/>
            <a:ext cx="3160642" cy="669235"/>
          </a:xfrm>
          <a:prstGeom prst="roundRect">
            <a:avLst/>
          </a:prstGeom>
          <a:noFill/>
          <a:ln>
            <a:solidFill>
              <a:srgbClr val="B57B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43" name="Pil: nedåt 42">
            <a:extLst>
              <a:ext uri="{FF2B5EF4-FFF2-40B4-BE49-F238E27FC236}">
                <a16:creationId xmlns:a16="http://schemas.microsoft.com/office/drawing/2014/main" id="{B3509B64-A17C-4319-9C39-F9714F711FE9}"/>
              </a:ext>
            </a:extLst>
          </p:cNvPr>
          <p:cNvSpPr/>
          <p:nvPr/>
        </p:nvSpPr>
        <p:spPr>
          <a:xfrm>
            <a:off x="2221588" y="3056415"/>
            <a:ext cx="484632" cy="368809"/>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44" name="Pil: nedåt 43">
            <a:extLst>
              <a:ext uri="{FF2B5EF4-FFF2-40B4-BE49-F238E27FC236}">
                <a16:creationId xmlns:a16="http://schemas.microsoft.com/office/drawing/2014/main" id="{6199C44C-E08A-8D33-A69A-34C04BB93F1D}"/>
              </a:ext>
            </a:extLst>
          </p:cNvPr>
          <p:cNvSpPr/>
          <p:nvPr/>
        </p:nvSpPr>
        <p:spPr>
          <a:xfrm>
            <a:off x="2221587" y="4096710"/>
            <a:ext cx="484632" cy="362183"/>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45" name="textruta 44">
            <a:extLst>
              <a:ext uri="{FF2B5EF4-FFF2-40B4-BE49-F238E27FC236}">
                <a16:creationId xmlns:a16="http://schemas.microsoft.com/office/drawing/2014/main" id="{8DF424DE-3CC6-E08F-18F2-63586AEE0F67}"/>
              </a:ext>
            </a:extLst>
          </p:cNvPr>
          <p:cNvSpPr txBox="1"/>
          <p:nvPr/>
        </p:nvSpPr>
        <p:spPr>
          <a:xfrm>
            <a:off x="1682548" y="2402046"/>
            <a:ext cx="2743200"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sv-SE" sz="1400">
                <a:solidFill>
                  <a:srgbClr val="EAF4FF"/>
                </a:solidFill>
              </a:rPr>
              <a:t>MaxPooling-lager</a:t>
            </a:r>
          </a:p>
        </p:txBody>
      </p:sp>
      <p:sp>
        <p:nvSpPr>
          <p:cNvPr id="46" name="textruta 45">
            <a:extLst>
              <a:ext uri="{FF2B5EF4-FFF2-40B4-BE49-F238E27FC236}">
                <a16:creationId xmlns:a16="http://schemas.microsoft.com/office/drawing/2014/main" id="{88772F9A-47E0-BB94-6468-E2CA06945345}"/>
              </a:ext>
            </a:extLst>
          </p:cNvPr>
          <p:cNvSpPr txBox="1"/>
          <p:nvPr/>
        </p:nvSpPr>
        <p:spPr>
          <a:xfrm>
            <a:off x="1682547" y="3429089"/>
            <a:ext cx="2743200"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sv-SE" sz="1400">
                <a:solidFill>
                  <a:srgbClr val="EAF4FF"/>
                </a:solidFill>
              </a:rPr>
              <a:t>Dense-lager</a:t>
            </a:r>
          </a:p>
        </p:txBody>
      </p:sp>
      <p:sp>
        <p:nvSpPr>
          <p:cNvPr id="47" name="textruta 46">
            <a:extLst>
              <a:ext uri="{FF2B5EF4-FFF2-40B4-BE49-F238E27FC236}">
                <a16:creationId xmlns:a16="http://schemas.microsoft.com/office/drawing/2014/main" id="{CC864307-207D-7A82-1340-5E2F962D91EF}"/>
              </a:ext>
            </a:extLst>
          </p:cNvPr>
          <p:cNvSpPr txBox="1"/>
          <p:nvPr/>
        </p:nvSpPr>
        <p:spPr>
          <a:xfrm>
            <a:off x="1536772" y="4495888"/>
            <a:ext cx="2743200"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sv-SE" sz="1400">
                <a:solidFill>
                  <a:srgbClr val="EAF4FF"/>
                </a:solidFill>
              </a:rPr>
              <a:t>Softmax-output</a:t>
            </a:r>
          </a:p>
        </p:txBody>
      </p:sp>
      <p:sp>
        <p:nvSpPr>
          <p:cNvPr id="48" name="textruta 47">
            <a:extLst>
              <a:ext uri="{FF2B5EF4-FFF2-40B4-BE49-F238E27FC236}">
                <a16:creationId xmlns:a16="http://schemas.microsoft.com/office/drawing/2014/main" id="{8BEAF367-F490-6838-BF33-826FBA04DC37}"/>
              </a:ext>
            </a:extLst>
          </p:cNvPr>
          <p:cNvSpPr txBox="1"/>
          <p:nvPr/>
        </p:nvSpPr>
        <p:spPr>
          <a:xfrm>
            <a:off x="1679622" y="2633720"/>
            <a:ext cx="1908313"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sv-SE" sz="1000">
                <a:solidFill>
                  <a:srgbClr val="EAF4FF"/>
                </a:solidFill>
              </a:rPr>
              <a:t>Minska dimensioner &amp; behåller viktiga mönster</a:t>
            </a:r>
          </a:p>
        </p:txBody>
      </p:sp>
      <p:sp>
        <p:nvSpPr>
          <p:cNvPr id="49" name="textruta 48">
            <a:extLst>
              <a:ext uri="{FF2B5EF4-FFF2-40B4-BE49-F238E27FC236}">
                <a16:creationId xmlns:a16="http://schemas.microsoft.com/office/drawing/2014/main" id="{8ED2C675-DB27-5ED3-5C8D-0B01B9737177}"/>
              </a:ext>
            </a:extLst>
          </p:cNvPr>
          <p:cNvSpPr txBox="1"/>
          <p:nvPr/>
        </p:nvSpPr>
        <p:spPr>
          <a:xfrm>
            <a:off x="1679621" y="3700520"/>
            <a:ext cx="3491947" cy="24622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sv-SE" sz="1000">
                <a:solidFill>
                  <a:srgbClr val="EAF4FF"/>
                </a:solidFill>
              </a:rPr>
              <a:t>Lär sig komplexa samband</a:t>
            </a:r>
          </a:p>
        </p:txBody>
      </p:sp>
      <p:sp>
        <p:nvSpPr>
          <p:cNvPr id="50" name="textruta 49">
            <a:extLst>
              <a:ext uri="{FF2B5EF4-FFF2-40B4-BE49-F238E27FC236}">
                <a16:creationId xmlns:a16="http://schemas.microsoft.com/office/drawing/2014/main" id="{77F2A025-15DE-1E19-43FC-C10B2A0069D3}"/>
              </a:ext>
            </a:extLst>
          </p:cNvPr>
          <p:cNvSpPr txBox="1"/>
          <p:nvPr/>
        </p:nvSpPr>
        <p:spPr>
          <a:xfrm>
            <a:off x="1540472" y="4800450"/>
            <a:ext cx="3491947" cy="24622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sv-SE" sz="1000">
                <a:solidFill>
                  <a:srgbClr val="EAF4FF"/>
                </a:solidFill>
              </a:rPr>
              <a:t>Ger sannolikheter för 10 klasser</a:t>
            </a:r>
          </a:p>
        </p:txBody>
      </p:sp>
      <p:pic>
        <p:nvPicPr>
          <p:cNvPr id="51" name="Bild 50" descr="Tabell kontur">
            <a:extLst>
              <a:ext uri="{FF2B5EF4-FFF2-40B4-BE49-F238E27FC236}">
                <a16:creationId xmlns:a16="http://schemas.microsoft.com/office/drawing/2014/main" id="{DFD6E95A-BA25-DA5D-0F93-07246DAAD74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066800" y="2436341"/>
            <a:ext cx="536834" cy="550562"/>
          </a:xfrm>
          <a:prstGeom prst="rect">
            <a:avLst/>
          </a:prstGeom>
        </p:spPr>
      </p:pic>
      <p:pic>
        <p:nvPicPr>
          <p:cNvPr id="52" name="Bild 51" descr="Användarnätverk kontur">
            <a:extLst>
              <a:ext uri="{FF2B5EF4-FFF2-40B4-BE49-F238E27FC236}">
                <a16:creationId xmlns:a16="http://schemas.microsoft.com/office/drawing/2014/main" id="{746E10C5-8207-F47B-6D37-A038A5CACD9E}"/>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066799" y="3431745"/>
            <a:ext cx="509374" cy="584887"/>
          </a:xfrm>
          <a:prstGeom prst="rect">
            <a:avLst/>
          </a:prstGeom>
        </p:spPr>
      </p:pic>
      <p:pic>
        <p:nvPicPr>
          <p:cNvPr id="53" name="Bild 52" descr="Stapeldiagram kontur">
            <a:extLst>
              <a:ext uri="{FF2B5EF4-FFF2-40B4-BE49-F238E27FC236}">
                <a16:creationId xmlns:a16="http://schemas.microsoft.com/office/drawing/2014/main" id="{B6D6F5A6-237D-847C-BEA1-1DBB8E9D638F}"/>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066799" y="4550718"/>
            <a:ext cx="468185" cy="495645"/>
          </a:xfrm>
          <a:prstGeom prst="rect">
            <a:avLst/>
          </a:prstGeom>
        </p:spPr>
      </p:pic>
      <p:sp>
        <p:nvSpPr>
          <p:cNvPr id="54" name="textruta 53">
            <a:extLst>
              <a:ext uri="{FF2B5EF4-FFF2-40B4-BE49-F238E27FC236}">
                <a16:creationId xmlns:a16="http://schemas.microsoft.com/office/drawing/2014/main" id="{B248D46A-47B0-E276-1296-09D6B5F8970A}"/>
              </a:ext>
            </a:extLst>
          </p:cNvPr>
          <p:cNvSpPr txBox="1"/>
          <p:nvPr/>
        </p:nvSpPr>
        <p:spPr>
          <a:xfrm>
            <a:off x="947351" y="5265350"/>
            <a:ext cx="2743199" cy="2769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sv-SE" sz="1200">
                <a:solidFill>
                  <a:srgbClr val="EAF4FF"/>
                </a:solidFill>
                <a:ea typeface="+mn-lt"/>
                <a:cs typeface="+mn-lt"/>
              </a:rPr>
              <a:t>Träningsinställningar</a:t>
            </a:r>
            <a:endParaRPr lang="sv-SE" sz="1200">
              <a:solidFill>
                <a:srgbClr val="EAF4FF"/>
              </a:solidFill>
            </a:endParaRPr>
          </a:p>
        </p:txBody>
      </p:sp>
      <p:pic>
        <p:nvPicPr>
          <p:cNvPr id="55" name="Bild 54" descr="Märke bockmarkering med hel fyllning">
            <a:extLst>
              <a:ext uri="{FF2B5EF4-FFF2-40B4-BE49-F238E27FC236}">
                <a16:creationId xmlns:a16="http://schemas.microsoft.com/office/drawing/2014/main" id="{DBE507BC-D9DD-AAA9-B18F-526AD43ED21C}"/>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991285" y="5594177"/>
            <a:ext cx="275969" cy="262239"/>
          </a:xfrm>
          <a:prstGeom prst="rect">
            <a:avLst/>
          </a:prstGeom>
        </p:spPr>
      </p:pic>
      <p:pic>
        <p:nvPicPr>
          <p:cNvPr id="58" name="Bild 57" descr="Märke bockmarkering med hel fyllning">
            <a:extLst>
              <a:ext uri="{FF2B5EF4-FFF2-40B4-BE49-F238E27FC236}">
                <a16:creationId xmlns:a16="http://schemas.microsoft.com/office/drawing/2014/main" id="{9306F718-1DB6-7DB9-BB28-A44DB3565F15}"/>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991285" y="5855042"/>
            <a:ext cx="275969" cy="262239"/>
          </a:xfrm>
          <a:prstGeom prst="rect">
            <a:avLst/>
          </a:prstGeom>
        </p:spPr>
      </p:pic>
      <p:pic>
        <p:nvPicPr>
          <p:cNvPr id="59" name="Bild 58" descr="Märke bockmarkering med hel fyllning">
            <a:extLst>
              <a:ext uri="{FF2B5EF4-FFF2-40B4-BE49-F238E27FC236}">
                <a16:creationId xmlns:a16="http://schemas.microsoft.com/office/drawing/2014/main" id="{93FC3521-25CD-7434-48CF-A7E940140BA6}"/>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991285" y="6115907"/>
            <a:ext cx="275969" cy="262239"/>
          </a:xfrm>
          <a:prstGeom prst="rect">
            <a:avLst/>
          </a:prstGeom>
        </p:spPr>
      </p:pic>
      <p:pic>
        <p:nvPicPr>
          <p:cNvPr id="60" name="Bild 59" descr="Märke bockmarkering med hel fyllning">
            <a:extLst>
              <a:ext uri="{FF2B5EF4-FFF2-40B4-BE49-F238E27FC236}">
                <a16:creationId xmlns:a16="http://schemas.microsoft.com/office/drawing/2014/main" id="{BCD39BBF-7A46-755D-1093-6836AEA8DBF8}"/>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991285" y="6376772"/>
            <a:ext cx="275969" cy="262239"/>
          </a:xfrm>
          <a:prstGeom prst="rect">
            <a:avLst/>
          </a:prstGeom>
        </p:spPr>
      </p:pic>
      <p:sp>
        <p:nvSpPr>
          <p:cNvPr id="62" name="textruta 61">
            <a:extLst>
              <a:ext uri="{FF2B5EF4-FFF2-40B4-BE49-F238E27FC236}">
                <a16:creationId xmlns:a16="http://schemas.microsoft.com/office/drawing/2014/main" id="{B43EF89B-C568-B924-323A-E451D7A2AE54}"/>
              </a:ext>
            </a:extLst>
          </p:cNvPr>
          <p:cNvSpPr txBox="1"/>
          <p:nvPr/>
        </p:nvSpPr>
        <p:spPr>
          <a:xfrm>
            <a:off x="1336379" y="5592476"/>
            <a:ext cx="2780150" cy="24622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sv-SE" sz="1000">
                <a:solidFill>
                  <a:srgbClr val="EAF4FF"/>
                </a:solidFill>
              </a:rPr>
              <a:t>Optimizer: Adam (learning_rate = 0.001)</a:t>
            </a:r>
          </a:p>
        </p:txBody>
      </p:sp>
      <p:sp>
        <p:nvSpPr>
          <p:cNvPr id="63" name="textruta 62">
            <a:extLst>
              <a:ext uri="{FF2B5EF4-FFF2-40B4-BE49-F238E27FC236}">
                <a16:creationId xmlns:a16="http://schemas.microsoft.com/office/drawing/2014/main" id="{306A5A25-6FBE-4655-75F7-0AC0FCC2FC12}"/>
              </a:ext>
            </a:extLst>
          </p:cNvPr>
          <p:cNvSpPr txBox="1"/>
          <p:nvPr/>
        </p:nvSpPr>
        <p:spPr>
          <a:xfrm>
            <a:off x="1336379" y="5867071"/>
            <a:ext cx="3027285" cy="24622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sv-SE" sz="1000">
                <a:solidFill>
                  <a:srgbClr val="EAF4FF"/>
                </a:solidFill>
              </a:rPr>
              <a:t>Loss: SparseCategoricalCrossentropy()</a:t>
            </a:r>
          </a:p>
        </p:txBody>
      </p:sp>
      <p:sp>
        <p:nvSpPr>
          <p:cNvPr id="64" name="textruta 63">
            <a:extLst>
              <a:ext uri="{FF2B5EF4-FFF2-40B4-BE49-F238E27FC236}">
                <a16:creationId xmlns:a16="http://schemas.microsoft.com/office/drawing/2014/main" id="{76E657DF-33BE-0A81-F5A9-BE73B9F605D8}"/>
              </a:ext>
            </a:extLst>
          </p:cNvPr>
          <p:cNvSpPr txBox="1"/>
          <p:nvPr/>
        </p:nvSpPr>
        <p:spPr>
          <a:xfrm>
            <a:off x="1336379" y="6127936"/>
            <a:ext cx="3027285" cy="24622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sv-SE" sz="1000">
                <a:solidFill>
                  <a:srgbClr val="EAF4FF"/>
                </a:solidFill>
              </a:rPr>
              <a:t>Epochs: 15</a:t>
            </a:r>
          </a:p>
        </p:txBody>
      </p:sp>
      <p:sp>
        <p:nvSpPr>
          <p:cNvPr id="65" name="textruta 64">
            <a:extLst>
              <a:ext uri="{FF2B5EF4-FFF2-40B4-BE49-F238E27FC236}">
                <a16:creationId xmlns:a16="http://schemas.microsoft.com/office/drawing/2014/main" id="{E93F89EB-4C6A-429B-A4FF-377B4F11CA0F}"/>
              </a:ext>
            </a:extLst>
          </p:cNvPr>
          <p:cNvSpPr txBox="1"/>
          <p:nvPr/>
        </p:nvSpPr>
        <p:spPr>
          <a:xfrm>
            <a:off x="1336379" y="6388800"/>
            <a:ext cx="3027285" cy="24622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sv-SE" sz="1000">
                <a:solidFill>
                  <a:srgbClr val="EAF4FF"/>
                </a:solidFill>
              </a:rPr>
              <a:t>Batch_size: 64</a:t>
            </a:r>
          </a:p>
        </p:txBody>
      </p:sp>
      <p:pic>
        <p:nvPicPr>
          <p:cNvPr id="67" name="Bildobjekt 66" descr="En bild som visar text, diagram, linje, Graf&#10;&#10;AI-genererat innehåll kan vara felaktigt.">
            <a:extLst>
              <a:ext uri="{FF2B5EF4-FFF2-40B4-BE49-F238E27FC236}">
                <a16:creationId xmlns:a16="http://schemas.microsoft.com/office/drawing/2014/main" id="{682ED939-C4E0-DDC0-9AA8-D1D96BC707EC}"/>
              </a:ext>
            </a:extLst>
          </p:cNvPr>
          <p:cNvPicPr>
            <a:picLocks noChangeAspect="1"/>
          </p:cNvPicPr>
          <p:nvPr/>
        </p:nvPicPr>
        <p:blipFill>
          <a:blip r:embed="rId7"/>
          <a:stretch>
            <a:fillRect/>
          </a:stretch>
        </p:blipFill>
        <p:spPr>
          <a:xfrm>
            <a:off x="5349188" y="1453808"/>
            <a:ext cx="6250975" cy="2611737"/>
          </a:xfrm>
          <a:prstGeom prst="rect">
            <a:avLst/>
          </a:prstGeom>
        </p:spPr>
      </p:pic>
      <p:sp>
        <p:nvSpPr>
          <p:cNvPr id="69" name="textruta 68">
            <a:extLst>
              <a:ext uri="{FF2B5EF4-FFF2-40B4-BE49-F238E27FC236}">
                <a16:creationId xmlns:a16="http://schemas.microsoft.com/office/drawing/2014/main" id="{5DD35302-A0E7-01A3-5F7D-17C857F18561}"/>
              </a:ext>
            </a:extLst>
          </p:cNvPr>
          <p:cNvSpPr txBox="1"/>
          <p:nvPr/>
        </p:nvSpPr>
        <p:spPr>
          <a:xfrm>
            <a:off x="5168286" y="4489023"/>
            <a:ext cx="2743200"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sv-SE" sz="1400">
                <a:solidFill>
                  <a:srgbClr val="EAF4FF"/>
                </a:solidFill>
              </a:rPr>
              <a:t>Tecken på overfitting</a:t>
            </a:r>
          </a:p>
        </p:txBody>
      </p:sp>
      <p:sp>
        <p:nvSpPr>
          <p:cNvPr id="70" name="Rektangel: rundade hörn 69">
            <a:extLst>
              <a:ext uri="{FF2B5EF4-FFF2-40B4-BE49-F238E27FC236}">
                <a16:creationId xmlns:a16="http://schemas.microsoft.com/office/drawing/2014/main" id="{FE3B41EA-81BA-3B3A-00DE-065BF4C9FDED}"/>
              </a:ext>
            </a:extLst>
          </p:cNvPr>
          <p:cNvSpPr/>
          <p:nvPr/>
        </p:nvSpPr>
        <p:spPr>
          <a:xfrm>
            <a:off x="4999592" y="4927122"/>
            <a:ext cx="2185831" cy="1019342"/>
          </a:xfrm>
          <a:prstGeom prst="roundRect">
            <a:avLst/>
          </a:prstGeom>
          <a:noFill/>
          <a:ln w="6350">
            <a:solidFill>
              <a:srgbClr val="008CFF"/>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sv-SE"/>
          </a:p>
        </p:txBody>
      </p:sp>
      <p:sp>
        <p:nvSpPr>
          <p:cNvPr id="74" name="textruta 73">
            <a:extLst>
              <a:ext uri="{FF2B5EF4-FFF2-40B4-BE49-F238E27FC236}">
                <a16:creationId xmlns:a16="http://schemas.microsoft.com/office/drawing/2014/main" id="{E2473EFF-50E4-B644-7F41-2F74E45782B8}"/>
              </a:ext>
            </a:extLst>
          </p:cNvPr>
          <p:cNvSpPr txBox="1"/>
          <p:nvPr/>
        </p:nvSpPr>
        <p:spPr>
          <a:xfrm>
            <a:off x="5444493" y="5337520"/>
            <a:ext cx="1411417" cy="55399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sv-SE" sz="1000">
                <a:solidFill>
                  <a:srgbClr val="EAF4FF"/>
                </a:solidFill>
                <a:ea typeface="+mn-lt"/>
                <a:cs typeface="+mn-lt"/>
              </a:rPr>
              <a:t>Training loss minskar stadigt genom flera epoker.</a:t>
            </a:r>
            <a:endParaRPr lang="sv-SE">
              <a:ea typeface="+mn-lt"/>
              <a:cs typeface="+mn-lt"/>
            </a:endParaRPr>
          </a:p>
        </p:txBody>
      </p:sp>
      <p:sp>
        <p:nvSpPr>
          <p:cNvPr id="75" name="textruta 74">
            <a:extLst>
              <a:ext uri="{FF2B5EF4-FFF2-40B4-BE49-F238E27FC236}">
                <a16:creationId xmlns:a16="http://schemas.microsoft.com/office/drawing/2014/main" id="{DB20986C-42D0-CEFC-8B2C-2A212E3A162F}"/>
              </a:ext>
            </a:extLst>
          </p:cNvPr>
          <p:cNvSpPr txBox="1"/>
          <p:nvPr/>
        </p:nvSpPr>
        <p:spPr>
          <a:xfrm>
            <a:off x="7771682" y="5303195"/>
            <a:ext cx="1411417" cy="55399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sv-SE" sz="1000">
                <a:solidFill>
                  <a:srgbClr val="EAF4FF"/>
                </a:solidFill>
                <a:ea typeface="+mn-lt"/>
                <a:cs typeface="+mn-lt"/>
              </a:rPr>
              <a:t>Validation loss planar ut och ökar något mot slutet.</a:t>
            </a:r>
            <a:endParaRPr lang="sv-SE">
              <a:ea typeface="+mn-lt"/>
              <a:cs typeface="+mn-lt"/>
            </a:endParaRPr>
          </a:p>
        </p:txBody>
      </p:sp>
      <p:sp>
        <p:nvSpPr>
          <p:cNvPr id="76" name="textruta 75">
            <a:extLst>
              <a:ext uri="{FF2B5EF4-FFF2-40B4-BE49-F238E27FC236}">
                <a16:creationId xmlns:a16="http://schemas.microsoft.com/office/drawing/2014/main" id="{C9F2B5F5-5BC7-F298-E3D8-287AB2B9EC6D}"/>
              </a:ext>
            </a:extLst>
          </p:cNvPr>
          <p:cNvSpPr txBox="1"/>
          <p:nvPr/>
        </p:nvSpPr>
        <p:spPr>
          <a:xfrm>
            <a:off x="10057682" y="5145304"/>
            <a:ext cx="1411417" cy="70788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sv-SE" sz="1000">
                <a:solidFill>
                  <a:srgbClr val="EAF4FF"/>
                </a:solidFill>
                <a:ea typeface="+mn-lt"/>
                <a:cs typeface="+mn-lt"/>
              </a:rPr>
              <a:t>Gapet mellan training och validation accuracy ökar över tid.</a:t>
            </a:r>
            <a:endParaRPr lang="sv-SE">
              <a:ea typeface="+mn-lt"/>
              <a:cs typeface="+mn-lt"/>
            </a:endParaRPr>
          </a:p>
        </p:txBody>
      </p:sp>
      <p:sp>
        <p:nvSpPr>
          <p:cNvPr id="77" name="Rektangel: rundade hörn 76">
            <a:extLst>
              <a:ext uri="{FF2B5EF4-FFF2-40B4-BE49-F238E27FC236}">
                <a16:creationId xmlns:a16="http://schemas.microsoft.com/office/drawing/2014/main" id="{5E201E9F-0B6E-52E2-AB67-B36573A3D59D}"/>
              </a:ext>
            </a:extLst>
          </p:cNvPr>
          <p:cNvSpPr/>
          <p:nvPr/>
        </p:nvSpPr>
        <p:spPr>
          <a:xfrm>
            <a:off x="4999591" y="6066688"/>
            <a:ext cx="6853939" cy="641777"/>
          </a:xfrm>
          <a:prstGeom prst="roundRect">
            <a:avLst/>
          </a:prstGeom>
          <a:noFill/>
          <a:ln w="6350">
            <a:solidFill>
              <a:srgbClr val="008CFF"/>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sv-SE"/>
          </a:p>
        </p:txBody>
      </p:sp>
      <p:sp>
        <p:nvSpPr>
          <p:cNvPr id="78" name="textruta 77">
            <a:extLst>
              <a:ext uri="{FF2B5EF4-FFF2-40B4-BE49-F238E27FC236}">
                <a16:creationId xmlns:a16="http://schemas.microsoft.com/office/drawing/2014/main" id="{9B3D6BB7-252A-B858-002C-32937DD0C352}"/>
              </a:ext>
            </a:extLst>
          </p:cNvPr>
          <p:cNvSpPr txBox="1"/>
          <p:nvPr/>
        </p:nvSpPr>
        <p:spPr>
          <a:xfrm>
            <a:off x="5742741" y="6266665"/>
            <a:ext cx="5475417" cy="24622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sv-SE" sz="1000">
                <a:solidFill>
                  <a:srgbClr val="EAF4FF"/>
                </a:solidFill>
                <a:ea typeface="+mn-lt"/>
                <a:cs typeface="+mn-lt"/>
              </a:rPr>
              <a:t>Därför behövs </a:t>
            </a:r>
            <a:r>
              <a:rPr lang="sv-SE" sz="1000">
                <a:solidFill>
                  <a:srgbClr val="008CFF"/>
                </a:solidFill>
                <a:ea typeface="+mn-lt"/>
                <a:cs typeface="+mn-lt"/>
              </a:rPr>
              <a:t>regularisering</a:t>
            </a:r>
            <a:r>
              <a:rPr lang="sv-SE" sz="1000">
                <a:solidFill>
                  <a:srgbClr val="EAF4FF"/>
                </a:solidFill>
                <a:ea typeface="+mn-lt"/>
                <a:cs typeface="+mn-lt"/>
              </a:rPr>
              <a:t> ➝ för att förbättra generaliseringen till ny data.</a:t>
            </a:r>
            <a:endParaRPr lang="sv-SE">
              <a:ea typeface="+mn-lt"/>
              <a:cs typeface="+mn-lt"/>
            </a:endParaRPr>
          </a:p>
        </p:txBody>
      </p:sp>
      <p:pic>
        <p:nvPicPr>
          <p:cNvPr id="79" name="Bild 78" descr="Glödlampa och kugghjul med hel fyllning">
            <a:extLst>
              <a:ext uri="{FF2B5EF4-FFF2-40B4-BE49-F238E27FC236}">
                <a16:creationId xmlns:a16="http://schemas.microsoft.com/office/drawing/2014/main" id="{07277AC2-3183-C11B-37FF-EBCE73A37766}"/>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5123934" y="6155231"/>
            <a:ext cx="447590" cy="413266"/>
          </a:xfrm>
          <a:prstGeom prst="rect">
            <a:avLst/>
          </a:prstGeom>
        </p:spPr>
      </p:pic>
      <p:sp>
        <p:nvSpPr>
          <p:cNvPr id="80" name="Rektangel: rundade hörn 79">
            <a:extLst>
              <a:ext uri="{FF2B5EF4-FFF2-40B4-BE49-F238E27FC236}">
                <a16:creationId xmlns:a16="http://schemas.microsoft.com/office/drawing/2014/main" id="{DCE2D3DC-06B9-939D-50A8-8F55BDC349C4}"/>
              </a:ext>
            </a:extLst>
          </p:cNvPr>
          <p:cNvSpPr/>
          <p:nvPr/>
        </p:nvSpPr>
        <p:spPr>
          <a:xfrm>
            <a:off x="7333646" y="4927122"/>
            <a:ext cx="2185831" cy="1019342"/>
          </a:xfrm>
          <a:prstGeom prst="roundRect">
            <a:avLst/>
          </a:prstGeom>
          <a:noFill/>
          <a:ln w="6350">
            <a:solidFill>
              <a:srgbClr val="008CFF"/>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sv-SE"/>
          </a:p>
        </p:txBody>
      </p:sp>
      <p:sp>
        <p:nvSpPr>
          <p:cNvPr id="81" name="Rektangel: rundade hörn 80">
            <a:extLst>
              <a:ext uri="{FF2B5EF4-FFF2-40B4-BE49-F238E27FC236}">
                <a16:creationId xmlns:a16="http://schemas.microsoft.com/office/drawing/2014/main" id="{847EC39C-DABB-6587-C0A1-60676A07CC76}"/>
              </a:ext>
            </a:extLst>
          </p:cNvPr>
          <p:cNvSpPr/>
          <p:nvPr/>
        </p:nvSpPr>
        <p:spPr>
          <a:xfrm>
            <a:off x="9667700" y="4927121"/>
            <a:ext cx="2185831" cy="1019342"/>
          </a:xfrm>
          <a:prstGeom prst="roundRect">
            <a:avLst/>
          </a:prstGeom>
          <a:noFill/>
          <a:ln w="6350">
            <a:solidFill>
              <a:srgbClr val="008CFF"/>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sv-SE"/>
          </a:p>
        </p:txBody>
      </p:sp>
      <p:pic>
        <p:nvPicPr>
          <p:cNvPr id="82" name="Bild 81" descr="Nedåtriktad trenddiagram kontur">
            <a:extLst>
              <a:ext uri="{FF2B5EF4-FFF2-40B4-BE49-F238E27FC236}">
                <a16:creationId xmlns:a16="http://schemas.microsoft.com/office/drawing/2014/main" id="{B46EAA46-F2D1-F230-8EF9-BA78D5CA089A}"/>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5831016" y="4921421"/>
            <a:ext cx="529967" cy="282834"/>
          </a:xfrm>
          <a:prstGeom prst="rect">
            <a:avLst/>
          </a:prstGeom>
        </p:spPr>
      </p:pic>
      <p:pic>
        <p:nvPicPr>
          <p:cNvPr id="83" name="Bild 82" descr="Uppåtgående trend kontur">
            <a:extLst>
              <a:ext uri="{FF2B5EF4-FFF2-40B4-BE49-F238E27FC236}">
                <a16:creationId xmlns:a16="http://schemas.microsoft.com/office/drawing/2014/main" id="{8DC755CA-C1F1-4C2E-01E5-50CE1FE1BAB8}"/>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10457934" y="4921421"/>
            <a:ext cx="495644" cy="282834"/>
          </a:xfrm>
          <a:prstGeom prst="rect">
            <a:avLst/>
          </a:prstGeom>
        </p:spPr>
      </p:pic>
      <p:pic>
        <p:nvPicPr>
          <p:cNvPr id="84" name="Bild 83" descr="Badge sluta följa kontur">
            <a:extLst>
              <a:ext uri="{FF2B5EF4-FFF2-40B4-BE49-F238E27FC236}">
                <a16:creationId xmlns:a16="http://schemas.microsoft.com/office/drawing/2014/main" id="{8E3CEC74-1823-A907-65F6-1A690B22D57F}"/>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8178799" y="4928286"/>
            <a:ext cx="488779" cy="282833"/>
          </a:xfrm>
          <a:prstGeom prst="rect">
            <a:avLst/>
          </a:prstGeom>
        </p:spPr>
      </p:pic>
    </p:spTree>
    <p:extLst>
      <p:ext uri="{BB962C8B-B14F-4D97-AF65-F5344CB8AC3E}">
        <p14:creationId xmlns:p14="http://schemas.microsoft.com/office/powerpoint/2010/main" val="355095749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D25FC889-9537-FF65-1A19-9B0BCCAC10A7}"/>
            </a:ext>
          </a:extLst>
        </p:cNvPr>
        <p:cNvGrpSpPr/>
        <p:nvPr/>
      </p:nvGrpSpPr>
      <p:grpSpPr>
        <a:xfrm>
          <a:off x="0" y="0"/>
          <a:ext cx="0" cy="0"/>
          <a:chOff x="0" y="0"/>
          <a:chExt cx="0" cy="0"/>
        </a:xfrm>
      </p:grpSpPr>
      <p:sp>
        <p:nvSpPr>
          <p:cNvPr id="4" name="Flödesschema: Sidbrytningskoppling 3">
            <a:extLst>
              <a:ext uri="{FF2B5EF4-FFF2-40B4-BE49-F238E27FC236}">
                <a16:creationId xmlns:a16="http://schemas.microsoft.com/office/drawing/2014/main" id="{BCA67BCB-BE48-C1D7-5652-8BB448063884}"/>
              </a:ext>
            </a:extLst>
          </p:cNvPr>
          <p:cNvSpPr/>
          <p:nvPr/>
        </p:nvSpPr>
        <p:spPr>
          <a:xfrm>
            <a:off x="206721" y="157832"/>
            <a:ext cx="494335" cy="695026"/>
          </a:xfrm>
          <a:prstGeom prst="flowChartOffpageConnector">
            <a:avLst/>
          </a:prstGeom>
          <a:solidFill>
            <a:srgbClr val="008CFF"/>
          </a:solidFill>
          <a:ln>
            <a:solidFill>
              <a:srgbClr val="4472C4"/>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sv-SE" sz="3600" b="1"/>
              <a:t>4</a:t>
            </a:r>
          </a:p>
        </p:txBody>
      </p:sp>
      <p:sp>
        <p:nvSpPr>
          <p:cNvPr id="6" name="textruta 5">
            <a:extLst>
              <a:ext uri="{FF2B5EF4-FFF2-40B4-BE49-F238E27FC236}">
                <a16:creationId xmlns:a16="http://schemas.microsoft.com/office/drawing/2014/main" id="{04AD17D4-180D-76E6-232B-32FE41042410}"/>
              </a:ext>
            </a:extLst>
          </p:cNvPr>
          <p:cNvSpPr txBox="1"/>
          <p:nvPr/>
        </p:nvSpPr>
        <p:spPr>
          <a:xfrm>
            <a:off x="947351" y="157891"/>
            <a:ext cx="5118440"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sv-SE" sz="2800" b="1">
                <a:solidFill>
                  <a:srgbClr val="FFFFFF"/>
                </a:solidFill>
                <a:latin typeface="Aptos"/>
              </a:rPr>
              <a:t>Varför används regularisering?</a:t>
            </a:r>
            <a:endParaRPr lang="sv-SE" b="1">
              <a:latin typeface="Aptos"/>
            </a:endParaRPr>
          </a:p>
        </p:txBody>
      </p:sp>
      <p:cxnSp>
        <p:nvCxnSpPr>
          <p:cNvPr id="32" name="Rak pilkoppling 31">
            <a:extLst>
              <a:ext uri="{FF2B5EF4-FFF2-40B4-BE49-F238E27FC236}">
                <a16:creationId xmlns:a16="http://schemas.microsoft.com/office/drawing/2014/main" id="{3A2FCE76-C3F7-5F10-489C-EE2ED57B0C9A}"/>
              </a:ext>
            </a:extLst>
          </p:cNvPr>
          <p:cNvCxnSpPr/>
          <p:nvPr/>
        </p:nvCxnSpPr>
        <p:spPr>
          <a:xfrm flipH="1">
            <a:off x="4703805" y="1098380"/>
            <a:ext cx="39816" cy="4401749"/>
          </a:xfrm>
          <a:prstGeom prst="straightConnector1">
            <a:avLst/>
          </a:prstGeom>
          <a:ln w="6350">
            <a:solidFill>
              <a:srgbClr val="008CFF"/>
            </a:solidFill>
          </a:ln>
        </p:spPr>
        <p:style>
          <a:lnRef idx="2">
            <a:schemeClr val="accent1"/>
          </a:lnRef>
          <a:fillRef idx="0">
            <a:schemeClr val="accent1"/>
          </a:fillRef>
          <a:effectRef idx="1">
            <a:schemeClr val="accent1"/>
          </a:effectRef>
          <a:fontRef idx="minor">
            <a:schemeClr val="tx1"/>
          </a:fontRef>
        </p:style>
      </p:cxnSp>
      <p:sp>
        <p:nvSpPr>
          <p:cNvPr id="2" name="textruta 1">
            <a:extLst>
              <a:ext uri="{FF2B5EF4-FFF2-40B4-BE49-F238E27FC236}">
                <a16:creationId xmlns:a16="http://schemas.microsoft.com/office/drawing/2014/main" id="{3D4E0605-9D35-DEF7-6B79-7B8F1D63711B}"/>
              </a:ext>
            </a:extLst>
          </p:cNvPr>
          <p:cNvSpPr txBox="1"/>
          <p:nvPr/>
        </p:nvSpPr>
        <p:spPr>
          <a:xfrm>
            <a:off x="989555" y="572947"/>
            <a:ext cx="8726556" cy="2769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sv-SE" sz="1200">
                <a:solidFill>
                  <a:srgbClr val="EAF4FF"/>
                </a:solidFill>
                <a:ea typeface="+mn-lt"/>
                <a:cs typeface="+mn-lt"/>
              </a:rPr>
              <a:t>Tekniker som hjälper modellen att generalisera bättre till ny data.</a:t>
            </a:r>
            <a:endParaRPr lang="sv-SE"/>
          </a:p>
        </p:txBody>
      </p:sp>
      <p:sp>
        <p:nvSpPr>
          <p:cNvPr id="5" name="Rektangel: rundade hörn 4">
            <a:extLst>
              <a:ext uri="{FF2B5EF4-FFF2-40B4-BE49-F238E27FC236}">
                <a16:creationId xmlns:a16="http://schemas.microsoft.com/office/drawing/2014/main" id="{FAA2CF44-2D27-A75D-CDC0-7DA9344888A9}"/>
              </a:ext>
            </a:extLst>
          </p:cNvPr>
          <p:cNvSpPr/>
          <p:nvPr/>
        </p:nvSpPr>
        <p:spPr>
          <a:xfrm>
            <a:off x="949322" y="1302473"/>
            <a:ext cx="3160642" cy="1067397"/>
          </a:xfrm>
          <a:prstGeom prst="roundRect">
            <a:avLst/>
          </a:prstGeom>
          <a:noFill/>
          <a:ln w="6350">
            <a:solidFill>
              <a:srgbClr val="008C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17" name="textruta 16">
            <a:extLst>
              <a:ext uri="{FF2B5EF4-FFF2-40B4-BE49-F238E27FC236}">
                <a16:creationId xmlns:a16="http://schemas.microsoft.com/office/drawing/2014/main" id="{41978805-28B0-2018-21B3-A6BE51A2D792}"/>
              </a:ext>
            </a:extLst>
          </p:cNvPr>
          <p:cNvSpPr txBox="1"/>
          <p:nvPr/>
        </p:nvSpPr>
        <p:spPr>
          <a:xfrm>
            <a:off x="1261463" y="1299190"/>
            <a:ext cx="2627811" cy="307777"/>
          </a:xfrm>
          <a:prstGeom prst="rect">
            <a:avLst/>
          </a:prstGeom>
          <a:noFill/>
          <a:ln w="12700">
            <a:no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sv-SE" sz="1400">
                <a:solidFill>
                  <a:srgbClr val="EAF4FF"/>
                </a:solidFill>
              </a:rPr>
              <a:t>Minskar risken för overfitting</a:t>
            </a:r>
          </a:p>
        </p:txBody>
      </p:sp>
      <p:sp>
        <p:nvSpPr>
          <p:cNvPr id="45" name="textruta 44">
            <a:extLst>
              <a:ext uri="{FF2B5EF4-FFF2-40B4-BE49-F238E27FC236}">
                <a16:creationId xmlns:a16="http://schemas.microsoft.com/office/drawing/2014/main" id="{20126802-7BA9-8C29-C98D-C1099A907C1F}"/>
              </a:ext>
            </a:extLst>
          </p:cNvPr>
          <p:cNvSpPr txBox="1"/>
          <p:nvPr/>
        </p:nvSpPr>
        <p:spPr>
          <a:xfrm>
            <a:off x="1263791" y="2841398"/>
            <a:ext cx="2743200"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sv-SE" sz="1400">
                <a:solidFill>
                  <a:srgbClr val="EAF4FF"/>
                </a:solidFill>
              </a:rPr>
              <a:t>Förbättrar generalisering</a:t>
            </a:r>
          </a:p>
        </p:txBody>
      </p:sp>
      <p:sp>
        <p:nvSpPr>
          <p:cNvPr id="46" name="textruta 45">
            <a:extLst>
              <a:ext uri="{FF2B5EF4-FFF2-40B4-BE49-F238E27FC236}">
                <a16:creationId xmlns:a16="http://schemas.microsoft.com/office/drawing/2014/main" id="{9E0A6529-D1C5-DBE5-A4CF-5F7E28DD13D0}"/>
              </a:ext>
            </a:extLst>
          </p:cNvPr>
          <p:cNvSpPr txBox="1"/>
          <p:nvPr/>
        </p:nvSpPr>
        <p:spPr>
          <a:xfrm>
            <a:off x="1263790" y="4287197"/>
            <a:ext cx="2743200"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sv-SE" sz="1400">
                <a:solidFill>
                  <a:srgbClr val="EAF4FF"/>
                </a:solidFill>
              </a:rPr>
              <a:t>Hjälper modellen hitta balans</a:t>
            </a:r>
          </a:p>
        </p:txBody>
      </p:sp>
      <p:sp>
        <p:nvSpPr>
          <p:cNvPr id="49" name="textruta 48">
            <a:extLst>
              <a:ext uri="{FF2B5EF4-FFF2-40B4-BE49-F238E27FC236}">
                <a16:creationId xmlns:a16="http://schemas.microsoft.com/office/drawing/2014/main" id="{467AE3E3-39DD-6247-F16A-F06BF1136DC1}"/>
              </a:ext>
            </a:extLst>
          </p:cNvPr>
          <p:cNvSpPr txBox="1"/>
          <p:nvPr/>
        </p:nvSpPr>
        <p:spPr>
          <a:xfrm>
            <a:off x="1260864" y="3247439"/>
            <a:ext cx="2530866" cy="55399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sv-SE" sz="1000">
                <a:solidFill>
                  <a:srgbClr val="EAF4FF"/>
                </a:solidFill>
              </a:rPr>
              <a:t>Modellen fungerar bättre på validerings- och testdata, som den inte har sett tidigare.</a:t>
            </a:r>
          </a:p>
        </p:txBody>
      </p:sp>
      <p:sp>
        <p:nvSpPr>
          <p:cNvPr id="77" name="Rektangel: rundade hörn 76">
            <a:extLst>
              <a:ext uri="{FF2B5EF4-FFF2-40B4-BE49-F238E27FC236}">
                <a16:creationId xmlns:a16="http://schemas.microsoft.com/office/drawing/2014/main" id="{05E6508B-9425-871E-F4D5-45B4E70101F6}"/>
              </a:ext>
            </a:extLst>
          </p:cNvPr>
          <p:cNvSpPr/>
          <p:nvPr/>
        </p:nvSpPr>
        <p:spPr>
          <a:xfrm>
            <a:off x="406997" y="5737174"/>
            <a:ext cx="11480857" cy="641777"/>
          </a:xfrm>
          <a:prstGeom prst="roundRect">
            <a:avLst/>
          </a:prstGeom>
          <a:noFill/>
          <a:ln w="6350">
            <a:solidFill>
              <a:srgbClr val="008CFF"/>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sv-SE"/>
          </a:p>
        </p:txBody>
      </p:sp>
      <p:sp>
        <p:nvSpPr>
          <p:cNvPr id="78" name="textruta 77">
            <a:extLst>
              <a:ext uri="{FF2B5EF4-FFF2-40B4-BE49-F238E27FC236}">
                <a16:creationId xmlns:a16="http://schemas.microsoft.com/office/drawing/2014/main" id="{932065DE-0EDE-B3EB-09E4-FA60305B0FE9}"/>
              </a:ext>
            </a:extLst>
          </p:cNvPr>
          <p:cNvSpPr txBox="1"/>
          <p:nvPr/>
        </p:nvSpPr>
        <p:spPr>
          <a:xfrm>
            <a:off x="3343844" y="5852385"/>
            <a:ext cx="5475417"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sv-SE" sz="1000">
                <a:solidFill>
                  <a:srgbClr val="EAF4FF"/>
                </a:solidFill>
                <a:ea typeface="+mn-lt"/>
                <a:cs typeface="+mn-lt"/>
              </a:rPr>
              <a:t>Regularisering handlar om att hitta </a:t>
            </a:r>
            <a:r>
              <a:rPr lang="sv-SE" sz="1000">
                <a:solidFill>
                  <a:srgbClr val="008CFF"/>
                </a:solidFill>
                <a:ea typeface="+mn-lt"/>
                <a:cs typeface="+mn-lt"/>
              </a:rPr>
              <a:t>rätt balans</a:t>
            </a:r>
            <a:r>
              <a:rPr lang="sv-SE" sz="1000">
                <a:solidFill>
                  <a:srgbClr val="EAF4FF"/>
                </a:solidFill>
                <a:ea typeface="+mn-lt"/>
                <a:cs typeface="+mn-lt"/>
              </a:rPr>
              <a:t> – inte memorera träningsdatan, men inte heller begrränsa modellen för mycket </a:t>
            </a:r>
          </a:p>
        </p:txBody>
      </p:sp>
      <p:pic>
        <p:nvPicPr>
          <p:cNvPr id="79" name="Bild 78" descr="Glödlampa och kugghjul med hel fyllning">
            <a:extLst>
              <a:ext uri="{FF2B5EF4-FFF2-40B4-BE49-F238E27FC236}">
                <a16:creationId xmlns:a16="http://schemas.microsoft.com/office/drawing/2014/main" id="{5F621EA0-4710-FE20-FB50-DAE33DDDD56F}"/>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702961" y="5848177"/>
            <a:ext cx="447590" cy="413266"/>
          </a:xfrm>
          <a:prstGeom prst="rect">
            <a:avLst/>
          </a:prstGeom>
        </p:spPr>
      </p:pic>
      <p:sp>
        <p:nvSpPr>
          <p:cNvPr id="7" name="textruta 6">
            <a:extLst>
              <a:ext uri="{FF2B5EF4-FFF2-40B4-BE49-F238E27FC236}">
                <a16:creationId xmlns:a16="http://schemas.microsoft.com/office/drawing/2014/main" id="{A4D6EACB-7942-D3E5-149C-C51AC55AC02A}"/>
              </a:ext>
            </a:extLst>
          </p:cNvPr>
          <p:cNvSpPr txBox="1"/>
          <p:nvPr/>
        </p:nvSpPr>
        <p:spPr>
          <a:xfrm>
            <a:off x="1316382" y="1711082"/>
            <a:ext cx="2325757" cy="553998"/>
          </a:xfrm>
          <a:prstGeom prst="rect">
            <a:avLst/>
          </a:prstGeom>
          <a:noFill/>
          <a:ln w="12700">
            <a:no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sv-SE" sz="1000">
                <a:solidFill>
                  <a:srgbClr val="EAF4FF"/>
                </a:solidFill>
              </a:rPr>
              <a:t>Modellen undviker att memorera träningsdatan och lär sig istället generella mönster.</a:t>
            </a:r>
          </a:p>
        </p:txBody>
      </p:sp>
      <p:sp>
        <p:nvSpPr>
          <p:cNvPr id="8" name="textruta 7">
            <a:extLst>
              <a:ext uri="{FF2B5EF4-FFF2-40B4-BE49-F238E27FC236}">
                <a16:creationId xmlns:a16="http://schemas.microsoft.com/office/drawing/2014/main" id="{A1FF6490-BAA0-CF38-5FE8-5EA3C8DE164C}"/>
              </a:ext>
            </a:extLst>
          </p:cNvPr>
          <p:cNvSpPr txBox="1"/>
          <p:nvPr/>
        </p:nvSpPr>
        <p:spPr>
          <a:xfrm>
            <a:off x="1316382" y="4745351"/>
            <a:ext cx="2428729" cy="553998"/>
          </a:xfrm>
          <a:prstGeom prst="rect">
            <a:avLst/>
          </a:prstGeom>
          <a:noFill/>
          <a:ln w="12700">
            <a:no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sv-SE" sz="1000">
                <a:solidFill>
                  <a:srgbClr val="EAF4FF"/>
                </a:solidFill>
              </a:rPr>
              <a:t>För lite regularisering ➝ overfitting</a:t>
            </a:r>
          </a:p>
          <a:p>
            <a:r>
              <a:rPr lang="sv-SE" sz="1000">
                <a:solidFill>
                  <a:srgbClr val="EAF4FF"/>
                </a:solidFill>
              </a:rPr>
              <a:t>För mycket regularisering ➝ underfitting</a:t>
            </a:r>
          </a:p>
          <a:p>
            <a:r>
              <a:rPr lang="sv-SE" sz="1000">
                <a:solidFill>
                  <a:srgbClr val="EAF4FF"/>
                </a:solidFill>
              </a:rPr>
              <a:t>Målet är en modell som balanserar båda</a:t>
            </a:r>
          </a:p>
        </p:txBody>
      </p:sp>
      <p:sp>
        <p:nvSpPr>
          <p:cNvPr id="9" name="Rektangel: rundade hörn 8">
            <a:extLst>
              <a:ext uri="{FF2B5EF4-FFF2-40B4-BE49-F238E27FC236}">
                <a16:creationId xmlns:a16="http://schemas.microsoft.com/office/drawing/2014/main" id="{44C666A5-C62D-B443-F178-C3B912B29D28}"/>
              </a:ext>
            </a:extLst>
          </p:cNvPr>
          <p:cNvSpPr/>
          <p:nvPr/>
        </p:nvSpPr>
        <p:spPr>
          <a:xfrm>
            <a:off x="990511" y="2792149"/>
            <a:ext cx="3160642" cy="1067397"/>
          </a:xfrm>
          <a:prstGeom prst="roundRect">
            <a:avLst/>
          </a:prstGeom>
          <a:noFill/>
          <a:ln w="6350">
            <a:solidFill>
              <a:srgbClr val="008C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10" name="Rektangel: rundade hörn 9">
            <a:extLst>
              <a:ext uri="{FF2B5EF4-FFF2-40B4-BE49-F238E27FC236}">
                <a16:creationId xmlns:a16="http://schemas.microsoft.com/office/drawing/2014/main" id="{CED0AB2E-9F2B-8FB8-6421-5060D7EC9D49}"/>
              </a:ext>
            </a:extLst>
          </p:cNvPr>
          <p:cNvSpPr/>
          <p:nvPr/>
        </p:nvSpPr>
        <p:spPr>
          <a:xfrm>
            <a:off x="990511" y="4274959"/>
            <a:ext cx="3160642" cy="1067397"/>
          </a:xfrm>
          <a:prstGeom prst="roundRect">
            <a:avLst/>
          </a:prstGeom>
          <a:noFill/>
          <a:ln w="6350">
            <a:solidFill>
              <a:srgbClr val="008C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11" name="textruta 10">
            <a:extLst>
              <a:ext uri="{FF2B5EF4-FFF2-40B4-BE49-F238E27FC236}">
                <a16:creationId xmlns:a16="http://schemas.microsoft.com/office/drawing/2014/main" id="{70342572-A0B0-CF1C-3422-3C4E86B38FC3}"/>
              </a:ext>
            </a:extLst>
          </p:cNvPr>
          <p:cNvSpPr txBox="1"/>
          <p:nvPr/>
        </p:nvSpPr>
        <p:spPr>
          <a:xfrm>
            <a:off x="1407952" y="5900440"/>
            <a:ext cx="972065"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sv-SE" sz="1400">
                <a:solidFill>
                  <a:srgbClr val="EAF4FF"/>
                </a:solidFill>
              </a:rPr>
              <a:t>Slutsats</a:t>
            </a:r>
          </a:p>
        </p:txBody>
      </p:sp>
      <p:sp>
        <p:nvSpPr>
          <p:cNvPr id="12" name="textruta 45">
            <a:extLst>
              <a:ext uri="{FF2B5EF4-FFF2-40B4-BE49-F238E27FC236}">
                <a16:creationId xmlns:a16="http://schemas.microsoft.com/office/drawing/2014/main" id="{9E0A6529-D1C5-DBE5-A4CF-5F7E28DD13D0}"/>
              </a:ext>
            </a:extLst>
          </p:cNvPr>
          <p:cNvSpPr txBox="1"/>
          <p:nvPr/>
        </p:nvSpPr>
        <p:spPr>
          <a:xfrm>
            <a:off x="1263790" y="4287197"/>
            <a:ext cx="2743200" cy="307777"/>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a:defRPr lang="sv-S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sv-SE" sz="1400">
                <a:solidFill>
                  <a:srgbClr val="EAF4FF"/>
                </a:solidFill>
              </a:rPr>
              <a:t>Hjälper modellen hitta balans</a:t>
            </a:r>
          </a:p>
        </p:txBody>
      </p:sp>
      <p:sp>
        <p:nvSpPr>
          <p:cNvPr id="13" name="textruta 45">
            <a:extLst>
              <a:ext uri="{FF2B5EF4-FFF2-40B4-BE49-F238E27FC236}">
                <a16:creationId xmlns:a16="http://schemas.microsoft.com/office/drawing/2014/main" id="{353E9A19-9E4E-C924-8ECF-54C6440C991A}"/>
              </a:ext>
            </a:extLst>
          </p:cNvPr>
          <p:cNvSpPr txBox="1"/>
          <p:nvPr/>
        </p:nvSpPr>
        <p:spPr>
          <a:xfrm>
            <a:off x="1263790" y="4287197"/>
            <a:ext cx="2743200" cy="307777"/>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a:defRPr lang="sv-S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sv-SE" sz="1400">
                <a:solidFill>
                  <a:srgbClr val="EAF4FF"/>
                </a:solidFill>
              </a:rPr>
              <a:t>Hjälper modellen hitta balans</a:t>
            </a:r>
          </a:p>
        </p:txBody>
      </p:sp>
      <p:sp>
        <p:nvSpPr>
          <p:cNvPr id="14" name="textruta 45">
            <a:extLst>
              <a:ext uri="{FF2B5EF4-FFF2-40B4-BE49-F238E27FC236}">
                <a16:creationId xmlns:a16="http://schemas.microsoft.com/office/drawing/2014/main" id="{CCC1E04D-B6F1-1BA8-2C6A-49E42CA74333}"/>
              </a:ext>
            </a:extLst>
          </p:cNvPr>
          <p:cNvSpPr txBox="1"/>
          <p:nvPr/>
        </p:nvSpPr>
        <p:spPr>
          <a:xfrm>
            <a:off x="1263790" y="4287197"/>
            <a:ext cx="2743200" cy="307777"/>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a:defRPr lang="sv-S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sv-SE" sz="1400">
                <a:solidFill>
                  <a:srgbClr val="EAF4FF"/>
                </a:solidFill>
              </a:rPr>
              <a:t>Hjälper modellen hitta balans</a:t>
            </a:r>
          </a:p>
        </p:txBody>
      </p:sp>
      <p:cxnSp>
        <p:nvCxnSpPr>
          <p:cNvPr id="15" name="Rak pilkoppling 14">
            <a:extLst>
              <a:ext uri="{FF2B5EF4-FFF2-40B4-BE49-F238E27FC236}">
                <a16:creationId xmlns:a16="http://schemas.microsoft.com/office/drawing/2014/main" id="{A33994F0-B043-4E52-67BE-A7E2F9542BB8}"/>
              </a:ext>
            </a:extLst>
          </p:cNvPr>
          <p:cNvCxnSpPr/>
          <p:nvPr/>
        </p:nvCxnSpPr>
        <p:spPr>
          <a:xfrm flipH="1">
            <a:off x="2610019" y="5800809"/>
            <a:ext cx="5492" cy="461319"/>
          </a:xfrm>
          <a:prstGeom prst="straightConnector1">
            <a:avLst/>
          </a:prstGeom>
        </p:spPr>
        <p:style>
          <a:lnRef idx="2">
            <a:schemeClr val="accent1"/>
          </a:lnRef>
          <a:fillRef idx="0">
            <a:schemeClr val="accent1"/>
          </a:fillRef>
          <a:effectRef idx="1">
            <a:schemeClr val="accent1"/>
          </a:effectRef>
          <a:fontRef idx="minor">
            <a:schemeClr val="tx1"/>
          </a:fontRef>
        </p:style>
      </p:cxnSp>
      <p:pic>
        <p:nvPicPr>
          <p:cNvPr id="16" name="Bild 15" descr="Våg med ojämna vikter med hel fyllning">
            <a:extLst>
              <a:ext uri="{FF2B5EF4-FFF2-40B4-BE49-F238E27FC236}">
                <a16:creationId xmlns:a16="http://schemas.microsoft.com/office/drawing/2014/main" id="{F9233BB9-36A0-660C-4FE8-916D91858CE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604421" y="5731476"/>
            <a:ext cx="886941" cy="639806"/>
          </a:xfrm>
          <a:prstGeom prst="rect">
            <a:avLst/>
          </a:prstGeom>
        </p:spPr>
      </p:pic>
      <p:pic>
        <p:nvPicPr>
          <p:cNvPr id="29" name="Bildobjekt 28" descr="En bild som visar text, skärmbild, Graf, diagram&#10;&#10;AI-genererat innehåll kan vara felaktigt.">
            <a:extLst>
              <a:ext uri="{FF2B5EF4-FFF2-40B4-BE49-F238E27FC236}">
                <a16:creationId xmlns:a16="http://schemas.microsoft.com/office/drawing/2014/main" id="{52A825DE-2B6A-1727-BD0D-99FFFD9F92B3}"/>
              </a:ext>
            </a:extLst>
          </p:cNvPr>
          <p:cNvPicPr>
            <a:picLocks noChangeAspect="1"/>
          </p:cNvPicPr>
          <p:nvPr/>
        </p:nvPicPr>
        <p:blipFill>
          <a:blip r:embed="rId4"/>
          <a:stretch>
            <a:fillRect/>
          </a:stretch>
        </p:blipFill>
        <p:spPr>
          <a:xfrm>
            <a:off x="5265866" y="1370141"/>
            <a:ext cx="6623564" cy="3568529"/>
          </a:xfrm>
          <a:prstGeom prst="rect">
            <a:avLst/>
          </a:prstGeom>
        </p:spPr>
      </p:pic>
      <p:sp>
        <p:nvSpPr>
          <p:cNvPr id="35" name="textruta 34">
            <a:extLst>
              <a:ext uri="{FF2B5EF4-FFF2-40B4-BE49-F238E27FC236}">
                <a16:creationId xmlns:a16="http://schemas.microsoft.com/office/drawing/2014/main" id="{3AE3E36E-692B-9A1C-9822-B025E91BECFE}"/>
              </a:ext>
            </a:extLst>
          </p:cNvPr>
          <p:cNvSpPr txBox="1"/>
          <p:nvPr/>
        </p:nvSpPr>
        <p:spPr>
          <a:xfrm>
            <a:off x="6389516" y="5143514"/>
            <a:ext cx="4556838" cy="307777"/>
          </a:xfrm>
          <a:prstGeom prst="rect">
            <a:avLst/>
          </a:prstGeom>
          <a:noFill/>
          <a:ln w="12700">
            <a:no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sv-SE" sz="1400">
                <a:solidFill>
                  <a:srgbClr val="EAF4FF"/>
                </a:solidFill>
              </a:rPr>
              <a:t>Modellen blir bättre på träningsdatan än på ny data</a:t>
            </a:r>
          </a:p>
        </p:txBody>
      </p:sp>
      <p:sp>
        <p:nvSpPr>
          <p:cNvPr id="37" name="textruta 36">
            <a:extLst>
              <a:ext uri="{FF2B5EF4-FFF2-40B4-BE49-F238E27FC236}">
                <a16:creationId xmlns:a16="http://schemas.microsoft.com/office/drawing/2014/main" id="{640A530C-45BD-CA15-BC98-1C8536D6FFD5}"/>
              </a:ext>
            </a:extLst>
          </p:cNvPr>
          <p:cNvSpPr txBox="1"/>
          <p:nvPr/>
        </p:nvSpPr>
        <p:spPr>
          <a:xfrm>
            <a:off x="6842598" y="852974"/>
            <a:ext cx="4556838" cy="369332"/>
          </a:xfrm>
          <a:prstGeom prst="rect">
            <a:avLst/>
          </a:prstGeom>
          <a:noFill/>
          <a:ln w="12700">
            <a:no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sv-SE" b="1">
                <a:solidFill>
                  <a:srgbClr val="EAF4FF"/>
                </a:solidFill>
              </a:rPr>
              <a:t>Overfitting i baseline-modellen</a:t>
            </a:r>
          </a:p>
        </p:txBody>
      </p:sp>
    </p:spTree>
    <p:extLst>
      <p:ext uri="{BB962C8B-B14F-4D97-AF65-F5344CB8AC3E}">
        <p14:creationId xmlns:p14="http://schemas.microsoft.com/office/powerpoint/2010/main" val="223389622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8311C6B5-7069-C053-0619-3E866C6B95F6}"/>
            </a:ext>
          </a:extLst>
        </p:cNvPr>
        <p:cNvGrpSpPr/>
        <p:nvPr/>
      </p:nvGrpSpPr>
      <p:grpSpPr>
        <a:xfrm>
          <a:off x="0" y="0"/>
          <a:ext cx="0" cy="0"/>
          <a:chOff x="0" y="0"/>
          <a:chExt cx="0" cy="0"/>
        </a:xfrm>
      </p:grpSpPr>
      <p:sp>
        <p:nvSpPr>
          <p:cNvPr id="4" name="Flödesschema: Sidbrytningskoppling 3">
            <a:extLst>
              <a:ext uri="{FF2B5EF4-FFF2-40B4-BE49-F238E27FC236}">
                <a16:creationId xmlns:a16="http://schemas.microsoft.com/office/drawing/2014/main" id="{9B837A56-E41F-3736-0EF5-ECE871EC580A}"/>
              </a:ext>
            </a:extLst>
          </p:cNvPr>
          <p:cNvSpPr/>
          <p:nvPr/>
        </p:nvSpPr>
        <p:spPr>
          <a:xfrm>
            <a:off x="206721" y="157832"/>
            <a:ext cx="494335" cy="695026"/>
          </a:xfrm>
          <a:prstGeom prst="flowChartOffpageConnector">
            <a:avLst/>
          </a:prstGeom>
          <a:solidFill>
            <a:srgbClr val="008CFF"/>
          </a:solidFill>
          <a:ln>
            <a:solidFill>
              <a:srgbClr val="4472C4"/>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sv-SE" sz="3600" b="1"/>
              <a:t>5</a:t>
            </a:r>
          </a:p>
        </p:txBody>
      </p:sp>
      <p:sp>
        <p:nvSpPr>
          <p:cNvPr id="6" name="textruta 5">
            <a:extLst>
              <a:ext uri="{FF2B5EF4-FFF2-40B4-BE49-F238E27FC236}">
                <a16:creationId xmlns:a16="http://schemas.microsoft.com/office/drawing/2014/main" id="{05143797-BC63-2E3B-C6D0-A75539EBCCF3}"/>
              </a:ext>
            </a:extLst>
          </p:cNvPr>
          <p:cNvSpPr txBox="1"/>
          <p:nvPr/>
        </p:nvSpPr>
        <p:spPr>
          <a:xfrm>
            <a:off x="947351" y="157891"/>
            <a:ext cx="5118440"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sv-SE" sz="2800" b="1">
                <a:solidFill>
                  <a:srgbClr val="FFFFFF"/>
                </a:solidFill>
                <a:latin typeface="Aptos"/>
              </a:rPr>
              <a:t>Dropout 0.2</a:t>
            </a:r>
            <a:endParaRPr lang="sv-SE" b="1">
              <a:latin typeface="Aptos"/>
            </a:endParaRPr>
          </a:p>
        </p:txBody>
      </p:sp>
      <p:cxnSp>
        <p:nvCxnSpPr>
          <p:cNvPr id="32" name="Rak pilkoppling 31">
            <a:extLst>
              <a:ext uri="{FF2B5EF4-FFF2-40B4-BE49-F238E27FC236}">
                <a16:creationId xmlns:a16="http://schemas.microsoft.com/office/drawing/2014/main" id="{FA703678-F480-1DC7-216A-2CF18F6A19E4}"/>
              </a:ext>
            </a:extLst>
          </p:cNvPr>
          <p:cNvCxnSpPr/>
          <p:nvPr/>
        </p:nvCxnSpPr>
        <p:spPr>
          <a:xfrm flipH="1">
            <a:off x="4703805" y="1098380"/>
            <a:ext cx="39816" cy="4401749"/>
          </a:xfrm>
          <a:prstGeom prst="straightConnector1">
            <a:avLst/>
          </a:prstGeom>
          <a:ln w="6350">
            <a:solidFill>
              <a:srgbClr val="008CFF"/>
            </a:solidFill>
          </a:ln>
        </p:spPr>
        <p:style>
          <a:lnRef idx="2">
            <a:schemeClr val="accent1"/>
          </a:lnRef>
          <a:fillRef idx="0">
            <a:schemeClr val="accent1"/>
          </a:fillRef>
          <a:effectRef idx="1">
            <a:schemeClr val="accent1"/>
          </a:effectRef>
          <a:fontRef idx="minor">
            <a:schemeClr val="tx1"/>
          </a:fontRef>
        </p:style>
      </p:cxnSp>
      <p:sp>
        <p:nvSpPr>
          <p:cNvPr id="5" name="Rektangel: rundade hörn 4">
            <a:extLst>
              <a:ext uri="{FF2B5EF4-FFF2-40B4-BE49-F238E27FC236}">
                <a16:creationId xmlns:a16="http://schemas.microsoft.com/office/drawing/2014/main" id="{634DF403-6A53-A4B9-A5A5-1575590DDE2B}"/>
              </a:ext>
            </a:extLst>
          </p:cNvPr>
          <p:cNvSpPr/>
          <p:nvPr/>
        </p:nvSpPr>
        <p:spPr>
          <a:xfrm>
            <a:off x="949322" y="1302473"/>
            <a:ext cx="3201831" cy="2467829"/>
          </a:xfrm>
          <a:prstGeom prst="roundRect">
            <a:avLst/>
          </a:prstGeom>
          <a:noFill/>
          <a:ln w="6350">
            <a:solidFill>
              <a:srgbClr val="008C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17" name="textruta 16">
            <a:extLst>
              <a:ext uri="{FF2B5EF4-FFF2-40B4-BE49-F238E27FC236}">
                <a16:creationId xmlns:a16="http://schemas.microsoft.com/office/drawing/2014/main" id="{65BD2B37-F3B6-AD8E-6AC0-C3CBC6E308F1}"/>
              </a:ext>
            </a:extLst>
          </p:cNvPr>
          <p:cNvSpPr txBox="1"/>
          <p:nvPr/>
        </p:nvSpPr>
        <p:spPr>
          <a:xfrm>
            <a:off x="1261463" y="1299190"/>
            <a:ext cx="2627811" cy="338554"/>
          </a:xfrm>
          <a:prstGeom prst="rect">
            <a:avLst/>
          </a:prstGeom>
          <a:noFill/>
          <a:ln w="12700">
            <a:no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sv-SE" sz="1600" b="1">
                <a:solidFill>
                  <a:srgbClr val="EAF4FF"/>
                </a:solidFill>
              </a:rPr>
              <a:t>Vad är Dropout?</a:t>
            </a:r>
          </a:p>
        </p:txBody>
      </p:sp>
      <p:sp>
        <p:nvSpPr>
          <p:cNvPr id="7" name="textruta 6">
            <a:extLst>
              <a:ext uri="{FF2B5EF4-FFF2-40B4-BE49-F238E27FC236}">
                <a16:creationId xmlns:a16="http://schemas.microsoft.com/office/drawing/2014/main" id="{7FB0B4FC-6678-9487-7AAA-458A46945AB0}"/>
              </a:ext>
            </a:extLst>
          </p:cNvPr>
          <p:cNvSpPr txBox="1"/>
          <p:nvPr/>
        </p:nvSpPr>
        <p:spPr>
          <a:xfrm>
            <a:off x="1316382" y="1711082"/>
            <a:ext cx="2325757" cy="400110"/>
          </a:xfrm>
          <a:prstGeom prst="rect">
            <a:avLst/>
          </a:prstGeom>
          <a:noFill/>
          <a:ln w="12700">
            <a:no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sv-SE" sz="1000">
                <a:solidFill>
                  <a:srgbClr val="EAF4FF"/>
                </a:solidFill>
              </a:rPr>
              <a:t>Stänger slumpmässigt 20 % av neuronerna vid varje träningssteg.</a:t>
            </a:r>
          </a:p>
        </p:txBody>
      </p:sp>
      <p:sp>
        <p:nvSpPr>
          <p:cNvPr id="10" name="Rektangel: rundade hörn 9">
            <a:extLst>
              <a:ext uri="{FF2B5EF4-FFF2-40B4-BE49-F238E27FC236}">
                <a16:creationId xmlns:a16="http://schemas.microsoft.com/office/drawing/2014/main" id="{797B4C6D-5A4A-2E51-2DD3-7F0ABC14316F}"/>
              </a:ext>
            </a:extLst>
          </p:cNvPr>
          <p:cNvSpPr/>
          <p:nvPr/>
        </p:nvSpPr>
        <p:spPr>
          <a:xfrm>
            <a:off x="949098" y="3985068"/>
            <a:ext cx="3202055" cy="2715635"/>
          </a:xfrm>
          <a:prstGeom prst="roundRect">
            <a:avLst/>
          </a:prstGeom>
          <a:noFill/>
          <a:ln w="6350">
            <a:solidFill>
              <a:srgbClr val="008C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37" name="textruta 36">
            <a:extLst>
              <a:ext uri="{FF2B5EF4-FFF2-40B4-BE49-F238E27FC236}">
                <a16:creationId xmlns:a16="http://schemas.microsoft.com/office/drawing/2014/main" id="{D9343FF6-2406-C637-B680-F309DD9DB07A}"/>
              </a:ext>
            </a:extLst>
          </p:cNvPr>
          <p:cNvSpPr txBox="1"/>
          <p:nvPr/>
        </p:nvSpPr>
        <p:spPr>
          <a:xfrm>
            <a:off x="6842598" y="852974"/>
            <a:ext cx="4556838" cy="369332"/>
          </a:xfrm>
          <a:prstGeom prst="rect">
            <a:avLst/>
          </a:prstGeom>
          <a:noFill/>
          <a:ln w="12700">
            <a:no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sv-SE" b="1">
                <a:solidFill>
                  <a:srgbClr val="EAF4FF"/>
                </a:solidFill>
              </a:rPr>
              <a:t>       Resultat - Dropout 0.2</a:t>
            </a:r>
          </a:p>
        </p:txBody>
      </p:sp>
      <p:pic>
        <p:nvPicPr>
          <p:cNvPr id="18" name="Bild 17" descr="Märke bockmarkering med hel fyllning">
            <a:extLst>
              <a:ext uri="{FF2B5EF4-FFF2-40B4-BE49-F238E27FC236}">
                <a16:creationId xmlns:a16="http://schemas.microsoft.com/office/drawing/2014/main" id="{5B3DD5CB-4A5C-5DB6-C02C-8EDBC2C736CD}"/>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991509" y="1775894"/>
            <a:ext cx="275969" cy="262239"/>
          </a:xfrm>
          <a:prstGeom prst="rect">
            <a:avLst/>
          </a:prstGeom>
        </p:spPr>
      </p:pic>
      <p:pic>
        <p:nvPicPr>
          <p:cNvPr id="19" name="Bild 18" descr="Märke bockmarkering med hel fyllning">
            <a:extLst>
              <a:ext uri="{FF2B5EF4-FFF2-40B4-BE49-F238E27FC236}">
                <a16:creationId xmlns:a16="http://schemas.microsoft.com/office/drawing/2014/main" id="{6A0ACB29-1923-AA3E-8F47-B633917242B9}"/>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991509" y="2205321"/>
            <a:ext cx="275969" cy="262239"/>
          </a:xfrm>
          <a:prstGeom prst="rect">
            <a:avLst/>
          </a:prstGeom>
        </p:spPr>
      </p:pic>
      <p:pic>
        <p:nvPicPr>
          <p:cNvPr id="20" name="Bild 19" descr="Märke bockmarkering med hel fyllning">
            <a:extLst>
              <a:ext uri="{FF2B5EF4-FFF2-40B4-BE49-F238E27FC236}">
                <a16:creationId xmlns:a16="http://schemas.microsoft.com/office/drawing/2014/main" id="{9482BC37-C9A2-339A-4B1C-9EE0526BA909}"/>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991509" y="2610348"/>
            <a:ext cx="275969" cy="262239"/>
          </a:xfrm>
          <a:prstGeom prst="rect">
            <a:avLst/>
          </a:prstGeom>
        </p:spPr>
      </p:pic>
      <p:pic>
        <p:nvPicPr>
          <p:cNvPr id="21" name="Bild 20" descr="Märke bockmarkering med hel fyllning">
            <a:extLst>
              <a:ext uri="{FF2B5EF4-FFF2-40B4-BE49-F238E27FC236}">
                <a16:creationId xmlns:a16="http://schemas.microsoft.com/office/drawing/2014/main" id="{7EB79BEB-AF73-ACB3-3E2E-A033FF5E5E5B}"/>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966661" y="3023882"/>
            <a:ext cx="317382" cy="270522"/>
          </a:xfrm>
          <a:prstGeom prst="rect">
            <a:avLst/>
          </a:prstGeom>
        </p:spPr>
      </p:pic>
      <p:sp>
        <p:nvSpPr>
          <p:cNvPr id="22" name="textruta 21">
            <a:extLst>
              <a:ext uri="{FF2B5EF4-FFF2-40B4-BE49-F238E27FC236}">
                <a16:creationId xmlns:a16="http://schemas.microsoft.com/office/drawing/2014/main" id="{4AF7C952-DFF7-FAAC-09C9-3554EFC952AA}"/>
              </a:ext>
            </a:extLst>
          </p:cNvPr>
          <p:cNvSpPr txBox="1"/>
          <p:nvPr/>
        </p:nvSpPr>
        <p:spPr>
          <a:xfrm>
            <a:off x="1316382" y="2132226"/>
            <a:ext cx="2325757" cy="400110"/>
          </a:xfrm>
          <a:prstGeom prst="rect">
            <a:avLst/>
          </a:prstGeom>
          <a:noFill/>
          <a:ln w="12700">
            <a:no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sv-SE" sz="1000">
                <a:solidFill>
                  <a:srgbClr val="EAF4FF"/>
                </a:solidFill>
              </a:rPr>
              <a:t>Minskar beroendet av specifika neuroner.</a:t>
            </a:r>
          </a:p>
        </p:txBody>
      </p:sp>
      <p:sp>
        <p:nvSpPr>
          <p:cNvPr id="23" name="textruta 22">
            <a:extLst>
              <a:ext uri="{FF2B5EF4-FFF2-40B4-BE49-F238E27FC236}">
                <a16:creationId xmlns:a16="http://schemas.microsoft.com/office/drawing/2014/main" id="{2306C2E6-01FC-B8DF-B12E-C4F35269CAA6}"/>
              </a:ext>
            </a:extLst>
          </p:cNvPr>
          <p:cNvSpPr txBox="1"/>
          <p:nvPr/>
        </p:nvSpPr>
        <p:spPr>
          <a:xfrm>
            <a:off x="1316382" y="2537253"/>
            <a:ext cx="2325757" cy="400110"/>
          </a:xfrm>
          <a:prstGeom prst="rect">
            <a:avLst/>
          </a:prstGeom>
          <a:noFill/>
          <a:ln w="12700">
            <a:no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sv-SE" sz="1000">
                <a:solidFill>
                  <a:srgbClr val="EAF4FF"/>
                </a:solidFill>
              </a:rPr>
              <a:t>Modellen tvingas hitta fler sätt att känna igen mönster.</a:t>
            </a:r>
          </a:p>
        </p:txBody>
      </p:sp>
      <p:sp>
        <p:nvSpPr>
          <p:cNvPr id="24" name="textruta 23">
            <a:extLst>
              <a:ext uri="{FF2B5EF4-FFF2-40B4-BE49-F238E27FC236}">
                <a16:creationId xmlns:a16="http://schemas.microsoft.com/office/drawing/2014/main" id="{20D957FB-242B-0017-FEAD-96203C9EFC23}"/>
              </a:ext>
            </a:extLst>
          </p:cNvPr>
          <p:cNvSpPr txBox="1"/>
          <p:nvPr/>
        </p:nvSpPr>
        <p:spPr>
          <a:xfrm>
            <a:off x="1316381" y="2964293"/>
            <a:ext cx="2325757" cy="400110"/>
          </a:xfrm>
          <a:prstGeom prst="rect">
            <a:avLst/>
          </a:prstGeom>
          <a:noFill/>
          <a:ln w="12700">
            <a:no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sv-SE" sz="1000">
                <a:solidFill>
                  <a:srgbClr val="EAF4FF"/>
                </a:solidFill>
              </a:rPr>
              <a:t>Hjälper till att minska overfitting och förbättra generalisering.</a:t>
            </a:r>
          </a:p>
        </p:txBody>
      </p:sp>
      <p:sp>
        <p:nvSpPr>
          <p:cNvPr id="25" name="textruta 24">
            <a:extLst>
              <a:ext uri="{FF2B5EF4-FFF2-40B4-BE49-F238E27FC236}">
                <a16:creationId xmlns:a16="http://schemas.microsoft.com/office/drawing/2014/main" id="{2E54A114-DDB9-F549-03E6-41284E3E1B14}"/>
              </a:ext>
            </a:extLst>
          </p:cNvPr>
          <p:cNvSpPr txBox="1"/>
          <p:nvPr/>
        </p:nvSpPr>
        <p:spPr>
          <a:xfrm>
            <a:off x="1422116" y="4271676"/>
            <a:ext cx="2627811" cy="338554"/>
          </a:xfrm>
          <a:prstGeom prst="rect">
            <a:avLst/>
          </a:prstGeom>
          <a:noFill/>
          <a:ln w="12700">
            <a:no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sv-SE" sz="1600" b="1">
                <a:solidFill>
                  <a:srgbClr val="EAF4FF"/>
                </a:solidFill>
              </a:rPr>
              <a:t>Så fungerar Dropout</a:t>
            </a:r>
          </a:p>
        </p:txBody>
      </p:sp>
      <p:pic>
        <p:nvPicPr>
          <p:cNvPr id="27" name="Bildobjekt 26" descr="En bild som visar cirkel, diagram, skärmbild, Electric blue">
            <a:extLst>
              <a:ext uri="{FF2B5EF4-FFF2-40B4-BE49-F238E27FC236}">
                <a16:creationId xmlns:a16="http://schemas.microsoft.com/office/drawing/2014/main" id="{F162EB18-2D25-961F-F210-0A3B6282133B}"/>
              </a:ext>
            </a:extLst>
          </p:cNvPr>
          <p:cNvPicPr>
            <a:picLocks noChangeAspect="1"/>
          </p:cNvPicPr>
          <p:nvPr/>
        </p:nvPicPr>
        <p:blipFill>
          <a:blip r:embed="rId3"/>
          <a:stretch>
            <a:fillRect/>
          </a:stretch>
        </p:blipFill>
        <p:spPr>
          <a:xfrm>
            <a:off x="1124157" y="4614242"/>
            <a:ext cx="2845489" cy="1865242"/>
          </a:xfrm>
          <a:prstGeom prst="rect">
            <a:avLst/>
          </a:prstGeom>
        </p:spPr>
      </p:pic>
      <p:pic>
        <p:nvPicPr>
          <p:cNvPr id="30" name="Bildobjekt 29" descr="En bild som visar text, diagram, skärmbild, linje">
            <a:extLst>
              <a:ext uri="{FF2B5EF4-FFF2-40B4-BE49-F238E27FC236}">
                <a16:creationId xmlns:a16="http://schemas.microsoft.com/office/drawing/2014/main" id="{D85FDA6A-1B7F-47A0-800C-2711CAB7B432}"/>
              </a:ext>
            </a:extLst>
          </p:cNvPr>
          <p:cNvPicPr>
            <a:picLocks noChangeAspect="1"/>
          </p:cNvPicPr>
          <p:nvPr/>
        </p:nvPicPr>
        <p:blipFill>
          <a:blip r:embed="rId4"/>
          <a:stretch>
            <a:fillRect/>
          </a:stretch>
        </p:blipFill>
        <p:spPr>
          <a:xfrm>
            <a:off x="5041002" y="1349031"/>
            <a:ext cx="6797952" cy="3754093"/>
          </a:xfrm>
          <a:prstGeom prst="rect">
            <a:avLst/>
          </a:prstGeom>
        </p:spPr>
      </p:pic>
      <p:sp>
        <p:nvSpPr>
          <p:cNvPr id="31" name="Rektangel: rundade hörn 30">
            <a:extLst>
              <a:ext uri="{FF2B5EF4-FFF2-40B4-BE49-F238E27FC236}">
                <a16:creationId xmlns:a16="http://schemas.microsoft.com/office/drawing/2014/main" id="{C6F32442-6CA8-96C6-578B-31721BAA1886}"/>
              </a:ext>
            </a:extLst>
          </p:cNvPr>
          <p:cNvSpPr/>
          <p:nvPr/>
        </p:nvSpPr>
        <p:spPr>
          <a:xfrm>
            <a:off x="5040930" y="855211"/>
            <a:ext cx="6796483" cy="372331"/>
          </a:xfrm>
          <a:prstGeom prst="roundRect">
            <a:avLst/>
          </a:prstGeom>
          <a:noFill/>
          <a:ln w="6350">
            <a:solidFill>
              <a:srgbClr val="008C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33" name="Rektangel: rundade hörn 32">
            <a:extLst>
              <a:ext uri="{FF2B5EF4-FFF2-40B4-BE49-F238E27FC236}">
                <a16:creationId xmlns:a16="http://schemas.microsoft.com/office/drawing/2014/main" id="{93D224E8-2998-AEF0-A5E3-16F871744D69}"/>
              </a:ext>
            </a:extLst>
          </p:cNvPr>
          <p:cNvSpPr/>
          <p:nvPr/>
        </p:nvSpPr>
        <p:spPr>
          <a:xfrm>
            <a:off x="4850430" y="5675689"/>
            <a:ext cx="6986983" cy="1026655"/>
          </a:xfrm>
          <a:prstGeom prst="roundRect">
            <a:avLst/>
          </a:prstGeom>
          <a:noFill/>
          <a:ln w="6350">
            <a:solidFill>
              <a:srgbClr val="008C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34" name="textruta 33">
            <a:extLst>
              <a:ext uri="{FF2B5EF4-FFF2-40B4-BE49-F238E27FC236}">
                <a16:creationId xmlns:a16="http://schemas.microsoft.com/office/drawing/2014/main" id="{791ACF44-372A-C9D9-6996-B833E0A5EF65}"/>
              </a:ext>
            </a:extLst>
          </p:cNvPr>
          <p:cNvSpPr txBox="1"/>
          <p:nvPr/>
        </p:nvSpPr>
        <p:spPr>
          <a:xfrm>
            <a:off x="6976463" y="5771798"/>
            <a:ext cx="4847549" cy="830997"/>
          </a:xfrm>
          <a:prstGeom prst="rect">
            <a:avLst/>
          </a:prstGeom>
          <a:noFill/>
          <a:ln w="12700">
            <a:no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sv-SE" sz="1600">
                <a:solidFill>
                  <a:srgbClr val="EAF4FF"/>
                </a:solidFill>
              </a:rPr>
              <a:t>Training och validation ligger närmare varandra än i baseline-modellen. Detta visar </a:t>
            </a:r>
            <a:r>
              <a:rPr lang="sv-SE" sz="1600">
                <a:solidFill>
                  <a:srgbClr val="008CFF"/>
                </a:solidFill>
              </a:rPr>
              <a:t>bättre generalisering</a:t>
            </a:r>
            <a:r>
              <a:rPr lang="sv-SE" sz="1600">
                <a:solidFill>
                  <a:srgbClr val="EAF4FF"/>
                </a:solidFill>
              </a:rPr>
              <a:t> och </a:t>
            </a:r>
            <a:r>
              <a:rPr lang="sv-SE" sz="1600">
                <a:solidFill>
                  <a:srgbClr val="008CFF"/>
                </a:solidFill>
              </a:rPr>
              <a:t>mindre overfitting</a:t>
            </a:r>
            <a:r>
              <a:rPr lang="sv-SE" sz="1600">
                <a:solidFill>
                  <a:srgbClr val="EAF4FF"/>
                </a:solidFill>
              </a:rPr>
              <a:t>.</a:t>
            </a:r>
          </a:p>
        </p:txBody>
      </p:sp>
      <p:cxnSp>
        <p:nvCxnSpPr>
          <p:cNvPr id="36" name="Rak pilkoppling 35">
            <a:extLst>
              <a:ext uri="{FF2B5EF4-FFF2-40B4-BE49-F238E27FC236}">
                <a16:creationId xmlns:a16="http://schemas.microsoft.com/office/drawing/2014/main" id="{D662B255-A0BC-6250-3CC2-DFB598ECF91C}"/>
              </a:ext>
            </a:extLst>
          </p:cNvPr>
          <p:cNvCxnSpPr/>
          <p:nvPr/>
        </p:nvCxnSpPr>
        <p:spPr>
          <a:xfrm flipH="1">
            <a:off x="6700630" y="5938629"/>
            <a:ext cx="8282" cy="505239"/>
          </a:xfrm>
          <a:prstGeom prst="straightConnector1">
            <a:avLst/>
          </a:prstGeom>
        </p:spPr>
        <p:style>
          <a:lnRef idx="2">
            <a:schemeClr val="accent1"/>
          </a:lnRef>
          <a:fillRef idx="0">
            <a:schemeClr val="accent1"/>
          </a:fillRef>
          <a:effectRef idx="1">
            <a:schemeClr val="accent1"/>
          </a:effectRef>
          <a:fontRef idx="minor">
            <a:schemeClr val="tx1"/>
          </a:fontRef>
        </p:style>
      </p:cxnSp>
      <p:pic>
        <p:nvPicPr>
          <p:cNvPr id="38" name="Bild 37" descr="Märke nytt med hel fyllning">
            <a:extLst>
              <a:ext uri="{FF2B5EF4-FFF2-40B4-BE49-F238E27FC236}">
                <a16:creationId xmlns:a16="http://schemas.microsoft.com/office/drawing/2014/main" id="{C07F9121-5D6C-1A76-EF1B-1FCA7291F925}"/>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4909930" y="5837582"/>
            <a:ext cx="541684" cy="641074"/>
          </a:xfrm>
          <a:prstGeom prst="rect">
            <a:avLst/>
          </a:prstGeom>
        </p:spPr>
      </p:pic>
      <p:sp>
        <p:nvSpPr>
          <p:cNvPr id="40" name="textruta 39">
            <a:extLst>
              <a:ext uri="{FF2B5EF4-FFF2-40B4-BE49-F238E27FC236}">
                <a16:creationId xmlns:a16="http://schemas.microsoft.com/office/drawing/2014/main" id="{C17FD995-070E-24B0-1EE3-20F880F6307B}"/>
              </a:ext>
            </a:extLst>
          </p:cNvPr>
          <p:cNvSpPr txBox="1"/>
          <p:nvPr/>
        </p:nvSpPr>
        <p:spPr>
          <a:xfrm>
            <a:off x="5444180" y="5987146"/>
            <a:ext cx="1087246" cy="338554"/>
          </a:xfrm>
          <a:prstGeom prst="rect">
            <a:avLst/>
          </a:prstGeom>
          <a:noFill/>
          <a:ln w="12700">
            <a:no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sv-SE" sz="1600" b="1">
                <a:solidFill>
                  <a:srgbClr val="008CFF"/>
                </a:solidFill>
              </a:rPr>
              <a:t>Slutsats</a:t>
            </a:r>
          </a:p>
        </p:txBody>
      </p:sp>
    </p:spTree>
    <p:extLst>
      <p:ext uri="{BB962C8B-B14F-4D97-AF65-F5344CB8AC3E}">
        <p14:creationId xmlns:p14="http://schemas.microsoft.com/office/powerpoint/2010/main" val="26271884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8C16B1E1-704B-799D-DDBD-3483B8E4BED2}"/>
            </a:ext>
          </a:extLst>
        </p:cNvPr>
        <p:cNvGrpSpPr/>
        <p:nvPr/>
      </p:nvGrpSpPr>
      <p:grpSpPr>
        <a:xfrm>
          <a:off x="0" y="0"/>
          <a:ext cx="0" cy="0"/>
          <a:chOff x="0" y="0"/>
          <a:chExt cx="0" cy="0"/>
        </a:xfrm>
      </p:grpSpPr>
      <p:sp>
        <p:nvSpPr>
          <p:cNvPr id="4" name="Flödesschema: Sidbrytningskoppling 3">
            <a:extLst>
              <a:ext uri="{FF2B5EF4-FFF2-40B4-BE49-F238E27FC236}">
                <a16:creationId xmlns:a16="http://schemas.microsoft.com/office/drawing/2014/main" id="{CB844415-3AB7-25F1-CADA-80106044F6D0}"/>
              </a:ext>
            </a:extLst>
          </p:cNvPr>
          <p:cNvSpPr/>
          <p:nvPr/>
        </p:nvSpPr>
        <p:spPr>
          <a:xfrm>
            <a:off x="206721" y="157832"/>
            <a:ext cx="494335" cy="695026"/>
          </a:xfrm>
          <a:prstGeom prst="flowChartOffpageConnector">
            <a:avLst/>
          </a:prstGeom>
          <a:solidFill>
            <a:srgbClr val="008CFF"/>
          </a:solidFill>
          <a:ln>
            <a:solidFill>
              <a:srgbClr val="4472C4"/>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sv-SE" sz="3600" b="1"/>
              <a:t>6</a:t>
            </a:r>
          </a:p>
        </p:txBody>
      </p:sp>
      <p:sp>
        <p:nvSpPr>
          <p:cNvPr id="6" name="textruta 5">
            <a:extLst>
              <a:ext uri="{FF2B5EF4-FFF2-40B4-BE49-F238E27FC236}">
                <a16:creationId xmlns:a16="http://schemas.microsoft.com/office/drawing/2014/main" id="{BD78FECD-31E3-0D79-168E-99F988B14271}"/>
              </a:ext>
            </a:extLst>
          </p:cNvPr>
          <p:cNvSpPr txBox="1"/>
          <p:nvPr/>
        </p:nvSpPr>
        <p:spPr>
          <a:xfrm>
            <a:off x="947351" y="157891"/>
            <a:ext cx="5118440"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sv-SE" sz="2800" b="1">
                <a:solidFill>
                  <a:srgbClr val="FFFFFF"/>
                </a:solidFill>
                <a:latin typeface="Aptos"/>
              </a:rPr>
              <a:t>Dropout 0.5</a:t>
            </a:r>
            <a:endParaRPr lang="sv-SE" b="1">
              <a:latin typeface="Aptos"/>
            </a:endParaRPr>
          </a:p>
        </p:txBody>
      </p:sp>
      <p:cxnSp>
        <p:nvCxnSpPr>
          <p:cNvPr id="32" name="Rak pilkoppling 31">
            <a:extLst>
              <a:ext uri="{FF2B5EF4-FFF2-40B4-BE49-F238E27FC236}">
                <a16:creationId xmlns:a16="http://schemas.microsoft.com/office/drawing/2014/main" id="{B7111AFA-DE1A-5BE7-38CF-E5A9B4611B63}"/>
              </a:ext>
            </a:extLst>
          </p:cNvPr>
          <p:cNvCxnSpPr/>
          <p:nvPr/>
        </p:nvCxnSpPr>
        <p:spPr>
          <a:xfrm flipH="1">
            <a:off x="4703805" y="1098380"/>
            <a:ext cx="39816" cy="4401749"/>
          </a:xfrm>
          <a:prstGeom prst="straightConnector1">
            <a:avLst/>
          </a:prstGeom>
          <a:ln w="6350">
            <a:solidFill>
              <a:srgbClr val="008CFF"/>
            </a:solidFill>
          </a:ln>
        </p:spPr>
        <p:style>
          <a:lnRef idx="2">
            <a:schemeClr val="accent1"/>
          </a:lnRef>
          <a:fillRef idx="0">
            <a:schemeClr val="accent1"/>
          </a:fillRef>
          <a:effectRef idx="1">
            <a:schemeClr val="accent1"/>
          </a:effectRef>
          <a:fontRef idx="minor">
            <a:schemeClr val="tx1"/>
          </a:fontRef>
        </p:style>
      </p:cxnSp>
      <p:sp>
        <p:nvSpPr>
          <p:cNvPr id="5" name="Rektangel: rundade hörn 4">
            <a:extLst>
              <a:ext uri="{FF2B5EF4-FFF2-40B4-BE49-F238E27FC236}">
                <a16:creationId xmlns:a16="http://schemas.microsoft.com/office/drawing/2014/main" id="{FF62D4B8-86A5-69FD-ACDF-8E8C1ABDAF99}"/>
              </a:ext>
            </a:extLst>
          </p:cNvPr>
          <p:cNvSpPr/>
          <p:nvPr/>
        </p:nvSpPr>
        <p:spPr>
          <a:xfrm>
            <a:off x="949322" y="954604"/>
            <a:ext cx="3201831" cy="2815698"/>
          </a:xfrm>
          <a:prstGeom prst="roundRect">
            <a:avLst/>
          </a:prstGeom>
          <a:noFill/>
          <a:ln w="6350">
            <a:solidFill>
              <a:srgbClr val="008C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7" name="textruta 6">
            <a:extLst>
              <a:ext uri="{FF2B5EF4-FFF2-40B4-BE49-F238E27FC236}">
                <a16:creationId xmlns:a16="http://schemas.microsoft.com/office/drawing/2014/main" id="{F70DFBCE-74D0-37AA-7147-82A0FA2F8DCF}"/>
              </a:ext>
            </a:extLst>
          </p:cNvPr>
          <p:cNvSpPr txBox="1"/>
          <p:nvPr/>
        </p:nvSpPr>
        <p:spPr>
          <a:xfrm>
            <a:off x="1382642" y="1222408"/>
            <a:ext cx="2325757" cy="400110"/>
          </a:xfrm>
          <a:prstGeom prst="rect">
            <a:avLst/>
          </a:prstGeom>
          <a:noFill/>
          <a:ln w="12700">
            <a:no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sv-SE" sz="1000">
                <a:solidFill>
                  <a:srgbClr val="EAF4FF"/>
                </a:solidFill>
              </a:rPr>
              <a:t>Stänger slumpmässigt</a:t>
            </a:r>
            <a:r>
              <a:rPr lang="sv-SE" sz="1000">
                <a:solidFill>
                  <a:srgbClr val="008CFF"/>
                </a:solidFill>
              </a:rPr>
              <a:t> 50 %</a:t>
            </a:r>
            <a:r>
              <a:rPr lang="sv-SE" sz="1000">
                <a:solidFill>
                  <a:srgbClr val="EAF4FF"/>
                </a:solidFill>
              </a:rPr>
              <a:t> av neuronerna vid varje träningssteg.</a:t>
            </a:r>
          </a:p>
        </p:txBody>
      </p:sp>
      <p:sp>
        <p:nvSpPr>
          <p:cNvPr id="10" name="Rektangel: rundade hörn 9">
            <a:extLst>
              <a:ext uri="{FF2B5EF4-FFF2-40B4-BE49-F238E27FC236}">
                <a16:creationId xmlns:a16="http://schemas.microsoft.com/office/drawing/2014/main" id="{C0BA053C-8A47-9ADF-FB16-6C9BED5864A0}"/>
              </a:ext>
            </a:extLst>
          </p:cNvPr>
          <p:cNvSpPr/>
          <p:nvPr/>
        </p:nvSpPr>
        <p:spPr>
          <a:xfrm>
            <a:off x="949098" y="3985068"/>
            <a:ext cx="3202055" cy="2715635"/>
          </a:xfrm>
          <a:prstGeom prst="roundRect">
            <a:avLst/>
          </a:prstGeom>
          <a:noFill/>
          <a:ln w="6350">
            <a:solidFill>
              <a:srgbClr val="008C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37" name="textruta 36">
            <a:extLst>
              <a:ext uri="{FF2B5EF4-FFF2-40B4-BE49-F238E27FC236}">
                <a16:creationId xmlns:a16="http://schemas.microsoft.com/office/drawing/2014/main" id="{40AAD811-FD7F-D17A-CCC9-E90C0D97E48C}"/>
              </a:ext>
            </a:extLst>
          </p:cNvPr>
          <p:cNvSpPr txBox="1"/>
          <p:nvPr/>
        </p:nvSpPr>
        <p:spPr>
          <a:xfrm>
            <a:off x="6842598" y="852974"/>
            <a:ext cx="4556838" cy="369332"/>
          </a:xfrm>
          <a:prstGeom prst="rect">
            <a:avLst/>
          </a:prstGeom>
          <a:noFill/>
          <a:ln w="12700">
            <a:no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sv-SE" b="1">
                <a:solidFill>
                  <a:srgbClr val="EAF4FF"/>
                </a:solidFill>
              </a:rPr>
              <a:t>       Resultat - Dropout 0.5</a:t>
            </a:r>
          </a:p>
        </p:txBody>
      </p:sp>
      <p:pic>
        <p:nvPicPr>
          <p:cNvPr id="18" name="Bild 17" descr="Märke bockmarkering med hel fyllning">
            <a:extLst>
              <a:ext uri="{FF2B5EF4-FFF2-40B4-BE49-F238E27FC236}">
                <a16:creationId xmlns:a16="http://schemas.microsoft.com/office/drawing/2014/main" id="{6DB1BF68-13EA-16BE-E61A-2F57A14BF43B}"/>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041205" y="1212677"/>
            <a:ext cx="275969" cy="262239"/>
          </a:xfrm>
          <a:prstGeom prst="rect">
            <a:avLst/>
          </a:prstGeom>
        </p:spPr>
      </p:pic>
      <p:pic>
        <p:nvPicPr>
          <p:cNvPr id="19" name="Bild 18" descr="Märke bockmarkering med hel fyllning">
            <a:extLst>
              <a:ext uri="{FF2B5EF4-FFF2-40B4-BE49-F238E27FC236}">
                <a16:creationId xmlns:a16="http://schemas.microsoft.com/office/drawing/2014/main" id="{A3A36447-A9A1-610D-1BAF-EC9A14BE0456}"/>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041205" y="1716647"/>
            <a:ext cx="275969" cy="262239"/>
          </a:xfrm>
          <a:prstGeom prst="rect">
            <a:avLst/>
          </a:prstGeom>
        </p:spPr>
      </p:pic>
      <p:pic>
        <p:nvPicPr>
          <p:cNvPr id="20" name="Bild 19" descr="Märke bockmarkering med hel fyllning">
            <a:extLst>
              <a:ext uri="{FF2B5EF4-FFF2-40B4-BE49-F238E27FC236}">
                <a16:creationId xmlns:a16="http://schemas.microsoft.com/office/drawing/2014/main" id="{5D508E91-1419-05EF-6A91-CB3EF9779ECC}"/>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041205" y="2361870"/>
            <a:ext cx="275969" cy="262239"/>
          </a:xfrm>
          <a:prstGeom prst="rect">
            <a:avLst/>
          </a:prstGeom>
        </p:spPr>
      </p:pic>
      <p:pic>
        <p:nvPicPr>
          <p:cNvPr id="21" name="Bild 20" descr="Märke bockmarkering med hel fyllning">
            <a:extLst>
              <a:ext uri="{FF2B5EF4-FFF2-40B4-BE49-F238E27FC236}">
                <a16:creationId xmlns:a16="http://schemas.microsoft.com/office/drawing/2014/main" id="{6FBEE3B9-2879-2E6D-F22D-D29A194B5CAA}"/>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041205" y="3222665"/>
            <a:ext cx="317382" cy="270522"/>
          </a:xfrm>
          <a:prstGeom prst="rect">
            <a:avLst/>
          </a:prstGeom>
        </p:spPr>
      </p:pic>
      <p:sp>
        <p:nvSpPr>
          <p:cNvPr id="22" name="textruta 21">
            <a:extLst>
              <a:ext uri="{FF2B5EF4-FFF2-40B4-BE49-F238E27FC236}">
                <a16:creationId xmlns:a16="http://schemas.microsoft.com/office/drawing/2014/main" id="{1984575A-F00C-ABB4-8A6D-EDF340BA9BF5}"/>
              </a:ext>
            </a:extLst>
          </p:cNvPr>
          <p:cNvSpPr txBox="1"/>
          <p:nvPr/>
        </p:nvSpPr>
        <p:spPr>
          <a:xfrm>
            <a:off x="1382642" y="1701530"/>
            <a:ext cx="2325757" cy="553998"/>
          </a:xfrm>
          <a:prstGeom prst="rect">
            <a:avLst/>
          </a:prstGeom>
          <a:noFill/>
          <a:ln w="12700">
            <a:no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sv-SE" sz="1000">
                <a:solidFill>
                  <a:srgbClr val="008CFF"/>
                </a:solidFill>
              </a:rPr>
              <a:t>Starkare regularisering</a:t>
            </a:r>
            <a:r>
              <a:rPr lang="sv-SE" sz="1000">
                <a:solidFill>
                  <a:srgbClr val="EAF4FF"/>
                </a:solidFill>
              </a:rPr>
              <a:t> än Dropout 0.2.</a:t>
            </a:r>
          </a:p>
          <a:p>
            <a:r>
              <a:rPr lang="sv-SE" sz="1000">
                <a:solidFill>
                  <a:srgbClr val="EAF4FF"/>
                </a:solidFill>
              </a:rPr>
              <a:t>Det gör modellen mindre beroende av specifika neuroner.</a:t>
            </a:r>
          </a:p>
        </p:txBody>
      </p:sp>
      <p:sp>
        <p:nvSpPr>
          <p:cNvPr id="23" name="textruta 22">
            <a:extLst>
              <a:ext uri="{FF2B5EF4-FFF2-40B4-BE49-F238E27FC236}">
                <a16:creationId xmlns:a16="http://schemas.microsoft.com/office/drawing/2014/main" id="{92C431E2-D127-BA49-5C82-6C4C5DA2698B}"/>
              </a:ext>
            </a:extLst>
          </p:cNvPr>
          <p:cNvSpPr txBox="1"/>
          <p:nvPr/>
        </p:nvSpPr>
        <p:spPr>
          <a:xfrm>
            <a:off x="1382643" y="2363318"/>
            <a:ext cx="2325757" cy="707886"/>
          </a:xfrm>
          <a:prstGeom prst="rect">
            <a:avLst/>
          </a:prstGeom>
          <a:noFill/>
          <a:ln w="12700">
            <a:no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sv-SE" sz="1000">
                <a:solidFill>
                  <a:srgbClr val="EAF4FF"/>
                </a:solidFill>
              </a:rPr>
              <a:t>Träningskurvorna blir </a:t>
            </a:r>
            <a:r>
              <a:rPr lang="sv-SE" sz="1000">
                <a:solidFill>
                  <a:srgbClr val="008CFF"/>
                </a:solidFill>
              </a:rPr>
              <a:t>stabilare</a:t>
            </a:r>
            <a:r>
              <a:rPr lang="sv-SE" sz="1000">
                <a:solidFill>
                  <a:srgbClr val="EAF4FF"/>
                </a:solidFill>
              </a:rPr>
              <a:t> och skillnaden mellan training och validation minskar jämfört med baseline </a:t>
            </a:r>
          </a:p>
        </p:txBody>
      </p:sp>
      <p:sp>
        <p:nvSpPr>
          <p:cNvPr id="24" name="textruta 23">
            <a:extLst>
              <a:ext uri="{FF2B5EF4-FFF2-40B4-BE49-F238E27FC236}">
                <a16:creationId xmlns:a16="http://schemas.microsoft.com/office/drawing/2014/main" id="{316E4E21-2BAD-5E5C-0EA4-E65F35DDF67C}"/>
              </a:ext>
            </a:extLst>
          </p:cNvPr>
          <p:cNvSpPr txBox="1"/>
          <p:nvPr/>
        </p:nvSpPr>
        <p:spPr>
          <a:xfrm>
            <a:off x="1382642" y="3163076"/>
            <a:ext cx="2325757" cy="553998"/>
          </a:xfrm>
          <a:prstGeom prst="rect">
            <a:avLst/>
          </a:prstGeom>
          <a:noFill/>
          <a:ln w="12700">
            <a:no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sv-SE" sz="1000">
                <a:solidFill>
                  <a:srgbClr val="EAF4FF"/>
                </a:solidFill>
              </a:rPr>
              <a:t>Modellen blir dock </a:t>
            </a:r>
            <a:r>
              <a:rPr lang="sv-SE" sz="1000">
                <a:solidFill>
                  <a:srgbClr val="008CFF"/>
                </a:solidFill>
              </a:rPr>
              <a:t>mindre flexibel</a:t>
            </a:r>
            <a:r>
              <a:rPr lang="sv-SE" sz="1000">
                <a:solidFill>
                  <a:srgbClr val="EAF4FF"/>
                </a:solidFill>
              </a:rPr>
              <a:t> och kan få svårare att lära sig viktiga mönster i datan</a:t>
            </a:r>
          </a:p>
        </p:txBody>
      </p:sp>
      <p:sp>
        <p:nvSpPr>
          <p:cNvPr id="25" name="textruta 24">
            <a:extLst>
              <a:ext uri="{FF2B5EF4-FFF2-40B4-BE49-F238E27FC236}">
                <a16:creationId xmlns:a16="http://schemas.microsoft.com/office/drawing/2014/main" id="{A2120281-438B-178D-344F-36B4D24D7335}"/>
              </a:ext>
            </a:extLst>
          </p:cNvPr>
          <p:cNvSpPr txBox="1"/>
          <p:nvPr/>
        </p:nvSpPr>
        <p:spPr>
          <a:xfrm>
            <a:off x="1422116" y="4271676"/>
            <a:ext cx="2627811" cy="338554"/>
          </a:xfrm>
          <a:prstGeom prst="rect">
            <a:avLst/>
          </a:prstGeom>
          <a:noFill/>
          <a:ln w="12700">
            <a:no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sv-SE" sz="1600" b="1">
                <a:solidFill>
                  <a:srgbClr val="EAF4FF"/>
                </a:solidFill>
              </a:rPr>
              <a:t>Så fungerar Dropout</a:t>
            </a:r>
          </a:p>
        </p:txBody>
      </p:sp>
      <p:sp>
        <p:nvSpPr>
          <p:cNvPr id="31" name="Rektangel: rundade hörn 30">
            <a:extLst>
              <a:ext uri="{FF2B5EF4-FFF2-40B4-BE49-F238E27FC236}">
                <a16:creationId xmlns:a16="http://schemas.microsoft.com/office/drawing/2014/main" id="{0553FA69-3144-DA83-5B6D-CAFB3A7BBF9B}"/>
              </a:ext>
            </a:extLst>
          </p:cNvPr>
          <p:cNvSpPr/>
          <p:nvPr/>
        </p:nvSpPr>
        <p:spPr>
          <a:xfrm>
            <a:off x="5040930" y="855211"/>
            <a:ext cx="6796483" cy="372331"/>
          </a:xfrm>
          <a:prstGeom prst="roundRect">
            <a:avLst/>
          </a:prstGeom>
          <a:noFill/>
          <a:ln w="6350">
            <a:solidFill>
              <a:srgbClr val="008C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33" name="Rektangel: rundade hörn 32">
            <a:extLst>
              <a:ext uri="{FF2B5EF4-FFF2-40B4-BE49-F238E27FC236}">
                <a16:creationId xmlns:a16="http://schemas.microsoft.com/office/drawing/2014/main" id="{C0736B3A-1CA1-E53E-211A-8CCE23E7C083}"/>
              </a:ext>
            </a:extLst>
          </p:cNvPr>
          <p:cNvSpPr/>
          <p:nvPr/>
        </p:nvSpPr>
        <p:spPr>
          <a:xfrm>
            <a:off x="4850430" y="5675689"/>
            <a:ext cx="6986983" cy="1026655"/>
          </a:xfrm>
          <a:prstGeom prst="roundRect">
            <a:avLst/>
          </a:prstGeom>
          <a:noFill/>
          <a:ln w="6350">
            <a:solidFill>
              <a:srgbClr val="008C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34" name="textruta 33">
            <a:extLst>
              <a:ext uri="{FF2B5EF4-FFF2-40B4-BE49-F238E27FC236}">
                <a16:creationId xmlns:a16="http://schemas.microsoft.com/office/drawing/2014/main" id="{DB33BF47-103D-E3C4-1714-00633A00B10D}"/>
              </a:ext>
            </a:extLst>
          </p:cNvPr>
          <p:cNvSpPr txBox="1"/>
          <p:nvPr/>
        </p:nvSpPr>
        <p:spPr>
          <a:xfrm>
            <a:off x="6976463" y="5771798"/>
            <a:ext cx="4847549" cy="830997"/>
          </a:xfrm>
          <a:prstGeom prst="rect">
            <a:avLst/>
          </a:prstGeom>
          <a:noFill/>
          <a:ln w="12700">
            <a:no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sv-SE" sz="1600">
                <a:solidFill>
                  <a:srgbClr val="EAF4FF"/>
                </a:solidFill>
              </a:rPr>
              <a:t>Dropout 0.5 ger starkare regularisering än Dropout 0.2, men modellen blir mindre flexibel och får svårare att lära sig viktiga mönster.</a:t>
            </a:r>
          </a:p>
        </p:txBody>
      </p:sp>
      <p:cxnSp>
        <p:nvCxnSpPr>
          <p:cNvPr id="36" name="Rak pilkoppling 35">
            <a:extLst>
              <a:ext uri="{FF2B5EF4-FFF2-40B4-BE49-F238E27FC236}">
                <a16:creationId xmlns:a16="http://schemas.microsoft.com/office/drawing/2014/main" id="{B1F24EB6-9751-19D5-DCD2-5032293F69AF}"/>
              </a:ext>
            </a:extLst>
          </p:cNvPr>
          <p:cNvCxnSpPr/>
          <p:nvPr/>
        </p:nvCxnSpPr>
        <p:spPr>
          <a:xfrm flipH="1">
            <a:off x="6700630" y="5938629"/>
            <a:ext cx="8282" cy="505239"/>
          </a:xfrm>
          <a:prstGeom prst="straightConnector1">
            <a:avLst/>
          </a:prstGeom>
        </p:spPr>
        <p:style>
          <a:lnRef idx="2">
            <a:schemeClr val="accent1"/>
          </a:lnRef>
          <a:fillRef idx="0">
            <a:schemeClr val="accent1"/>
          </a:fillRef>
          <a:effectRef idx="1">
            <a:schemeClr val="accent1"/>
          </a:effectRef>
          <a:fontRef idx="minor">
            <a:schemeClr val="tx1"/>
          </a:fontRef>
        </p:style>
      </p:cxnSp>
      <p:pic>
        <p:nvPicPr>
          <p:cNvPr id="38" name="Bild 37" descr="Märke nytt med hel fyllning">
            <a:extLst>
              <a:ext uri="{FF2B5EF4-FFF2-40B4-BE49-F238E27FC236}">
                <a16:creationId xmlns:a16="http://schemas.microsoft.com/office/drawing/2014/main" id="{00394394-5A99-080B-D1D9-70DF6998C4E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909930" y="5837582"/>
            <a:ext cx="541684" cy="641074"/>
          </a:xfrm>
          <a:prstGeom prst="rect">
            <a:avLst/>
          </a:prstGeom>
        </p:spPr>
      </p:pic>
      <p:sp>
        <p:nvSpPr>
          <p:cNvPr id="40" name="textruta 39">
            <a:extLst>
              <a:ext uri="{FF2B5EF4-FFF2-40B4-BE49-F238E27FC236}">
                <a16:creationId xmlns:a16="http://schemas.microsoft.com/office/drawing/2014/main" id="{F1C0D5C7-65B4-C476-E6B4-70FCA7487F5C}"/>
              </a:ext>
            </a:extLst>
          </p:cNvPr>
          <p:cNvSpPr txBox="1"/>
          <p:nvPr/>
        </p:nvSpPr>
        <p:spPr>
          <a:xfrm>
            <a:off x="5444180" y="5987146"/>
            <a:ext cx="1087246" cy="338554"/>
          </a:xfrm>
          <a:prstGeom prst="rect">
            <a:avLst/>
          </a:prstGeom>
          <a:noFill/>
          <a:ln w="12700">
            <a:no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sv-SE" sz="1600" b="1">
                <a:solidFill>
                  <a:srgbClr val="008CFF"/>
                </a:solidFill>
              </a:rPr>
              <a:t>Slutsats</a:t>
            </a:r>
          </a:p>
        </p:txBody>
      </p:sp>
      <p:pic>
        <p:nvPicPr>
          <p:cNvPr id="3" name="Bildobjekt 2" descr="En bild som visar diagram, linje, cirkel, origami">
            <a:extLst>
              <a:ext uri="{FF2B5EF4-FFF2-40B4-BE49-F238E27FC236}">
                <a16:creationId xmlns:a16="http://schemas.microsoft.com/office/drawing/2014/main" id="{583FA83F-5B52-2680-06A7-BD2F36D90F61}"/>
              </a:ext>
            </a:extLst>
          </p:cNvPr>
          <p:cNvPicPr>
            <a:picLocks noChangeAspect="1"/>
          </p:cNvPicPr>
          <p:nvPr/>
        </p:nvPicPr>
        <p:blipFill>
          <a:blip r:embed="rId4"/>
          <a:stretch>
            <a:fillRect/>
          </a:stretch>
        </p:blipFill>
        <p:spPr>
          <a:xfrm>
            <a:off x="1131819" y="4614657"/>
            <a:ext cx="2772190" cy="1827970"/>
          </a:xfrm>
          <a:prstGeom prst="rect">
            <a:avLst/>
          </a:prstGeom>
        </p:spPr>
      </p:pic>
      <p:pic>
        <p:nvPicPr>
          <p:cNvPr id="9" name="Bildobjekt 8" descr="En bild som visar text, diagram, Graf, skärmbild&#10;&#10;AI-genererat innehåll kan vara felaktigt.">
            <a:extLst>
              <a:ext uri="{FF2B5EF4-FFF2-40B4-BE49-F238E27FC236}">
                <a16:creationId xmlns:a16="http://schemas.microsoft.com/office/drawing/2014/main" id="{5E7CF84B-D279-346F-2A20-8633CC018900}"/>
              </a:ext>
            </a:extLst>
          </p:cNvPr>
          <p:cNvPicPr>
            <a:picLocks noChangeAspect="1"/>
          </p:cNvPicPr>
          <p:nvPr/>
        </p:nvPicPr>
        <p:blipFill>
          <a:blip r:embed="rId5"/>
          <a:stretch>
            <a:fillRect/>
          </a:stretch>
        </p:blipFill>
        <p:spPr>
          <a:xfrm>
            <a:off x="5039760" y="1349030"/>
            <a:ext cx="6783871" cy="3795505"/>
          </a:xfrm>
          <a:prstGeom prst="rect">
            <a:avLst/>
          </a:prstGeom>
        </p:spPr>
      </p:pic>
    </p:spTree>
    <p:extLst>
      <p:ext uri="{BB962C8B-B14F-4D97-AF65-F5344CB8AC3E}">
        <p14:creationId xmlns:p14="http://schemas.microsoft.com/office/powerpoint/2010/main" val="158978422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CA6A74ED-97DD-1284-D076-959A8848856C}"/>
            </a:ext>
          </a:extLst>
        </p:cNvPr>
        <p:cNvGrpSpPr/>
        <p:nvPr/>
      </p:nvGrpSpPr>
      <p:grpSpPr>
        <a:xfrm>
          <a:off x="0" y="0"/>
          <a:ext cx="0" cy="0"/>
          <a:chOff x="0" y="0"/>
          <a:chExt cx="0" cy="0"/>
        </a:xfrm>
      </p:grpSpPr>
      <p:sp>
        <p:nvSpPr>
          <p:cNvPr id="4" name="Flödesschema: Sidbrytningskoppling 3">
            <a:extLst>
              <a:ext uri="{FF2B5EF4-FFF2-40B4-BE49-F238E27FC236}">
                <a16:creationId xmlns:a16="http://schemas.microsoft.com/office/drawing/2014/main" id="{6E521DB8-2EE6-4049-A49E-448AC3D66120}"/>
              </a:ext>
            </a:extLst>
          </p:cNvPr>
          <p:cNvSpPr/>
          <p:nvPr/>
        </p:nvSpPr>
        <p:spPr>
          <a:xfrm>
            <a:off x="206721" y="157832"/>
            <a:ext cx="494335" cy="695026"/>
          </a:xfrm>
          <a:prstGeom prst="flowChartOffpageConnector">
            <a:avLst/>
          </a:prstGeom>
          <a:solidFill>
            <a:srgbClr val="008CFF"/>
          </a:solidFill>
          <a:ln>
            <a:solidFill>
              <a:srgbClr val="4472C4"/>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sv-SE" sz="3600" b="1"/>
              <a:t>7</a:t>
            </a:r>
          </a:p>
        </p:txBody>
      </p:sp>
      <p:sp>
        <p:nvSpPr>
          <p:cNvPr id="6" name="textruta 5">
            <a:extLst>
              <a:ext uri="{FF2B5EF4-FFF2-40B4-BE49-F238E27FC236}">
                <a16:creationId xmlns:a16="http://schemas.microsoft.com/office/drawing/2014/main" id="{9EA6AE9D-1E12-3917-BB71-2D35B751D6F9}"/>
              </a:ext>
            </a:extLst>
          </p:cNvPr>
          <p:cNvSpPr txBox="1"/>
          <p:nvPr/>
        </p:nvSpPr>
        <p:spPr>
          <a:xfrm>
            <a:off x="947351" y="157891"/>
            <a:ext cx="5118440"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sv-SE" sz="2800" b="1">
                <a:solidFill>
                  <a:srgbClr val="FFFFFF"/>
                </a:solidFill>
                <a:latin typeface="Aptos"/>
              </a:rPr>
              <a:t>L2  och L1 + L2-regularisering</a:t>
            </a:r>
            <a:endParaRPr lang="sv-SE" b="1">
              <a:latin typeface="Aptos"/>
            </a:endParaRPr>
          </a:p>
        </p:txBody>
      </p:sp>
      <p:cxnSp>
        <p:nvCxnSpPr>
          <p:cNvPr id="32" name="Rak pilkoppling 31">
            <a:extLst>
              <a:ext uri="{FF2B5EF4-FFF2-40B4-BE49-F238E27FC236}">
                <a16:creationId xmlns:a16="http://schemas.microsoft.com/office/drawing/2014/main" id="{F4B1651F-B655-0B4F-C979-879A6D10A839}"/>
              </a:ext>
            </a:extLst>
          </p:cNvPr>
          <p:cNvCxnSpPr/>
          <p:nvPr/>
        </p:nvCxnSpPr>
        <p:spPr>
          <a:xfrm flipV="1">
            <a:off x="271012" y="3238978"/>
            <a:ext cx="11646944" cy="37728"/>
          </a:xfrm>
          <a:prstGeom prst="straightConnector1">
            <a:avLst/>
          </a:prstGeom>
          <a:ln w="6350">
            <a:solidFill>
              <a:srgbClr val="008CFF"/>
            </a:solidFill>
          </a:ln>
        </p:spPr>
        <p:style>
          <a:lnRef idx="2">
            <a:schemeClr val="accent1"/>
          </a:lnRef>
          <a:fillRef idx="0">
            <a:schemeClr val="accent1"/>
          </a:fillRef>
          <a:effectRef idx="1">
            <a:schemeClr val="accent1"/>
          </a:effectRef>
          <a:fontRef idx="minor">
            <a:schemeClr val="tx1"/>
          </a:fontRef>
        </p:style>
      </p:cxnSp>
      <p:sp>
        <p:nvSpPr>
          <p:cNvPr id="5" name="Rektangel: rundade hörn 4">
            <a:extLst>
              <a:ext uri="{FF2B5EF4-FFF2-40B4-BE49-F238E27FC236}">
                <a16:creationId xmlns:a16="http://schemas.microsoft.com/office/drawing/2014/main" id="{0222DF6F-B66A-F570-429C-665FB0DD4199}"/>
              </a:ext>
            </a:extLst>
          </p:cNvPr>
          <p:cNvSpPr/>
          <p:nvPr/>
        </p:nvSpPr>
        <p:spPr>
          <a:xfrm>
            <a:off x="270149" y="954603"/>
            <a:ext cx="5272482" cy="2028851"/>
          </a:xfrm>
          <a:prstGeom prst="roundRect">
            <a:avLst/>
          </a:prstGeom>
          <a:noFill/>
          <a:ln w="6350">
            <a:solidFill>
              <a:srgbClr val="008C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7" name="textruta 6">
            <a:extLst>
              <a:ext uri="{FF2B5EF4-FFF2-40B4-BE49-F238E27FC236}">
                <a16:creationId xmlns:a16="http://schemas.microsoft.com/office/drawing/2014/main" id="{A5EA6BCD-EF80-1C19-1A9D-AC364845F4AB}"/>
              </a:ext>
            </a:extLst>
          </p:cNvPr>
          <p:cNvSpPr txBox="1"/>
          <p:nvPr/>
        </p:nvSpPr>
        <p:spPr>
          <a:xfrm>
            <a:off x="1258403" y="1454321"/>
            <a:ext cx="2325757" cy="246221"/>
          </a:xfrm>
          <a:prstGeom prst="rect">
            <a:avLst/>
          </a:prstGeom>
          <a:noFill/>
          <a:ln w="12700">
            <a:no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sv-SE" sz="1000">
                <a:solidFill>
                  <a:srgbClr val="EAF4FF"/>
                </a:solidFill>
              </a:rPr>
              <a:t>Straffar stora vikter i modellen.</a:t>
            </a:r>
          </a:p>
        </p:txBody>
      </p:sp>
      <p:pic>
        <p:nvPicPr>
          <p:cNvPr id="18" name="Bild 17" descr="Märke bockmarkering med hel fyllning">
            <a:extLst>
              <a:ext uri="{FF2B5EF4-FFF2-40B4-BE49-F238E27FC236}">
                <a16:creationId xmlns:a16="http://schemas.microsoft.com/office/drawing/2014/main" id="{27648CE9-68A7-620E-9B45-CFC9FE24395B}"/>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809292" y="1775894"/>
            <a:ext cx="275969" cy="262239"/>
          </a:xfrm>
          <a:prstGeom prst="rect">
            <a:avLst/>
          </a:prstGeom>
        </p:spPr>
      </p:pic>
      <p:pic>
        <p:nvPicPr>
          <p:cNvPr id="19" name="Bild 18" descr="Märke bockmarkering med hel fyllning">
            <a:extLst>
              <a:ext uri="{FF2B5EF4-FFF2-40B4-BE49-F238E27FC236}">
                <a16:creationId xmlns:a16="http://schemas.microsoft.com/office/drawing/2014/main" id="{94ACB668-D154-C423-82F6-71098632CC58}"/>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809292" y="1451604"/>
            <a:ext cx="275969" cy="262239"/>
          </a:xfrm>
          <a:prstGeom prst="rect">
            <a:avLst/>
          </a:prstGeom>
        </p:spPr>
      </p:pic>
      <p:pic>
        <p:nvPicPr>
          <p:cNvPr id="20" name="Bild 19" descr="Märke bockmarkering med hel fyllning">
            <a:extLst>
              <a:ext uri="{FF2B5EF4-FFF2-40B4-BE49-F238E27FC236}">
                <a16:creationId xmlns:a16="http://schemas.microsoft.com/office/drawing/2014/main" id="{EA1312BC-A119-8075-4B60-438493BCF0A5}"/>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809292" y="2105108"/>
            <a:ext cx="275969" cy="262239"/>
          </a:xfrm>
          <a:prstGeom prst="rect">
            <a:avLst/>
          </a:prstGeom>
        </p:spPr>
      </p:pic>
      <p:pic>
        <p:nvPicPr>
          <p:cNvPr id="21" name="Bild 20" descr="Märke bockmarkering med hel fyllning">
            <a:extLst>
              <a:ext uri="{FF2B5EF4-FFF2-40B4-BE49-F238E27FC236}">
                <a16:creationId xmlns:a16="http://schemas.microsoft.com/office/drawing/2014/main" id="{575F2A33-BBF6-BD87-0649-E856D92A95CE}"/>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792727" y="2493795"/>
            <a:ext cx="317382" cy="270522"/>
          </a:xfrm>
          <a:prstGeom prst="rect">
            <a:avLst/>
          </a:prstGeom>
        </p:spPr>
      </p:pic>
      <p:sp>
        <p:nvSpPr>
          <p:cNvPr id="22" name="textruta 21">
            <a:extLst>
              <a:ext uri="{FF2B5EF4-FFF2-40B4-BE49-F238E27FC236}">
                <a16:creationId xmlns:a16="http://schemas.microsoft.com/office/drawing/2014/main" id="{16A12BF9-909E-B212-D38F-4AFA8A392305}"/>
              </a:ext>
            </a:extLst>
          </p:cNvPr>
          <p:cNvSpPr txBox="1"/>
          <p:nvPr/>
        </p:nvSpPr>
        <p:spPr>
          <a:xfrm>
            <a:off x="1258403" y="1776073"/>
            <a:ext cx="2325757" cy="246221"/>
          </a:xfrm>
          <a:prstGeom prst="rect">
            <a:avLst/>
          </a:prstGeom>
          <a:noFill/>
          <a:ln w="12700">
            <a:no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sv-SE" sz="1000">
                <a:solidFill>
                  <a:srgbClr val="EAF4FF"/>
                </a:solidFill>
              </a:rPr>
              <a:t>Gör modellen mindre extrem.</a:t>
            </a:r>
          </a:p>
        </p:txBody>
      </p:sp>
      <p:sp>
        <p:nvSpPr>
          <p:cNvPr id="23" name="textruta 22">
            <a:extLst>
              <a:ext uri="{FF2B5EF4-FFF2-40B4-BE49-F238E27FC236}">
                <a16:creationId xmlns:a16="http://schemas.microsoft.com/office/drawing/2014/main" id="{501A578C-6B00-18F3-868C-F7699BAE1E9F}"/>
              </a:ext>
            </a:extLst>
          </p:cNvPr>
          <p:cNvSpPr txBox="1"/>
          <p:nvPr/>
        </p:nvSpPr>
        <p:spPr>
          <a:xfrm>
            <a:off x="1258404" y="2089992"/>
            <a:ext cx="2325757" cy="400110"/>
          </a:xfrm>
          <a:prstGeom prst="rect">
            <a:avLst/>
          </a:prstGeom>
          <a:noFill/>
          <a:ln w="12700">
            <a:no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sv-SE" sz="1000">
                <a:solidFill>
                  <a:srgbClr val="EAF4FF"/>
                </a:solidFill>
              </a:rPr>
              <a:t>Hjälper modeelen att genarilsera bättre.</a:t>
            </a:r>
          </a:p>
        </p:txBody>
      </p:sp>
      <p:sp>
        <p:nvSpPr>
          <p:cNvPr id="24" name="textruta 23">
            <a:extLst>
              <a:ext uri="{FF2B5EF4-FFF2-40B4-BE49-F238E27FC236}">
                <a16:creationId xmlns:a16="http://schemas.microsoft.com/office/drawing/2014/main" id="{5D8A3D6C-013D-B0B8-BFF6-A1ACA39091FF}"/>
              </a:ext>
            </a:extLst>
          </p:cNvPr>
          <p:cNvSpPr txBox="1"/>
          <p:nvPr/>
        </p:nvSpPr>
        <p:spPr>
          <a:xfrm>
            <a:off x="1258403" y="2492185"/>
            <a:ext cx="2325757" cy="400110"/>
          </a:xfrm>
          <a:prstGeom prst="rect">
            <a:avLst/>
          </a:prstGeom>
          <a:noFill/>
          <a:ln w="12700">
            <a:no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sv-SE" sz="1000">
                <a:solidFill>
                  <a:srgbClr val="EAF4FF"/>
                </a:solidFill>
              </a:rPr>
              <a:t>Training och validation ligger närmare varandra.</a:t>
            </a:r>
          </a:p>
        </p:txBody>
      </p:sp>
      <p:sp>
        <p:nvSpPr>
          <p:cNvPr id="33" name="Rektangel: rundade hörn 32">
            <a:extLst>
              <a:ext uri="{FF2B5EF4-FFF2-40B4-BE49-F238E27FC236}">
                <a16:creationId xmlns:a16="http://schemas.microsoft.com/office/drawing/2014/main" id="{3E295342-1D38-A4D7-07CC-6A27DE879754}"/>
              </a:ext>
            </a:extLst>
          </p:cNvPr>
          <p:cNvSpPr/>
          <p:nvPr/>
        </p:nvSpPr>
        <p:spPr>
          <a:xfrm>
            <a:off x="344692" y="5874471"/>
            <a:ext cx="11492721" cy="827873"/>
          </a:xfrm>
          <a:prstGeom prst="roundRect">
            <a:avLst/>
          </a:prstGeom>
          <a:noFill/>
          <a:ln w="6350">
            <a:solidFill>
              <a:srgbClr val="008C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34" name="textruta 33">
            <a:extLst>
              <a:ext uri="{FF2B5EF4-FFF2-40B4-BE49-F238E27FC236}">
                <a16:creationId xmlns:a16="http://schemas.microsoft.com/office/drawing/2014/main" id="{EB891483-DB2A-FEDC-3CEF-BB4BF50F011C}"/>
              </a:ext>
            </a:extLst>
          </p:cNvPr>
          <p:cNvSpPr txBox="1"/>
          <p:nvPr/>
        </p:nvSpPr>
        <p:spPr>
          <a:xfrm>
            <a:off x="3713115" y="5871189"/>
            <a:ext cx="7986657" cy="830997"/>
          </a:xfrm>
          <a:prstGeom prst="rect">
            <a:avLst/>
          </a:prstGeom>
          <a:noFill/>
          <a:ln w="12700">
            <a:no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sv-SE" sz="1600">
                <a:solidFill>
                  <a:srgbClr val="EAF4FF"/>
                </a:solidFill>
              </a:rPr>
              <a:t>Regularisering måste </a:t>
            </a:r>
            <a:r>
              <a:rPr lang="sv-SE" sz="1600">
                <a:solidFill>
                  <a:srgbClr val="008CFF"/>
                </a:solidFill>
              </a:rPr>
              <a:t>balanseras</a:t>
            </a:r>
            <a:r>
              <a:rPr lang="sv-SE" sz="1600">
                <a:solidFill>
                  <a:srgbClr val="EAF4FF"/>
                </a:solidFill>
              </a:rPr>
              <a:t>.</a:t>
            </a:r>
            <a:endParaRPr lang="sv-SE"/>
          </a:p>
          <a:p>
            <a:r>
              <a:rPr lang="sv-SE" sz="1600">
                <a:solidFill>
                  <a:srgbClr val="EAF4FF"/>
                </a:solidFill>
              </a:rPr>
              <a:t>För lite regularisering kan ge </a:t>
            </a:r>
            <a:r>
              <a:rPr lang="sv-SE" sz="1600">
                <a:solidFill>
                  <a:srgbClr val="008CFF"/>
                </a:solidFill>
              </a:rPr>
              <a:t>overfitting</a:t>
            </a:r>
            <a:r>
              <a:rPr lang="sv-SE" sz="1600">
                <a:solidFill>
                  <a:srgbClr val="EAF4FF"/>
                </a:solidFill>
              </a:rPr>
              <a:t> medan för mycket regularisering kan ge </a:t>
            </a:r>
            <a:r>
              <a:rPr lang="sv-SE" sz="1600">
                <a:solidFill>
                  <a:srgbClr val="008CFF"/>
                </a:solidFill>
              </a:rPr>
              <a:t>underfitting</a:t>
            </a:r>
            <a:r>
              <a:rPr lang="sv-SE" sz="1600">
                <a:solidFill>
                  <a:srgbClr val="EAF4FF"/>
                </a:solidFill>
              </a:rPr>
              <a:t>.</a:t>
            </a:r>
            <a:endParaRPr lang="sv-SE"/>
          </a:p>
        </p:txBody>
      </p:sp>
      <p:cxnSp>
        <p:nvCxnSpPr>
          <p:cNvPr id="36" name="Rak pilkoppling 35">
            <a:extLst>
              <a:ext uri="{FF2B5EF4-FFF2-40B4-BE49-F238E27FC236}">
                <a16:creationId xmlns:a16="http://schemas.microsoft.com/office/drawing/2014/main" id="{B9464783-3945-9D32-B018-7D4F8F6E2104}"/>
              </a:ext>
            </a:extLst>
          </p:cNvPr>
          <p:cNvCxnSpPr/>
          <p:nvPr/>
        </p:nvCxnSpPr>
        <p:spPr>
          <a:xfrm flipH="1">
            <a:off x="3329608" y="6038020"/>
            <a:ext cx="8282" cy="505239"/>
          </a:xfrm>
          <a:prstGeom prst="straightConnector1">
            <a:avLst/>
          </a:prstGeom>
        </p:spPr>
        <p:style>
          <a:lnRef idx="2">
            <a:schemeClr val="accent1"/>
          </a:lnRef>
          <a:fillRef idx="0">
            <a:schemeClr val="accent1"/>
          </a:fillRef>
          <a:effectRef idx="1">
            <a:schemeClr val="accent1"/>
          </a:effectRef>
          <a:fontRef idx="minor">
            <a:schemeClr val="tx1"/>
          </a:fontRef>
        </p:style>
      </p:cxnSp>
      <p:pic>
        <p:nvPicPr>
          <p:cNvPr id="38" name="Bild 37" descr="Märke nytt med hel fyllning">
            <a:extLst>
              <a:ext uri="{FF2B5EF4-FFF2-40B4-BE49-F238E27FC236}">
                <a16:creationId xmlns:a16="http://schemas.microsoft.com/office/drawing/2014/main" id="{4791ACE0-79B4-AB19-EBC5-0795A805AD6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86408" y="5970104"/>
            <a:ext cx="541684" cy="641074"/>
          </a:xfrm>
          <a:prstGeom prst="rect">
            <a:avLst/>
          </a:prstGeom>
        </p:spPr>
      </p:pic>
      <p:sp>
        <p:nvSpPr>
          <p:cNvPr id="40" name="textruta 39">
            <a:extLst>
              <a:ext uri="{FF2B5EF4-FFF2-40B4-BE49-F238E27FC236}">
                <a16:creationId xmlns:a16="http://schemas.microsoft.com/office/drawing/2014/main" id="{5390B5EC-E7D2-876E-2159-690A01489C49}"/>
              </a:ext>
            </a:extLst>
          </p:cNvPr>
          <p:cNvSpPr txBox="1"/>
          <p:nvPr/>
        </p:nvSpPr>
        <p:spPr>
          <a:xfrm>
            <a:off x="1327724" y="6119668"/>
            <a:ext cx="1087246" cy="338554"/>
          </a:xfrm>
          <a:prstGeom prst="rect">
            <a:avLst/>
          </a:prstGeom>
          <a:noFill/>
          <a:ln w="12700">
            <a:no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sv-SE" sz="1600" b="1">
                <a:solidFill>
                  <a:srgbClr val="008CFF"/>
                </a:solidFill>
              </a:rPr>
              <a:t>Slutsats</a:t>
            </a:r>
          </a:p>
        </p:txBody>
      </p:sp>
      <p:sp>
        <p:nvSpPr>
          <p:cNvPr id="11" name="textruta 10">
            <a:extLst>
              <a:ext uri="{FF2B5EF4-FFF2-40B4-BE49-F238E27FC236}">
                <a16:creationId xmlns:a16="http://schemas.microsoft.com/office/drawing/2014/main" id="{CAFFE575-215D-6E77-74EC-9CF336D59E4F}"/>
              </a:ext>
            </a:extLst>
          </p:cNvPr>
          <p:cNvSpPr txBox="1"/>
          <p:nvPr/>
        </p:nvSpPr>
        <p:spPr>
          <a:xfrm>
            <a:off x="952500" y="579783"/>
            <a:ext cx="6096000" cy="55399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sv-SE" sz="1200">
                <a:solidFill>
                  <a:srgbClr val="EAF4FF"/>
                </a:solidFill>
                <a:latin typeface="Aptos"/>
              </a:rPr>
              <a:t>Balans mellan overfitting och underfitting</a:t>
            </a:r>
            <a:endParaRPr lang="sv-SE" sz="1200"/>
          </a:p>
          <a:p>
            <a:pPr algn="ctr"/>
            <a:endParaRPr lang="sv-SE"/>
          </a:p>
        </p:txBody>
      </p:sp>
      <p:pic>
        <p:nvPicPr>
          <p:cNvPr id="13" name="Bildobjekt 12" descr="En bild som visar text, diagram, linje, Graf&#10;&#10;AI-genererat innehåll kan vara felaktigt.">
            <a:extLst>
              <a:ext uri="{FF2B5EF4-FFF2-40B4-BE49-F238E27FC236}">
                <a16:creationId xmlns:a16="http://schemas.microsoft.com/office/drawing/2014/main" id="{B7E14885-B564-8C1B-E728-015DD27E99F3}"/>
              </a:ext>
            </a:extLst>
          </p:cNvPr>
          <p:cNvPicPr>
            <a:picLocks noChangeAspect="1"/>
          </p:cNvPicPr>
          <p:nvPr/>
        </p:nvPicPr>
        <p:blipFill>
          <a:blip r:embed="rId4"/>
          <a:stretch>
            <a:fillRect/>
          </a:stretch>
        </p:blipFill>
        <p:spPr>
          <a:xfrm>
            <a:off x="6098692" y="956227"/>
            <a:ext cx="5817292" cy="2030068"/>
          </a:xfrm>
          <a:prstGeom prst="rect">
            <a:avLst/>
          </a:prstGeom>
        </p:spPr>
      </p:pic>
      <p:pic>
        <p:nvPicPr>
          <p:cNvPr id="15" name="Bildobjekt 14" descr="En bild som visar text, diagram, linje, Graf">
            <a:extLst>
              <a:ext uri="{FF2B5EF4-FFF2-40B4-BE49-F238E27FC236}">
                <a16:creationId xmlns:a16="http://schemas.microsoft.com/office/drawing/2014/main" id="{12FFC08A-AE01-1824-0AE9-7730ED5D55DD}"/>
              </a:ext>
            </a:extLst>
          </p:cNvPr>
          <p:cNvPicPr>
            <a:picLocks noChangeAspect="1"/>
          </p:cNvPicPr>
          <p:nvPr/>
        </p:nvPicPr>
        <p:blipFill>
          <a:blip r:embed="rId5"/>
          <a:stretch>
            <a:fillRect/>
          </a:stretch>
        </p:blipFill>
        <p:spPr>
          <a:xfrm>
            <a:off x="6031396" y="3543920"/>
            <a:ext cx="5885621" cy="2039594"/>
          </a:xfrm>
          <a:prstGeom prst="rect">
            <a:avLst/>
          </a:prstGeom>
        </p:spPr>
      </p:pic>
      <p:sp>
        <p:nvSpPr>
          <p:cNvPr id="16" name="textruta 15">
            <a:extLst>
              <a:ext uri="{FF2B5EF4-FFF2-40B4-BE49-F238E27FC236}">
                <a16:creationId xmlns:a16="http://schemas.microsoft.com/office/drawing/2014/main" id="{97CF8F66-866E-D879-C493-24B7376EF651}"/>
              </a:ext>
            </a:extLst>
          </p:cNvPr>
          <p:cNvSpPr txBox="1"/>
          <p:nvPr/>
        </p:nvSpPr>
        <p:spPr>
          <a:xfrm>
            <a:off x="706528" y="959602"/>
            <a:ext cx="2462158" cy="369332"/>
          </a:xfrm>
          <a:prstGeom prst="rect">
            <a:avLst/>
          </a:prstGeom>
          <a:noFill/>
          <a:ln w="12700">
            <a:no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sv-SE" b="1">
                <a:solidFill>
                  <a:srgbClr val="008CFF"/>
                </a:solidFill>
              </a:rPr>
              <a:t>L2-regularisering</a:t>
            </a:r>
          </a:p>
        </p:txBody>
      </p:sp>
      <p:sp>
        <p:nvSpPr>
          <p:cNvPr id="17" name="Rektangel: rundade hörn 16">
            <a:extLst>
              <a:ext uri="{FF2B5EF4-FFF2-40B4-BE49-F238E27FC236}">
                <a16:creationId xmlns:a16="http://schemas.microsoft.com/office/drawing/2014/main" id="{29FCAB1A-3574-9D4D-C439-1016F016CF50}"/>
              </a:ext>
            </a:extLst>
          </p:cNvPr>
          <p:cNvSpPr/>
          <p:nvPr/>
        </p:nvSpPr>
        <p:spPr>
          <a:xfrm>
            <a:off x="270149" y="3547060"/>
            <a:ext cx="5206221" cy="2037133"/>
          </a:xfrm>
          <a:prstGeom prst="roundRect">
            <a:avLst/>
          </a:prstGeom>
          <a:noFill/>
          <a:ln w="6350">
            <a:solidFill>
              <a:srgbClr val="008C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26" name="textruta 25">
            <a:extLst>
              <a:ext uri="{FF2B5EF4-FFF2-40B4-BE49-F238E27FC236}">
                <a16:creationId xmlns:a16="http://schemas.microsoft.com/office/drawing/2014/main" id="{3A9FDB21-F6A0-99D3-ECD1-DD76C50D7117}"/>
              </a:ext>
            </a:extLst>
          </p:cNvPr>
          <p:cNvSpPr txBox="1"/>
          <p:nvPr/>
        </p:nvSpPr>
        <p:spPr>
          <a:xfrm>
            <a:off x="706528" y="3626602"/>
            <a:ext cx="2462158" cy="369332"/>
          </a:xfrm>
          <a:prstGeom prst="rect">
            <a:avLst/>
          </a:prstGeom>
          <a:noFill/>
          <a:ln w="12700">
            <a:no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sv-SE" b="1">
                <a:solidFill>
                  <a:srgbClr val="008CFF"/>
                </a:solidFill>
              </a:rPr>
              <a:t>L1 + L2-regularisering</a:t>
            </a:r>
          </a:p>
        </p:txBody>
      </p:sp>
      <p:pic>
        <p:nvPicPr>
          <p:cNvPr id="27" name="Bild 26" descr="Märke bockmarkering med hel fyllning">
            <a:extLst>
              <a:ext uri="{FF2B5EF4-FFF2-40B4-BE49-F238E27FC236}">
                <a16:creationId xmlns:a16="http://schemas.microsoft.com/office/drawing/2014/main" id="{632A0969-FBD1-B988-A5C6-1450C8E2C567}"/>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817574" y="4118604"/>
            <a:ext cx="275969" cy="262239"/>
          </a:xfrm>
          <a:prstGeom prst="rect">
            <a:avLst/>
          </a:prstGeom>
        </p:spPr>
      </p:pic>
      <p:pic>
        <p:nvPicPr>
          <p:cNvPr id="28" name="Bild 27" descr="Märke bockmarkering med hel fyllning">
            <a:extLst>
              <a:ext uri="{FF2B5EF4-FFF2-40B4-BE49-F238E27FC236}">
                <a16:creationId xmlns:a16="http://schemas.microsoft.com/office/drawing/2014/main" id="{C1D7C5B6-5D8C-F42D-FA9B-F7B83D257175}"/>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817574" y="4383647"/>
            <a:ext cx="275969" cy="262239"/>
          </a:xfrm>
          <a:prstGeom prst="rect">
            <a:avLst/>
          </a:prstGeom>
        </p:spPr>
      </p:pic>
      <p:pic>
        <p:nvPicPr>
          <p:cNvPr id="29" name="Bild 28" descr="Märke bockmarkering med hel fyllning">
            <a:extLst>
              <a:ext uri="{FF2B5EF4-FFF2-40B4-BE49-F238E27FC236}">
                <a16:creationId xmlns:a16="http://schemas.microsoft.com/office/drawing/2014/main" id="{B6B42F18-A138-AC6C-EDAC-03CA46DE5F00}"/>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809292" y="4755542"/>
            <a:ext cx="275969" cy="262239"/>
          </a:xfrm>
          <a:prstGeom prst="rect">
            <a:avLst/>
          </a:prstGeom>
        </p:spPr>
      </p:pic>
      <p:pic>
        <p:nvPicPr>
          <p:cNvPr id="30" name="Bild 29" descr="Märke bockmarkering med hel fyllning">
            <a:extLst>
              <a:ext uri="{FF2B5EF4-FFF2-40B4-BE49-F238E27FC236}">
                <a16:creationId xmlns:a16="http://schemas.microsoft.com/office/drawing/2014/main" id="{6AD69C80-96B9-01D5-2BAB-67AEAEC7A379}"/>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809292" y="5152512"/>
            <a:ext cx="317382" cy="270522"/>
          </a:xfrm>
          <a:prstGeom prst="rect">
            <a:avLst/>
          </a:prstGeom>
        </p:spPr>
      </p:pic>
      <p:sp>
        <p:nvSpPr>
          <p:cNvPr id="35" name="textruta 34">
            <a:extLst>
              <a:ext uri="{FF2B5EF4-FFF2-40B4-BE49-F238E27FC236}">
                <a16:creationId xmlns:a16="http://schemas.microsoft.com/office/drawing/2014/main" id="{F9A03F38-C091-4563-51A6-84B3B0D2B000}"/>
              </a:ext>
            </a:extLst>
          </p:cNvPr>
          <p:cNvSpPr txBox="1"/>
          <p:nvPr/>
        </p:nvSpPr>
        <p:spPr>
          <a:xfrm>
            <a:off x="1258402" y="4055059"/>
            <a:ext cx="2325757" cy="400110"/>
          </a:xfrm>
          <a:prstGeom prst="rect">
            <a:avLst/>
          </a:prstGeom>
          <a:noFill/>
          <a:ln w="12700">
            <a:no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sv-SE" sz="1000">
                <a:solidFill>
                  <a:srgbClr val="EAF4FF"/>
                </a:solidFill>
              </a:rPr>
              <a:t>Kombination av två regulariseringstekniker</a:t>
            </a:r>
          </a:p>
        </p:txBody>
      </p:sp>
      <p:sp>
        <p:nvSpPr>
          <p:cNvPr id="39" name="textruta 38">
            <a:extLst>
              <a:ext uri="{FF2B5EF4-FFF2-40B4-BE49-F238E27FC236}">
                <a16:creationId xmlns:a16="http://schemas.microsoft.com/office/drawing/2014/main" id="{9B7031A7-4C0F-D1B6-A1A1-2B1C1DFDBD4E}"/>
              </a:ext>
            </a:extLst>
          </p:cNvPr>
          <p:cNvSpPr txBox="1"/>
          <p:nvPr/>
        </p:nvSpPr>
        <p:spPr>
          <a:xfrm>
            <a:off x="1258402" y="4518885"/>
            <a:ext cx="2325757" cy="246221"/>
          </a:xfrm>
          <a:prstGeom prst="rect">
            <a:avLst/>
          </a:prstGeom>
          <a:noFill/>
          <a:ln w="12700">
            <a:no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sv-SE" sz="1000">
                <a:solidFill>
                  <a:srgbClr val="EAF4FF"/>
                </a:solidFill>
              </a:rPr>
              <a:t>För stark regularisering gav underfitting</a:t>
            </a:r>
          </a:p>
        </p:txBody>
      </p:sp>
      <p:sp>
        <p:nvSpPr>
          <p:cNvPr id="41" name="textruta 40">
            <a:extLst>
              <a:ext uri="{FF2B5EF4-FFF2-40B4-BE49-F238E27FC236}">
                <a16:creationId xmlns:a16="http://schemas.microsoft.com/office/drawing/2014/main" id="{C6577649-CBCF-E2C1-F3E2-5412AD284F8E}"/>
              </a:ext>
            </a:extLst>
          </p:cNvPr>
          <p:cNvSpPr txBox="1"/>
          <p:nvPr/>
        </p:nvSpPr>
        <p:spPr>
          <a:xfrm>
            <a:off x="1258402" y="4759080"/>
            <a:ext cx="2325757" cy="400110"/>
          </a:xfrm>
          <a:prstGeom prst="rect">
            <a:avLst/>
          </a:prstGeom>
          <a:noFill/>
          <a:ln w="12700">
            <a:no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sv-SE" sz="1000">
                <a:solidFill>
                  <a:srgbClr val="EAF4FF"/>
                </a:solidFill>
              </a:rPr>
              <a:t>Väldigt låg accuracy och hög loss i början</a:t>
            </a:r>
          </a:p>
        </p:txBody>
      </p:sp>
      <p:sp>
        <p:nvSpPr>
          <p:cNvPr id="42" name="textruta 41">
            <a:extLst>
              <a:ext uri="{FF2B5EF4-FFF2-40B4-BE49-F238E27FC236}">
                <a16:creationId xmlns:a16="http://schemas.microsoft.com/office/drawing/2014/main" id="{5C2EDBA5-639F-8174-D60C-97B1D458EA79}"/>
              </a:ext>
            </a:extLst>
          </p:cNvPr>
          <p:cNvSpPr txBox="1"/>
          <p:nvPr/>
        </p:nvSpPr>
        <p:spPr>
          <a:xfrm>
            <a:off x="1258402" y="5115232"/>
            <a:ext cx="2325757" cy="400110"/>
          </a:xfrm>
          <a:prstGeom prst="rect">
            <a:avLst/>
          </a:prstGeom>
          <a:noFill/>
          <a:ln w="12700">
            <a:no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sv-SE" sz="1000">
                <a:solidFill>
                  <a:srgbClr val="EAF4FF"/>
                </a:solidFill>
              </a:rPr>
              <a:t>Resultatet förbättrades efter att regulariseringsvärdena sänktes</a:t>
            </a:r>
          </a:p>
        </p:txBody>
      </p:sp>
    </p:spTree>
    <p:extLst>
      <p:ext uri="{BB962C8B-B14F-4D97-AF65-F5344CB8AC3E}">
        <p14:creationId xmlns:p14="http://schemas.microsoft.com/office/powerpoint/2010/main" val="347636745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75A3D5E2-46F9-38AB-689E-7BEDC7361178}"/>
            </a:ext>
          </a:extLst>
        </p:cNvPr>
        <p:cNvGrpSpPr/>
        <p:nvPr/>
      </p:nvGrpSpPr>
      <p:grpSpPr>
        <a:xfrm>
          <a:off x="0" y="0"/>
          <a:ext cx="0" cy="0"/>
          <a:chOff x="0" y="0"/>
          <a:chExt cx="0" cy="0"/>
        </a:xfrm>
      </p:grpSpPr>
      <p:sp>
        <p:nvSpPr>
          <p:cNvPr id="4" name="Flödesschema: Sidbrytningskoppling 3">
            <a:extLst>
              <a:ext uri="{FF2B5EF4-FFF2-40B4-BE49-F238E27FC236}">
                <a16:creationId xmlns:a16="http://schemas.microsoft.com/office/drawing/2014/main" id="{0D4F1094-40AC-9314-C98C-CB0F210110C4}"/>
              </a:ext>
            </a:extLst>
          </p:cNvPr>
          <p:cNvSpPr/>
          <p:nvPr/>
        </p:nvSpPr>
        <p:spPr>
          <a:xfrm>
            <a:off x="206721" y="157832"/>
            <a:ext cx="494335" cy="695026"/>
          </a:xfrm>
          <a:prstGeom prst="flowChartOffpageConnector">
            <a:avLst/>
          </a:prstGeom>
          <a:solidFill>
            <a:srgbClr val="008CFF"/>
          </a:solidFill>
          <a:ln>
            <a:solidFill>
              <a:srgbClr val="4472C4"/>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sv-SE" sz="3600" b="1"/>
              <a:t>8</a:t>
            </a:r>
          </a:p>
        </p:txBody>
      </p:sp>
      <p:sp>
        <p:nvSpPr>
          <p:cNvPr id="6" name="textruta 5">
            <a:extLst>
              <a:ext uri="{FF2B5EF4-FFF2-40B4-BE49-F238E27FC236}">
                <a16:creationId xmlns:a16="http://schemas.microsoft.com/office/drawing/2014/main" id="{B44F58F8-BAD0-F083-38BF-CB27166C5D71}"/>
              </a:ext>
            </a:extLst>
          </p:cNvPr>
          <p:cNvSpPr txBox="1"/>
          <p:nvPr/>
        </p:nvSpPr>
        <p:spPr>
          <a:xfrm>
            <a:off x="947351" y="157891"/>
            <a:ext cx="5118440"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sv-SE" sz="2800" b="1">
                <a:solidFill>
                  <a:srgbClr val="FFFFFF"/>
                </a:solidFill>
                <a:latin typeface="Aptos"/>
              </a:rPr>
              <a:t>Early Stopping</a:t>
            </a:r>
            <a:endParaRPr lang="sv-SE" b="1">
              <a:latin typeface="Aptos"/>
            </a:endParaRPr>
          </a:p>
        </p:txBody>
      </p:sp>
      <p:sp>
        <p:nvSpPr>
          <p:cNvPr id="33" name="Rektangel: rundade hörn 32">
            <a:extLst>
              <a:ext uri="{FF2B5EF4-FFF2-40B4-BE49-F238E27FC236}">
                <a16:creationId xmlns:a16="http://schemas.microsoft.com/office/drawing/2014/main" id="{CAC3B132-9956-EB0A-B576-D7B57E5D9447}"/>
              </a:ext>
            </a:extLst>
          </p:cNvPr>
          <p:cNvSpPr/>
          <p:nvPr/>
        </p:nvSpPr>
        <p:spPr>
          <a:xfrm>
            <a:off x="344692" y="5523289"/>
            <a:ext cx="11492721" cy="1179055"/>
          </a:xfrm>
          <a:prstGeom prst="roundRect">
            <a:avLst/>
          </a:prstGeom>
          <a:noFill/>
          <a:ln w="6350">
            <a:solidFill>
              <a:srgbClr val="008C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34" name="textruta 33">
            <a:extLst>
              <a:ext uri="{FF2B5EF4-FFF2-40B4-BE49-F238E27FC236}">
                <a16:creationId xmlns:a16="http://schemas.microsoft.com/office/drawing/2014/main" id="{0F0DBE43-4D43-1B09-A1C3-7A8627D6BAB9}"/>
              </a:ext>
            </a:extLst>
          </p:cNvPr>
          <p:cNvSpPr txBox="1"/>
          <p:nvPr/>
        </p:nvSpPr>
        <p:spPr>
          <a:xfrm>
            <a:off x="3163150" y="5526633"/>
            <a:ext cx="8543247" cy="1077218"/>
          </a:xfrm>
          <a:prstGeom prst="rect">
            <a:avLst/>
          </a:prstGeom>
          <a:noFill/>
          <a:ln w="12700">
            <a:no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sv-SE" sz="1600">
                <a:solidFill>
                  <a:srgbClr val="EAF4FF"/>
                </a:solidFill>
              </a:rPr>
              <a:t>Validation loss förbättras fram till epok 6 och börjar sedan öka. Samtidigt fortsätter training loss att minska och training accuracy att öka, medan validation accuracy planar ut och sjunker något efter epok 6. Detta tyder på att modellen börjar overfitta efter epok 6. Early stopping stoppar träningen efter 9 epoker, vilket hjälper till att undvika överanpassning och sparar beräkningstid.</a:t>
            </a:r>
          </a:p>
        </p:txBody>
      </p:sp>
      <p:cxnSp>
        <p:nvCxnSpPr>
          <p:cNvPr id="36" name="Rak pilkoppling 35">
            <a:extLst>
              <a:ext uri="{FF2B5EF4-FFF2-40B4-BE49-F238E27FC236}">
                <a16:creationId xmlns:a16="http://schemas.microsoft.com/office/drawing/2014/main" id="{AF11F7A3-0899-AE37-2655-F2E2EBD853B7}"/>
              </a:ext>
            </a:extLst>
          </p:cNvPr>
          <p:cNvCxnSpPr/>
          <p:nvPr/>
        </p:nvCxnSpPr>
        <p:spPr>
          <a:xfrm flipH="1">
            <a:off x="3004930" y="5673586"/>
            <a:ext cx="28160" cy="869673"/>
          </a:xfrm>
          <a:prstGeom prst="straightConnector1">
            <a:avLst/>
          </a:prstGeom>
        </p:spPr>
        <p:style>
          <a:lnRef idx="2">
            <a:schemeClr val="accent1"/>
          </a:lnRef>
          <a:fillRef idx="0">
            <a:schemeClr val="accent1"/>
          </a:fillRef>
          <a:effectRef idx="1">
            <a:schemeClr val="accent1"/>
          </a:effectRef>
          <a:fontRef idx="minor">
            <a:schemeClr val="tx1"/>
          </a:fontRef>
        </p:style>
      </p:cxnSp>
      <p:pic>
        <p:nvPicPr>
          <p:cNvPr id="38" name="Bild 37" descr="Märke nytt med hel fyllning">
            <a:extLst>
              <a:ext uri="{FF2B5EF4-FFF2-40B4-BE49-F238E27FC236}">
                <a16:creationId xmlns:a16="http://schemas.microsoft.com/office/drawing/2014/main" id="{203BFA42-4AD0-FA6B-B8A6-317DDEBA3D54}"/>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86408" y="5744817"/>
            <a:ext cx="541684" cy="641074"/>
          </a:xfrm>
          <a:prstGeom prst="rect">
            <a:avLst/>
          </a:prstGeom>
        </p:spPr>
      </p:pic>
      <p:sp>
        <p:nvSpPr>
          <p:cNvPr id="40" name="textruta 39">
            <a:extLst>
              <a:ext uri="{FF2B5EF4-FFF2-40B4-BE49-F238E27FC236}">
                <a16:creationId xmlns:a16="http://schemas.microsoft.com/office/drawing/2014/main" id="{CC4EFF77-4B32-69EE-75B1-3237D5B98A4B}"/>
              </a:ext>
            </a:extLst>
          </p:cNvPr>
          <p:cNvSpPr txBox="1"/>
          <p:nvPr/>
        </p:nvSpPr>
        <p:spPr>
          <a:xfrm>
            <a:off x="1261463" y="5894381"/>
            <a:ext cx="1087246" cy="338554"/>
          </a:xfrm>
          <a:prstGeom prst="rect">
            <a:avLst/>
          </a:prstGeom>
          <a:noFill/>
          <a:ln w="12700">
            <a:no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sv-SE" sz="1600" b="1">
                <a:solidFill>
                  <a:srgbClr val="008CFF"/>
                </a:solidFill>
              </a:rPr>
              <a:t>Slutsats</a:t>
            </a:r>
          </a:p>
        </p:txBody>
      </p:sp>
      <p:sp>
        <p:nvSpPr>
          <p:cNvPr id="11" name="textruta 10">
            <a:extLst>
              <a:ext uri="{FF2B5EF4-FFF2-40B4-BE49-F238E27FC236}">
                <a16:creationId xmlns:a16="http://schemas.microsoft.com/office/drawing/2014/main" id="{1D961950-A015-4C15-08B5-FD7D58EBFADC}"/>
              </a:ext>
            </a:extLst>
          </p:cNvPr>
          <p:cNvSpPr txBox="1"/>
          <p:nvPr/>
        </p:nvSpPr>
        <p:spPr>
          <a:xfrm>
            <a:off x="952500" y="579783"/>
            <a:ext cx="6096000" cy="9233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sv-SE" sz="1200">
                <a:solidFill>
                  <a:srgbClr val="EAF4FF"/>
                </a:solidFill>
                <a:latin typeface="Aptos"/>
              </a:rPr>
              <a:t>Här används Early Stopping med patience = 3. Modellen övervakas på validation loss och träningen stoppas när den inte förbättras under 3 epoker i rad. Målet är att förhindra overfitting och spara beräkningstid.</a:t>
            </a:r>
            <a:endParaRPr lang="sv-SE" sz="1200"/>
          </a:p>
          <a:p>
            <a:pPr algn="ctr"/>
            <a:endParaRPr lang="sv-SE"/>
          </a:p>
        </p:txBody>
      </p:sp>
      <p:sp>
        <p:nvSpPr>
          <p:cNvPr id="17" name="Rektangel: rundade hörn 16">
            <a:extLst>
              <a:ext uri="{FF2B5EF4-FFF2-40B4-BE49-F238E27FC236}">
                <a16:creationId xmlns:a16="http://schemas.microsoft.com/office/drawing/2014/main" id="{F85BC078-6460-5347-0412-EC2CA9EB8E6A}"/>
              </a:ext>
            </a:extLst>
          </p:cNvPr>
          <p:cNvSpPr/>
          <p:nvPr/>
        </p:nvSpPr>
        <p:spPr>
          <a:xfrm>
            <a:off x="347323" y="4852788"/>
            <a:ext cx="11370041" cy="552501"/>
          </a:xfrm>
          <a:prstGeom prst="roundRect">
            <a:avLst/>
          </a:prstGeom>
          <a:noFill/>
          <a:ln w="6350">
            <a:solidFill>
              <a:srgbClr val="008C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26" name="textruta 25">
            <a:extLst>
              <a:ext uri="{FF2B5EF4-FFF2-40B4-BE49-F238E27FC236}">
                <a16:creationId xmlns:a16="http://schemas.microsoft.com/office/drawing/2014/main" id="{3813B725-7161-CF86-A41A-85CF2A0E840C}"/>
              </a:ext>
            </a:extLst>
          </p:cNvPr>
          <p:cNvSpPr txBox="1"/>
          <p:nvPr/>
        </p:nvSpPr>
        <p:spPr>
          <a:xfrm>
            <a:off x="350668" y="4851259"/>
            <a:ext cx="2913511" cy="553998"/>
          </a:xfrm>
          <a:prstGeom prst="rect">
            <a:avLst/>
          </a:prstGeom>
          <a:noFill/>
          <a:ln w="12700">
            <a:no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sv-SE" sz="1200">
                <a:solidFill>
                  <a:srgbClr val="EAF4FF"/>
                </a:solidFill>
              </a:rPr>
              <a:t>Bästa validation loss:</a:t>
            </a:r>
            <a:endParaRPr lang="sv-SE" sz="1200">
              <a:solidFill>
                <a:srgbClr val="008CFF"/>
              </a:solidFill>
            </a:endParaRPr>
          </a:p>
          <a:p>
            <a:endParaRPr lang="sv-SE" b="1">
              <a:solidFill>
                <a:srgbClr val="008CFF"/>
              </a:solidFill>
            </a:endParaRPr>
          </a:p>
        </p:txBody>
      </p:sp>
      <p:pic>
        <p:nvPicPr>
          <p:cNvPr id="3" name="Bildobjekt 2" descr="En bild som visar text, diagram, linje, skärmbild">
            <a:extLst>
              <a:ext uri="{FF2B5EF4-FFF2-40B4-BE49-F238E27FC236}">
                <a16:creationId xmlns:a16="http://schemas.microsoft.com/office/drawing/2014/main" id="{E6226EB7-B90A-3460-2160-430B8FE703B1}"/>
              </a:ext>
            </a:extLst>
          </p:cNvPr>
          <p:cNvPicPr>
            <a:picLocks noChangeAspect="1"/>
          </p:cNvPicPr>
          <p:nvPr/>
        </p:nvPicPr>
        <p:blipFill>
          <a:blip r:embed="rId3"/>
          <a:stretch>
            <a:fillRect/>
          </a:stretch>
        </p:blipFill>
        <p:spPr>
          <a:xfrm>
            <a:off x="344862" y="1499348"/>
            <a:ext cx="11594653" cy="3120691"/>
          </a:xfrm>
          <a:prstGeom prst="rect">
            <a:avLst/>
          </a:prstGeom>
        </p:spPr>
      </p:pic>
      <p:sp>
        <p:nvSpPr>
          <p:cNvPr id="8" name="textruta 7">
            <a:extLst>
              <a:ext uri="{FF2B5EF4-FFF2-40B4-BE49-F238E27FC236}">
                <a16:creationId xmlns:a16="http://schemas.microsoft.com/office/drawing/2014/main" id="{20601813-4CC8-8955-29D1-C411E2675005}"/>
              </a:ext>
            </a:extLst>
          </p:cNvPr>
          <p:cNvSpPr txBox="1"/>
          <p:nvPr/>
        </p:nvSpPr>
        <p:spPr>
          <a:xfrm>
            <a:off x="4410899" y="4852427"/>
            <a:ext cx="3325887" cy="553998"/>
          </a:xfrm>
          <a:prstGeom prst="rect">
            <a:avLst/>
          </a:prstGeom>
          <a:noFill/>
          <a:ln w="12700">
            <a:no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sv-SE" sz="1200">
                <a:solidFill>
                  <a:srgbClr val="EAF4FF"/>
                </a:solidFill>
              </a:rPr>
              <a:t>Early Stopping stoppade efter:</a:t>
            </a:r>
            <a:endParaRPr lang="sv-SE" sz="1200">
              <a:solidFill>
                <a:srgbClr val="008CFF"/>
              </a:solidFill>
            </a:endParaRPr>
          </a:p>
          <a:p>
            <a:endParaRPr lang="sv-SE" b="1">
              <a:solidFill>
                <a:srgbClr val="008CFF"/>
              </a:solidFill>
            </a:endParaRPr>
          </a:p>
        </p:txBody>
      </p:sp>
      <p:sp>
        <p:nvSpPr>
          <p:cNvPr id="9" name="textruta 8">
            <a:extLst>
              <a:ext uri="{FF2B5EF4-FFF2-40B4-BE49-F238E27FC236}">
                <a16:creationId xmlns:a16="http://schemas.microsoft.com/office/drawing/2014/main" id="{DAD6D897-F546-42F5-C456-FB81B08CEE17}"/>
              </a:ext>
            </a:extLst>
          </p:cNvPr>
          <p:cNvSpPr txBox="1"/>
          <p:nvPr/>
        </p:nvSpPr>
        <p:spPr>
          <a:xfrm>
            <a:off x="8138269" y="4851258"/>
            <a:ext cx="3567935" cy="553998"/>
          </a:xfrm>
          <a:prstGeom prst="rect">
            <a:avLst/>
          </a:prstGeom>
          <a:noFill/>
          <a:ln w="12700">
            <a:no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sv-SE" sz="1200">
                <a:solidFill>
                  <a:srgbClr val="EAF4FF"/>
                </a:solidFill>
              </a:rPr>
              <a:t>Antal epoker tränade:</a:t>
            </a:r>
            <a:endParaRPr lang="sv-SE" sz="1200">
              <a:solidFill>
                <a:srgbClr val="008CFF"/>
              </a:solidFill>
            </a:endParaRPr>
          </a:p>
          <a:p>
            <a:endParaRPr lang="sv-SE" b="1">
              <a:solidFill>
                <a:srgbClr val="008CFF"/>
              </a:solidFill>
            </a:endParaRPr>
          </a:p>
        </p:txBody>
      </p:sp>
      <p:sp>
        <p:nvSpPr>
          <p:cNvPr id="10" name="textruta 9">
            <a:extLst>
              <a:ext uri="{FF2B5EF4-FFF2-40B4-BE49-F238E27FC236}">
                <a16:creationId xmlns:a16="http://schemas.microsoft.com/office/drawing/2014/main" id="{144D7C28-F135-4106-8E21-4A0D75003769}"/>
              </a:ext>
            </a:extLst>
          </p:cNvPr>
          <p:cNvSpPr txBox="1"/>
          <p:nvPr/>
        </p:nvSpPr>
        <p:spPr>
          <a:xfrm>
            <a:off x="1129552" y="5100917"/>
            <a:ext cx="2743200" cy="307777"/>
          </a:xfrm>
          <a:prstGeom prst="rect">
            <a:avLst/>
          </a:prstGeom>
          <a:noFill/>
          <a:ln>
            <a:no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sv-SE" sz="1400">
                <a:solidFill>
                  <a:srgbClr val="008CFF"/>
                </a:solidFill>
                <a:ea typeface="+mn-lt"/>
                <a:cs typeface="+mn-lt"/>
              </a:rPr>
              <a:t>Epok 6 (0.2008)</a:t>
            </a:r>
            <a:endParaRPr lang="sv-SE" sz="1400">
              <a:solidFill>
                <a:srgbClr val="008CFF"/>
              </a:solidFill>
            </a:endParaRPr>
          </a:p>
        </p:txBody>
      </p:sp>
      <p:cxnSp>
        <p:nvCxnSpPr>
          <p:cNvPr id="12" name="Rak pilkoppling 11">
            <a:extLst>
              <a:ext uri="{FF2B5EF4-FFF2-40B4-BE49-F238E27FC236}">
                <a16:creationId xmlns:a16="http://schemas.microsoft.com/office/drawing/2014/main" id="{7320DF74-0715-A7A8-281C-D545A5571B00}"/>
              </a:ext>
            </a:extLst>
          </p:cNvPr>
          <p:cNvCxnSpPr/>
          <p:nvPr/>
        </p:nvCxnSpPr>
        <p:spPr>
          <a:xfrm flipH="1">
            <a:off x="3720351" y="4858868"/>
            <a:ext cx="17931" cy="546848"/>
          </a:xfrm>
          <a:prstGeom prst="straightConnector1">
            <a:avLst/>
          </a:prstGeom>
        </p:spPr>
        <p:style>
          <a:lnRef idx="2">
            <a:schemeClr val="accent1"/>
          </a:lnRef>
          <a:fillRef idx="0">
            <a:schemeClr val="accent1"/>
          </a:fillRef>
          <a:effectRef idx="1">
            <a:schemeClr val="accent1"/>
          </a:effectRef>
          <a:fontRef idx="minor">
            <a:schemeClr val="tx1"/>
          </a:fontRef>
        </p:style>
      </p:cxnSp>
      <p:cxnSp>
        <p:nvCxnSpPr>
          <p:cNvPr id="25" name="Rak pilkoppling 24">
            <a:extLst>
              <a:ext uri="{FF2B5EF4-FFF2-40B4-BE49-F238E27FC236}">
                <a16:creationId xmlns:a16="http://schemas.microsoft.com/office/drawing/2014/main" id="{4163CF43-ECD0-891E-F14C-1B8549A63A03}"/>
              </a:ext>
            </a:extLst>
          </p:cNvPr>
          <p:cNvCxnSpPr>
            <a:cxnSpLocks/>
          </p:cNvCxnSpPr>
          <p:nvPr/>
        </p:nvCxnSpPr>
        <p:spPr>
          <a:xfrm flipH="1">
            <a:off x="8130986" y="4858868"/>
            <a:ext cx="17931" cy="546848"/>
          </a:xfrm>
          <a:prstGeom prst="straightConnector1">
            <a:avLst/>
          </a:prstGeom>
        </p:spPr>
        <p:style>
          <a:lnRef idx="2">
            <a:schemeClr val="accent1"/>
          </a:lnRef>
          <a:fillRef idx="0">
            <a:schemeClr val="accent1"/>
          </a:fillRef>
          <a:effectRef idx="1">
            <a:schemeClr val="accent1"/>
          </a:effectRef>
          <a:fontRef idx="minor">
            <a:schemeClr val="tx1"/>
          </a:fontRef>
        </p:style>
      </p:cxnSp>
      <p:sp>
        <p:nvSpPr>
          <p:cNvPr id="31" name="textruta 30">
            <a:extLst>
              <a:ext uri="{FF2B5EF4-FFF2-40B4-BE49-F238E27FC236}">
                <a16:creationId xmlns:a16="http://schemas.microsoft.com/office/drawing/2014/main" id="{F90CD7B2-B23B-4963-7DA2-B7DFFE882F9D}"/>
              </a:ext>
            </a:extLst>
          </p:cNvPr>
          <p:cNvSpPr txBox="1"/>
          <p:nvPr/>
        </p:nvSpPr>
        <p:spPr>
          <a:xfrm>
            <a:off x="5540187" y="5100917"/>
            <a:ext cx="2743200" cy="307777"/>
          </a:xfrm>
          <a:prstGeom prst="rect">
            <a:avLst/>
          </a:prstGeom>
          <a:noFill/>
          <a:ln>
            <a:no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sv-SE" sz="1400">
                <a:solidFill>
                  <a:srgbClr val="008CFF"/>
                </a:solidFill>
              </a:rPr>
              <a:t>9 epoker</a:t>
            </a:r>
          </a:p>
        </p:txBody>
      </p:sp>
      <p:sp>
        <p:nvSpPr>
          <p:cNvPr id="37" name="textruta 36">
            <a:extLst>
              <a:ext uri="{FF2B5EF4-FFF2-40B4-BE49-F238E27FC236}">
                <a16:creationId xmlns:a16="http://schemas.microsoft.com/office/drawing/2014/main" id="{9FFCC5BB-F9E5-7664-6F11-1970A27760F5}"/>
              </a:ext>
            </a:extLst>
          </p:cNvPr>
          <p:cNvSpPr txBox="1"/>
          <p:nvPr/>
        </p:nvSpPr>
        <p:spPr>
          <a:xfrm>
            <a:off x="9341222" y="5100917"/>
            <a:ext cx="2743200" cy="307777"/>
          </a:xfrm>
          <a:prstGeom prst="rect">
            <a:avLst/>
          </a:prstGeom>
          <a:noFill/>
          <a:ln>
            <a:no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sv-SE" sz="1400">
                <a:solidFill>
                  <a:srgbClr val="008CFF"/>
                </a:solidFill>
              </a:rPr>
              <a:t>9 av 15</a:t>
            </a:r>
          </a:p>
        </p:txBody>
      </p:sp>
    </p:spTree>
    <p:extLst>
      <p:ext uri="{BB962C8B-B14F-4D97-AF65-F5344CB8AC3E}">
        <p14:creationId xmlns:p14="http://schemas.microsoft.com/office/powerpoint/2010/main" val="106718423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919E7D05-923A-2325-3E2F-6D9454800AFF}"/>
            </a:ext>
          </a:extLst>
        </p:cNvPr>
        <p:cNvGrpSpPr/>
        <p:nvPr/>
      </p:nvGrpSpPr>
      <p:grpSpPr>
        <a:xfrm>
          <a:off x="0" y="0"/>
          <a:ext cx="0" cy="0"/>
          <a:chOff x="0" y="0"/>
          <a:chExt cx="0" cy="0"/>
        </a:xfrm>
      </p:grpSpPr>
      <p:sp>
        <p:nvSpPr>
          <p:cNvPr id="15" name="Rektangel: rundade hörn 14">
            <a:extLst>
              <a:ext uri="{FF2B5EF4-FFF2-40B4-BE49-F238E27FC236}">
                <a16:creationId xmlns:a16="http://schemas.microsoft.com/office/drawing/2014/main" id="{24158248-A8C2-3A74-B72A-CDEFEB9E78FE}"/>
              </a:ext>
            </a:extLst>
          </p:cNvPr>
          <p:cNvSpPr/>
          <p:nvPr/>
        </p:nvSpPr>
        <p:spPr>
          <a:xfrm>
            <a:off x="347322" y="5408598"/>
            <a:ext cx="11370042" cy="283561"/>
          </a:xfrm>
          <a:prstGeom prst="roundRect">
            <a:avLst/>
          </a:prstGeom>
          <a:solidFill>
            <a:schemeClr val="tx2">
              <a:lumMod val="75000"/>
              <a:lumOff val="25000"/>
            </a:schemeClr>
          </a:solidFill>
          <a:ln w="6350">
            <a:solidFill>
              <a:srgbClr val="008C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4" name="Flödesschema: Sidbrytningskoppling 3">
            <a:extLst>
              <a:ext uri="{FF2B5EF4-FFF2-40B4-BE49-F238E27FC236}">
                <a16:creationId xmlns:a16="http://schemas.microsoft.com/office/drawing/2014/main" id="{8967EB50-7D1C-9ADE-EA16-6B8F8DDA4908}"/>
              </a:ext>
            </a:extLst>
          </p:cNvPr>
          <p:cNvSpPr/>
          <p:nvPr/>
        </p:nvSpPr>
        <p:spPr>
          <a:xfrm>
            <a:off x="206721" y="157832"/>
            <a:ext cx="494335" cy="695026"/>
          </a:xfrm>
          <a:prstGeom prst="flowChartOffpageConnector">
            <a:avLst/>
          </a:prstGeom>
          <a:solidFill>
            <a:srgbClr val="008CFF"/>
          </a:solidFill>
          <a:ln>
            <a:solidFill>
              <a:srgbClr val="4472C4"/>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sv-SE" sz="3600" b="1"/>
              <a:t>9</a:t>
            </a:r>
          </a:p>
        </p:txBody>
      </p:sp>
      <p:sp>
        <p:nvSpPr>
          <p:cNvPr id="6" name="textruta 5">
            <a:extLst>
              <a:ext uri="{FF2B5EF4-FFF2-40B4-BE49-F238E27FC236}">
                <a16:creationId xmlns:a16="http://schemas.microsoft.com/office/drawing/2014/main" id="{B32A0E4B-98AD-B551-B503-6BC0893A4307}"/>
              </a:ext>
            </a:extLst>
          </p:cNvPr>
          <p:cNvSpPr txBox="1"/>
          <p:nvPr/>
        </p:nvSpPr>
        <p:spPr>
          <a:xfrm>
            <a:off x="947351" y="157891"/>
            <a:ext cx="5118440"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sv-SE" sz="2800" b="1">
                <a:solidFill>
                  <a:srgbClr val="FFFFFF"/>
                </a:solidFill>
                <a:latin typeface="Aptos"/>
              </a:rPr>
              <a:t>Resultat och modellanalys</a:t>
            </a:r>
            <a:endParaRPr lang="sv-SE" b="1">
              <a:latin typeface="Aptos"/>
            </a:endParaRPr>
          </a:p>
        </p:txBody>
      </p:sp>
      <p:sp>
        <p:nvSpPr>
          <p:cNvPr id="17" name="Rektangel: rundade hörn 16">
            <a:extLst>
              <a:ext uri="{FF2B5EF4-FFF2-40B4-BE49-F238E27FC236}">
                <a16:creationId xmlns:a16="http://schemas.microsoft.com/office/drawing/2014/main" id="{27A13599-D609-F602-4161-18EDD0004E1B}"/>
              </a:ext>
            </a:extLst>
          </p:cNvPr>
          <p:cNvSpPr/>
          <p:nvPr/>
        </p:nvSpPr>
        <p:spPr>
          <a:xfrm>
            <a:off x="338359" y="6000270"/>
            <a:ext cx="11370041" cy="552501"/>
          </a:xfrm>
          <a:prstGeom prst="roundRect">
            <a:avLst/>
          </a:prstGeom>
          <a:noFill/>
          <a:ln w="6350">
            <a:solidFill>
              <a:srgbClr val="008C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26" name="textruta 25">
            <a:extLst>
              <a:ext uri="{FF2B5EF4-FFF2-40B4-BE49-F238E27FC236}">
                <a16:creationId xmlns:a16="http://schemas.microsoft.com/office/drawing/2014/main" id="{D1E274CD-464E-5BCF-8CEB-6332E932DF8F}"/>
              </a:ext>
            </a:extLst>
          </p:cNvPr>
          <p:cNvSpPr txBox="1"/>
          <p:nvPr/>
        </p:nvSpPr>
        <p:spPr>
          <a:xfrm>
            <a:off x="449280" y="5729802"/>
            <a:ext cx="1712241" cy="571926"/>
          </a:xfrm>
          <a:prstGeom prst="rect">
            <a:avLst/>
          </a:prstGeom>
          <a:noFill/>
          <a:ln w="12700">
            <a:no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28600" indent="-228600" algn="ctr">
              <a:buAutoNum type="arabicPeriod"/>
            </a:pPr>
            <a:r>
              <a:rPr lang="sv-SE" sz="1200">
                <a:solidFill>
                  <a:srgbClr val="EAF4FF"/>
                </a:solidFill>
              </a:rPr>
              <a:t>Dropout 0.2</a:t>
            </a:r>
          </a:p>
          <a:p>
            <a:endParaRPr lang="sv-SE" b="1">
              <a:solidFill>
                <a:srgbClr val="008CFF"/>
              </a:solidFill>
            </a:endParaRPr>
          </a:p>
        </p:txBody>
      </p:sp>
      <p:sp>
        <p:nvSpPr>
          <p:cNvPr id="8" name="textruta 7">
            <a:extLst>
              <a:ext uri="{FF2B5EF4-FFF2-40B4-BE49-F238E27FC236}">
                <a16:creationId xmlns:a16="http://schemas.microsoft.com/office/drawing/2014/main" id="{3671ED8E-EE48-9409-6FCE-AD1664FAB3F1}"/>
              </a:ext>
            </a:extLst>
          </p:cNvPr>
          <p:cNvSpPr txBox="1"/>
          <p:nvPr/>
        </p:nvSpPr>
        <p:spPr>
          <a:xfrm>
            <a:off x="4079205" y="5408239"/>
            <a:ext cx="3325887" cy="553998"/>
          </a:xfrm>
          <a:prstGeom prst="rect">
            <a:avLst/>
          </a:prstGeom>
          <a:noFill/>
          <a:ln w="12700">
            <a:no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sv-SE" sz="1200" b="1">
                <a:solidFill>
                  <a:srgbClr val="EAF4FF"/>
                </a:solidFill>
              </a:rPr>
              <a:t>Modelljämförelse - Test Accuracy</a:t>
            </a:r>
            <a:endParaRPr lang="sv-SE" sz="1200" b="1">
              <a:solidFill>
                <a:srgbClr val="008CFF"/>
              </a:solidFill>
            </a:endParaRPr>
          </a:p>
          <a:p>
            <a:endParaRPr lang="sv-SE" b="1">
              <a:solidFill>
                <a:srgbClr val="008CFF"/>
              </a:solidFill>
            </a:endParaRPr>
          </a:p>
        </p:txBody>
      </p:sp>
      <p:sp>
        <p:nvSpPr>
          <p:cNvPr id="10" name="textruta 9">
            <a:extLst>
              <a:ext uri="{FF2B5EF4-FFF2-40B4-BE49-F238E27FC236}">
                <a16:creationId xmlns:a16="http://schemas.microsoft.com/office/drawing/2014/main" id="{B3D90BFB-BDD7-A89C-BFEB-74216248E48A}"/>
              </a:ext>
            </a:extLst>
          </p:cNvPr>
          <p:cNvSpPr txBox="1"/>
          <p:nvPr/>
        </p:nvSpPr>
        <p:spPr>
          <a:xfrm>
            <a:off x="744070" y="6096000"/>
            <a:ext cx="1129553" cy="369332"/>
          </a:xfrm>
          <a:prstGeom prst="rect">
            <a:avLst/>
          </a:prstGeom>
          <a:noFill/>
          <a:ln>
            <a:no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sv-SE">
                <a:solidFill>
                  <a:srgbClr val="008CFF"/>
                </a:solidFill>
                <a:ea typeface="+mn-lt"/>
                <a:cs typeface="+mn-lt"/>
              </a:rPr>
              <a:t>≈ 92.0 %</a:t>
            </a:r>
            <a:endParaRPr lang="sv-SE">
              <a:solidFill>
                <a:srgbClr val="008CFF"/>
              </a:solidFill>
            </a:endParaRPr>
          </a:p>
        </p:txBody>
      </p:sp>
      <p:pic>
        <p:nvPicPr>
          <p:cNvPr id="5" name="Bildobjekt 4" descr="En bild som visar text, skärmbild, diagram, kvadrat">
            <a:extLst>
              <a:ext uri="{FF2B5EF4-FFF2-40B4-BE49-F238E27FC236}">
                <a16:creationId xmlns:a16="http://schemas.microsoft.com/office/drawing/2014/main" id="{CC5D95A0-3E08-9285-DF80-20166CC87F4B}"/>
              </a:ext>
            </a:extLst>
          </p:cNvPr>
          <p:cNvPicPr>
            <a:picLocks noChangeAspect="1"/>
          </p:cNvPicPr>
          <p:nvPr/>
        </p:nvPicPr>
        <p:blipFill>
          <a:blip r:embed="rId2"/>
          <a:stretch>
            <a:fillRect/>
          </a:stretch>
        </p:blipFill>
        <p:spPr>
          <a:xfrm>
            <a:off x="369830" y="1201270"/>
            <a:ext cx="5481845" cy="3702426"/>
          </a:xfrm>
          <a:prstGeom prst="rect">
            <a:avLst/>
          </a:prstGeom>
        </p:spPr>
      </p:pic>
      <p:sp>
        <p:nvSpPr>
          <p:cNvPr id="13" name="Rektangel: rundade hörn 12">
            <a:extLst>
              <a:ext uri="{FF2B5EF4-FFF2-40B4-BE49-F238E27FC236}">
                <a16:creationId xmlns:a16="http://schemas.microsoft.com/office/drawing/2014/main" id="{40864C0A-0938-F95C-ED62-54EC54DC17AD}"/>
              </a:ext>
            </a:extLst>
          </p:cNvPr>
          <p:cNvSpPr/>
          <p:nvPr/>
        </p:nvSpPr>
        <p:spPr>
          <a:xfrm>
            <a:off x="338358" y="5695469"/>
            <a:ext cx="11370041" cy="301490"/>
          </a:xfrm>
          <a:prstGeom prst="roundRect">
            <a:avLst/>
          </a:prstGeom>
          <a:noFill/>
          <a:ln w="6350">
            <a:solidFill>
              <a:srgbClr val="008C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cxnSp>
        <p:nvCxnSpPr>
          <p:cNvPr id="19" name="Rak pilkoppling 18">
            <a:extLst>
              <a:ext uri="{FF2B5EF4-FFF2-40B4-BE49-F238E27FC236}">
                <a16:creationId xmlns:a16="http://schemas.microsoft.com/office/drawing/2014/main" id="{975FFA3C-9D7A-7517-EB25-6963E1AC24B0}"/>
              </a:ext>
            </a:extLst>
          </p:cNvPr>
          <p:cNvCxnSpPr>
            <a:cxnSpLocks/>
          </p:cNvCxnSpPr>
          <p:nvPr/>
        </p:nvCxnSpPr>
        <p:spPr>
          <a:xfrm flipH="1">
            <a:off x="9807385" y="5629833"/>
            <a:ext cx="8966" cy="923364"/>
          </a:xfrm>
          <a:prstGeom prst="straightConnector1">
            <a:avLst/>
          </a:prstGeom>
        </p:spPr>
        <p:style>
          <a:lnRef idx="2">
            <a:schemeClr val="accent1"/>
          </a:lnRef>
          <a:fillRef idx="0">
            <a:schemeClr val="accent1"/>
          </a:fillRef>
          <a:effectRef idx="1">
            <a:schemeClr val="accent1"/>
          </a:effectRef>
          <a:fontRef idx="minor">
            <a:schemeClr val="tx1"/>
          </a:fontRef>
        </p:style>
      </p:cxnSp>
      <p:sp>
        <p:nvSpPr>
          <p:cNvPr id="27" name="textruta 26">
            <a:extLst>
              <a:ext uri="{FF2B5EF4-FFF2-40B4-BE49-F238E27FC236}">
                <a16:creationId xmlns:a16="http://schemas.microsoft.com/office/drawing/2014/main" id="{2E9AFB8B-D9D2-336B-4C3B-C8F2779F8FEC}"/>
              </a:ext>
            </a:extLst>
          </p:cNvPr>
          <p:cNvSpPr txBox="1"/>
          <p:nvPr/>
        </p:nvSpPr>
        <p:spPr>
          <a:xfrm>
            <a:off x="2331869" y="5738764"/>
            <a:ext cx="1748100" cy="553998"/>
          </a:xfrm>
          <a:prstGeom prst="rect">
            <a:avLst/>
          </a:prstGeom>
          <a:noFill/>
          <a:ln w="12700">
            <a:no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sv-SE" sz="1200">
                <a:solidFill>
                  <a:srgbClr val="EAF4FF"/>
                </a:solidFill>
              </a:rPr>
              <a:t>2. Early Stopping</a:t>
            </a:r>
          </a:p>
          <a:p>
            <a:endParaRPr lang="sv-SE" b="1">
              <a:solidFill>
                <a:srgbClr val="008CFF"/>
              </a:solidFill>
            </a:endParaRPr>
          </a:p>
        </p:txBody>
      </p:sp>
      <p:sp>
        <p:nvSpPr>
          <p:cNvPr id="28" name="textruta 27">
            <a:extLst>
              <a:ext uri="{FF2B5EF4-FFF2-40B4-BE49-F238E27FC236}">
                <a16:creationId xmlns:a16="http://schemas.microsoft.com/office/drawing/2014/main" id="{AFA99F83-AAC6-4106-564F-380459D04BCB}"/>
              </a:ext>
            </a:extLst>
          </p:cNvPr>
          <p:cNvSpPr txBox="1"/>
          <p:nvPr/>
        </p:nvSpPr>
        <p:spPr>
          <a:xfrm>
            <a:off x="4187562" y="5747731"/>
            <a:ext cx="1828783" cy="553998"/>
          </a:xfrm>
          <a:prstGeom prst="rect">
            <a:avLst/>
          </a:prstGeom>
          <a:noFill/>
          <a:ln w="12700">
            <a:no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sv-SE" sz="1200">
                <a:solidFill>
                  <a:srgbClr val="EAF4FF"/>
                </a:solidFill>
              </a:rPr>
              <a:t>3. L1 + L2</a:t>
            </a:r>
          </a:p>
          <a:p>
            <a:endParaRPr lang="sv-SE" b="1">
              <a:solidFill>
                <a:srgbClr val="008CFF"/>
              </a:solidFill>
            </a:endParaRPr>
          </a:p>
        </p:txBody>
      </p:sp>
      <p:sp>
        <p:nvSpPr>
          <p:cNvPr id="30" name="textruta 29">
            <a:extLst>
              <a:ext uri="{FF2B5EF4-FFF2-40B4-BE49-F238E27FC236}">
                <a16:creationId xmlns:a16="http://schemas.microsoft.com/office/drawing/2014/main" id="{433B7319-EB26-18E5-676F-22CDC963897C}"/>
              </a:ext>
            </a:extLst>
          </p:cNvPr>
          <p:cNvSpPr txBox="1"/>
          <p:nvPr/>
        </p:nvSpPr>
        <p:spPr>
          <a:xfrm>
            <a:off x="7755515" y="5738764"/>
            <a:ext cx="2232194" cy="553998"/>
          </a:xfrm>
          <a:prstGeom prst="rect">
            <a:avLst/>
          </a:prstGeom>
          <a:noFill/>
          <a:ln w="12700">
            <a:no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sv-SE" sz="1200">
                <a:solidFill>
                  <a:srgbClr val="EAF4FF"/>
                </a:solidFill>
              </a:rPr>
              <a:t>5. Dropout 0.5</a:t>
            </a:r>
          </a:p>
          <a:p>
            <a:endParaRPr lang="sv-SE" b="1">
              <a:solidFill>
                <a:srgbClr val="008CFF"/>
              </a:solidFill>
            </a:endParaRPr>
          </a:p>
        </p:txBody>
      </p:sp>
      <p:sp>
        <p:nvSpPr>
          <p:cNvPr id="32" name="textruta 31">
            <a:extLst>
              <a:ext uri="{FF2B5EF4-FFF2-40B4-BE49-F238E27FC236}">
                <a16:creationId xmlns:a16="http://schemas.microsoft.com/office/drawing/2014/main" id="{65CF48AB-B4C3-688A-79AB-5128DD1E0033}"/>
              </a:ext>
            </a:extLst>
          </p:cNvPr>
          <p:cNvSpPr txBox="1"/>
          <p:nvPr/>
        </p:nvSpPr>
        <p:spPr>
          <a:xfrm>
            <a:off x="9673962" y="5693941"/>
            <a:ext cx="2232194" cy="553998"/>
          </a:xfrm>
          <a:prstGeom prst="rect">
            <a:avLst/>
          </a:prstGeom>
          <a:noFill/>
          <a:ln w="12700">
            <a:no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sv-SE" sz="1200">
                <a:solidFill>
                  <a:srgbClr val="EAF4FF"/>
                </a:solidFill>
              </a:rPr>
              <a:t>6. L2-regularisering</a:t>
            </a:r>
          </a:p>
          <a:p>
            <a:endParaRPr lang="sv-SE" b="1">
              <a:solidFill>
                <a:srgbClr val="008CFF"/>
              </a:solidFill>
            </a:endParaRPr>
          </a:p>
        </p:txBody>
      </p:sp>
      <p:sp>
        <p:nvSpPr>
          <p:cNvPr id="35" name="textruta 34">
            <a:extLst>
              <a:ext uri="{FF2B5EF4-FFF2-40B4-BE49-F238E27FC236}">
                <a16:creationId xmlns:a16="http://schemas.microsoft.com/office/drawing/2014/main" id="{9F7C11BF-5E33-8069-3A22-4D85CBA52C1B}"/>
              </a:ext>
            </a:extLst>
          </p:cNvPr>
          <p:cNvSpPr txBox="1"/>
          <p:nvPr/>
        </p:nvSpPr>
        <p:spPr>
          <a:xfrm>
            <a:off x="5756386" y="5711871"/>
            <a:ext cx="2232194" cy="553998"/>
          </a:xfrm>
          <a:prstGeom prst="rect">
            <a:avLst/>
          </a:prstGeom>
          <a:noFill/>
          <a:ln w="12700">
            <a:no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sv-SE" sz="1200">
                <a:solidFill>
                  <a:srgbClr val="EAF4FF"/>
                </a:solidFill>
              </a:rPr>
              <a:t>4. Baseline</a:t>
            </a:r>
          </a:p>
          <a:p>
            <a:endParaRPr lang="sv-SE" b="1">
              <a:solidFill>
                <a:srgbClr val="008CFF"/>
              </a:solidFill>
            </a:endParaRPr>
          </a:p>
        </p:txBody>
      </p:sp>
      <p:sp>
        <p:nvSpPr>
          <p:cNvPr id="39" name="textruta 38">
            <a:extLst>
              <a:ext uri="{FF2B5EF4-FFF2-40B4-BE49-F238E27FC236}">
                <a16:creationId xmlns:a16="http://schemas.microsoft.com/office/drawing/2014/main" id="{C0307649-0F22-8411-8D91-0E322A1EDFA2}"/>
              </a:ext>
            </a:extLst>
          </p:cNvPr>
          <p:cNvSpPr txBox="1"/>
          <p:nvPr/>
        </p:nvSpPr>
        <p:spPr>
          <a:xfrm>
            <a:off x="2545976" y="6087035"/>
            <a:ext cx="1129553" cy="369332"/>
          </a:xfrm>
          <a:prstGeom prst="rect">
            <a:avLst/>
          </a:prstGeom>
          <a:noFill/>
          <a:ln>
            <a:no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sv-SE">
                <a:solidFill>
                  <a:srgbClr val="008CFF"/>
                </a:solidFill>
                <a:ea typeface="+mn-lt"/>
                <a:cs typeface="+mn-lt"/>
              </a:rPr>
              <a:t>≈ 91.7 %</a:t>
            </a:r>
            <a:endParaRPr lang="sv-SE">
              <a:solidFill>
                <a:srgbClr val="008CFF"/>
              </a:solidFill>
            </a:endParaRPr>
          </a:p>
        </p:txBody>
      </p:sp>
      <p:sp>
        <p:nvSpPr>
          <p:cNvPr id="41" name="textruta 40">
            <a:extLst>
              <a:ext uri="{FF2B5EF4-FFF2-40B4-BE49-F238E27FC236}">
                <a16:creationId xmlns:a16="http://schemas.microsoft.com/office/drawing/2014/main" id="{C352F1BD-FBF7-B7CD-FFFD-510131C2CED3}"/>
              </a:ext>
            </a:extLst>
          </p:cNvPr>
          <p:cNvSpPr txBox="1"/>
          <p:nvPr/>
        </p:nvSpPr>
        <p:spPr>
          <a:xfrm>
            <a:off x="4536141" y="6095999"/>
            <a:ext cx="1129553" cy="369332"/>
          </a:xfrm>
          <a:prstGeom prst="rect">
            <a:avLst/>
          </a:prstGeom>
          <a:noFill/>
          <a:ln>
            <a:no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sv-SE">
                <a:solidFill>
                  <a:srgbClr val="008CFF"/>
                </a:solidFill>
                <a:ea typeface="+mn-lt"/>
                <a:cs typeface="+mn-lt"/>
              </a:rPr>
              <a:t>≈ 91.5 %</a:t>
            </a:r>
            <a:endParaRPr lang="sv-SE">
              <a:solidFill>
                <a:srgbClr val="008CFF"/>
              </a:solidFill>
            </a:endParaRPr>
          </a:p>
        </p:txBody>
      </p:sp>
      <p:sp>
        <p:nvSpPr>
          <p:cNvPr id="42" name="textruta 41">
            <a:extLst>
              <a:ext uri="{FF2B5EF4-FFF2-40B4-BE49-F238E27FC236}">
                <a16:creationId xmlns:a16="http://schemas.microsoft.com/office/drawing/2014/main" id="{C6776EFC-3C99-081F-F2A4-625F2FF36CB1}"/>
              </a:ext>
            </a:extLst>
          </p:cNvPr>
          <p:cNvSpPr txBox="1"/>
          <p:nvPr/>
        </p:nvSpPr>
        <p:spPr>
          <a:xfrm>
            <a:off x="6481481" y="6113929"/>
            <a:ext cx="1129553" cy="369332"/>
          </a:xfrm>
          <a:prstGeom prst="rect">
            <a:avLst/>
          </a:prstGeom>
          <a:noFill/>
          <a:ln>
            <a:no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sv-SE">
                <a:solidFill>
                  <a:srgbClr val="008CFF"/>
                </a:solidFill>
                <a:ea typeface="+mn-lt"/>
                <a:cs typeface="+mn-lt"/>
              </a:rPr>
              <a:t>≈ 91.3 %</a:t>
            </a:r>
            <a:endParaRPr lang="sv-SE">
              <a:solidFill>
                <a:srgbClr val="008CFF"/>
              </a:solidFill>
            </a:endParaRPr>
          </a:p>
        </p:txBody>
      </p:sp>
      <p:sp>
        <p:nvSpPr>
          <p:cNvPr id="43" name="textruta 42">
            <a:extLst>
              <a:ext uri="{FF2B5EF4-FFF2-40B4-BE49-F238E27FC236}">
                <a16:creationId xmlns:a16="http://schemas.microsoft.com/office/drawing/2014/main" id="{89D0B989-7459-35C8-B244-5AD9E8E0CEB7}"/>
              </a:ext>
            </a:extLst>
          </p:cNvPr>
          <p:cNvSpPr txBox="1"/>
          <p:nvPr/>
        </p:nvSpPr>
        <p:spPr>
          <a:xfrm>
            <a:off x="8390963" y="6087035"/>
            <a:ext cx="1129553" cy="369332"/>
          </a:xfrm>
          <a:prstGeom prst="rect">
            <a:avLst/>
          </a:prstGeom>
          <a:noFill/>
          <a:ln>
            <a:no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sv-SE">
                <a:solidFill>
                  <a:srgbClr val="008CFF"/>
                </a:solidFill>
                <a:ea typeface="+mn-lt"/>
                <a:cs typeface="+mn-lt"/>
              </a:rPr>
              <a:t>≈ 90.4 %</a:t>
            </a:r>
            <a:endParaRPr lang="sv-SE">
              <a:solidFill>
                <a:srgbClr val="008CFF"/>
              </a:solidFill>
            </a:endParaRPr>
          </a:p>
        </p:txBody>
      </p:sp>
      <p:sp>
        <p:nvSpPr>
          <p:cNvPr id="44" name="textruta 43">
            <a:extLst>
              <a:ext uri="{FF2B5EF4-FFF2-40B4-BE49-F238E27FC236}">
                <a16:creationId xmlns:a16="http://schemas.microsoft.com/office/drawing/2014/main" id="{1CA39F70-9121-D496-D379-9C0FEE17F9A5}"/>
              </a:ext>
            </a:extLst>
          </p:cNvPr>
          <p:cNvSpPr txBox="1"/>
          <p:nvPr/>
        </p:nvSpPr>
        <p:spPr>
          <a:xfrm>
            <a:off x="10139081" y="6087034"/>
            <a:ext cx="1129553" cy="369332"/>
          </a:xfrm>
          <a:prstGeom prst="rect">
            <a:avLst/>
          </a:prstGeom>
          <a:noFill/>
          <a:ln>
            <a:no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sv-SE">
                <a:solidFill>
                  <a:srgbClr val="008CFF"/>
                </a:solidFill>
                <a:ea typeface="+mn-lt"/>
                <a:cs typeface="+mn-lt"/>
              </a:rPr>
              <a:t>≈ 89.0 %</a:t>
            </a:r>
            <a:endParaRPr lang="sv-SE">
              <a:solidFill>
                <a:srgbClr val="008CFF"/>
              </a:solidFill>
            </a:endParaRPr>
          </a:p>
        </p:txBody>
      </p:sp>
      <p:cxnSp>
        <p:nvCxnSpPr>
          <p:cNvPr id="46" name="Rak pilkoppling 45">
            <a:extLst>
              <a:ext uri="{FF2B5EF4-FFF2-40B4-BE49-F238E27FC236}">
                <a16:creationId xmlns:a16="http://schemas.microsoft.com/office/drawing/2014/main" id="{A0260A24-8F22-3AB8-3957-1CA3127186F0}"/>
              </a:ext>
            </a:extLst>
          </p:cNvPr>
          <p:cNvCxnSpPr>
            <a:cxnSpLocks/>
          </p:cNvCxnSpPr>
          <p:nvPr/>
        </p:nvCxnSpPr>
        <p:spPr>
          <a:xfrm flipH="1">
            <a:off x="7915831" y="5638798"/>
            <a:ext cx="8966" cy="923364"/>
          </a:xfrm>
          <a:prstGeom prst="straightConnector1">
            <a:avLst/>
          </a:prstGeom>
        </p:spPr>
        <p:style>
          <a:lnRef idx="2">
            <a:schemeClr val="accent1"/>
          </a:lnRef>
          <a:fillRef idx="0">
            <a:schemeClr val="accent1"/>
          </a:fillRef>
          <a:effectRef idx="1">
            <a:schemeClr val="accent1"/>
          </a:effectRef>
          <a:fontRef idx="minor">
            <a:schemeClr val="tx1"/>
          </a:fontRef>
        </p:style>
      </p:cxnSp>
      <p:cxnSp>
        <p:nvCxnSpPr>
          <p:cNvPr id="47" name="Rak pilkoppling 46">
            <a:extLst>
              <a:ext uri="{FF2B5EF4-FFF2-40B4-BE49-F238E27FC236}">
                <a16:creationId xmlns:a16="http://schemas.microsoft.com/office/drawing/2014/main" id="{975FFA3C-9D7A-7517-EB25-6963E1AC24B0}"/>
              </a:ext>
            </a:extLst>
          </p:cNvPr>
          <p:cNvCxnSpPr>
            <a:cxnSpLocks/>
          </p:cNvCxnSpPr>
          <p:nvPr/>
        </p:nvCxnSpPr>
        <p:spPr>
          <a:xfrm flipH="1">
            <a:off x="2250138" y="5638798"/>
            <a:ext cx="8966" cy="923364"/>
          </a:xfrm>
          <a:prstGeom prst="straightConnector1">
            <a:avLst/>
          </a:prstGeom>
        </p:spPr>
        <p:style>
          <a:lnRef idx="2">
            <a:schemeClr val="accent1"/>
          </a:lnRef>
          <a:fillRef idx="0">
            <a:schemeClr val="accent1"/>
          </a:fillRef>
          <a:effectRef idx="1">
            <a:schemeClr val="accent1"/>
          </a:effectRef>
          <a:fontRef idx="minor">
            <a:schemeClr val="tx1"/>
          </a:fontRef>
        </p:style>
      </p:cxnSp>
      <p:cxnSp>
        <p:nvCxnSpPr>
          <p:cNvPr id="48" name="Rak pilkoppling 47">
            <a:extLst>
              <a:ext uri="{FF2B5EF4-FFF2-40B4-BE49-F238E27FC236}">
                <a16:creationId xmlns:a16="http://schemas.microsoft.com/office/drawing/2014/main" id="{4DE83478-39B1-F6FD-E2CB-F6EDA6E06CB3}"/>
              </a:ext>
            </a:extLst>
          </p:cNvPr>
          <p:cNvCxnSpPr>
            <a:cxnSpLocks/>
          </p:cNvCxnSpPr>
          <p:nvPr/>
        </p:nvCxnSpPr>
        <p:spPr>
          <a:xfrm flipH="1">
            <a:off x="4186515" y="5638798"/>
            <a:ext cx="8966" cy="923364"/>
          </a:xfrm>
          <a:prstGeom prst="straightConnector1">
            <a:avLst/>
          </a:prstGeom>
        </p:spPr>
        <p:style>
          <a:lnRef idx="2">
            <a:schemeClr val="accent1"/>
          </a:lnRef>
          <a:fillRef idx="0">
            <a:schemeClr val="accent1"/>
          </a:fillRef>
          <a:effectRef idx="1">
            <a:schemeClr val="accent1"/>
          </a:effectRef>
          <a:fontRef idx="minor">
            <a:schemeClr val="tx1"/>
          </a:fontRef>
        </p:style>
      </p:cxnSp>
      <p:cxnSp>
        <p:nvCxnSpPr>
          <p:cNvPr id="49" name="Rak pilkoppling 48">
            <a:extLst>
              <a:ext uri="{FF2B5EF4-FFF2-40B4-BE49-F238E27FC236}">
                <a16:creationId xmlns:a16="http://schemas.microsoft.com/office/drawing/2014/main" id="{22A1A1C8-8344-CCB8-FBAB-D7390207D815}"/>
              </a:ext>
            </a:extLst>
          </p:cNvPr>
          <p:cNvCxnSpPr>
            <a:cxnSpLocks/>
          </p:cNvCxnSpPr>
          <p:nvPr/>
        </p:nvCxnSpPr>
        <p:spPr>
          <a:xfrm flipH="1">
            <a:off x="6015314" y="5665692"/>
            <a:ext cx="8966" cy="923364"/>
          </a:xfrm>
          <a:prstGeom prst="straightConnector1">
            <a:avLst/>
          </a:prstGeom>
        </p:spPr>
        <p:style>
          <a:lnRef idx="2">
            <a:schemeClr val="accent1"/>
          </a:lnRef>
          <a:fillRef idx="0">
            <a:schemeClr val="accent1"/>
          </a:fillRef>
          <a:effectRef idx="1">
            <a:schemeClr val="accent1"/>
          </a:effectRef>
          <a:fontRef idx="minor">
            <a:schemeClr val="tx1"/>
          </a:fontRef>
        </p:style>
      </p:cxnSp>
      <p:pic>
        <p:nvPicPr>
          <p:cNvPr id="51" name="Bildobjekt 50" descr="En bild som visar text, klädsel, klänning, Mönster&#10;&#10;AI-genererat innehåll kan vara felaktigt.">
            <a:extLst>
              <a:ext uri="{FF2B5EF4-FFF2-40B4-BE49-F238E27FC236}">
                <a16:creationId xmlns:a16="http://schemas.microsoft.com/office/drawing/2014/main" id="{0EE2CC71-91D2-BD1B-2803-F25544B39D77}"/>
              </a:ext>
            </a:extLst>
          </p:cNvPr>
          <p:cNvPicPr>
            <a:picLocks noChangeAspect="1"/>
          </p:cNvPicPr>
          <p:nvPr/>
        </p:nvPicPr>
        <p:blipFill>
          <a:blip r:embed="rId3"/>
          <a:stretch>
            <a:fillRect/>
          </a:stretch>
        </p:blipFill>
        <p:spPr>
          <a:xfrm>
            <a:off x="6393895" y="1272987"/>
            <a:ext cx="5320915" cy="3926541"/>
          </a:xfrm>
          <a:prstGeom prst="rect">
            <a:avLst/>
          </a:prstGeom>
        </p:spPr>
      </p:pic>
      <p:sp>
        <p:nvSpPr>
          <p:cNvPr id="57" name="textruta 56">
            <a:extLst>
              <a:ext uri="{FF2B5EF4-FFF2-40B4-BE49-F238E27FC236}">
                <a16:creationId xmlns:a16="http://schemas.microsoft.com/office/drawing/2014/main" id="{6412FC8D-48EF-FD8D-B5C3-B5C4C9142843}"/>
              </a:ext>
            </a:extLst>
          </p:cNvPr>
          <p:cNvSpPr txBox="1"/>
          <p:nvPr/>
        </p:nvSpPr>
        <p:spPr>
          <a:xfrm>
            <a:off x="1246093" y="797857"/>
            <a:ext cx="3603812"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sv-SE" sz="2000">
                <a:solidFill>
                  <a:srgbClr val="FFFFFF"/>
                </a:solidFill>
                <a:ea typeface="+mn-lt"/>
                <a:cs typeface="+mn-lt"/>
              </a:rPr>
              <a:t>Confusion Matrix Dropout 0.2</a:t>
            </a:r>
            <a:endParaRPr lang="sv-SE" sz="2000">
              <a:solidFill>
                <a:srgbClr val="FFFFFF"/>
              </a:solidFill>
            </a:endParaRPr>
          </a:p>
        </p:txBody>
      </p:sp>
      <p:sp>
        <p:nvSpPr>
          <p:cNvPr id="58" name="textruta 57">
            <a:extLst>
              <a:ext uri="{FF2B5EF4-FFF2-40B4-BE49-F238E27FC236}">
                <a16:creationId xmlns:a16="http://schemas.microsoft.com/office/drawing/2014/main" id="{1BCD0245-779A-ED65-8C3A-8A683397A85A}"/>
              </a:ext>
            </a:extLst>
          </p:cNvPr>
          <p:cNvSpPr txBox="1"/>
          <p:nvPr/>
        </p:nvSpPr>
        <p:spPr>
          <a:xfrm>
            <a:off x="7162799" y="851645"/>
            <a:ext cx="3935506"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sv-SE" sz="2000">
                <a:solidFill>
                  <a:srgbClr val="FFFFFF"/>
                </a:solidFill>
                <a:ea typeface="+mn-lt"/>
                <a:cs typeface="+mn-lt"/>
              </a:rPr>
              <a:t>Prediction Examples (Dropout 0.2)</a:t>
            </a:r>
            <a:endParaRPr lang="sv-SE" sz="2000">
              <a:solidFill>
                <a:srgbClr val="FFFFFF"/>
              </a:solidFill>
            </a:endParaRPr>
          </a:p>
        </p:txBody>
      </p:sp>
    </p:spTree>
    <p:extLst>
      <p:ext uri="{BB962C8B-B14F-4D97-AF65-F5344CB8AC3E}">
        <p14:creationId xmlns:p14="http://schemas.microsoft.com/office/powerpoint/2010/main" val="44561367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1ECE194C-B0BA-EBDD-9B19-6BCCBB213BB8}"/>
            </a:ext>
          </a:extLst>
        </p:cNvPr>
        <p:cNvGrpSpPr/>
        <p:nvPr/>
      </p:nvGrpSpPr>
      <p:grpSpPr>
        <a:xfrm>
          <a:off x="0" y="0"/>
          <a:ext cx="0" cy="0"/>
          <a:chOff x="0" y="0"/>
          <a:chExt cx="0" cy="0"/>
        </a:xfrm>
      </p:grpSpPr>
      <p:sp>
        <p:nvSpPr>
          <p:cNvPr id="4" name="Flödesschema: Sidbrytningskoppling 3">
            <a:extLst>
              <a:ext uri="{FF2B5EF4-FFF2-40B4-BE49-F238E27FC236}">
                <a16:creationId xmlns:a16="http://schemas.microsoft.com/office/drawing/2014/main" id="{647CBA91-5553-AFC7-A869-EDAD1B0B6A4E}"/>
              </a:ext>
            </a:extLst>
          </p:cNvPr>
          <p:cNvSpPr/>
          <p:nvPr/>
        </p:nvSpPr>
        <p:spPr>
          <a:xfrm>
            <a:off x="206721" y="157832"/>
            <a:ext cx="741279" cy="645638"/>
          </a:xfrm>
          <a:prstGeom prst="flowChartOffpageConnector">
            <a:avLst/>
          </a:prstGeom>
          <a:solidFill>
            <a:srgbClr val="008CFF"/>
          </a:solidFill>
          <a:ln>
            <a:solidFill>
              <a:srgbClr val="4472C4"/>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sv-SE" sz="3600" b="1"/>
              <a:t>10</a:t>
            </a:r>
          </a:p>
        </p:txBody>
      </p:sp>
      <p:sp>
        <p:nvSpPr>
          <p:cNvPr id="6" name="textruta 5">
            <a:extLst>
              <a:ext uri="{FF2B5EF4-FFF2-40B4-BE49-F238E27FC236}">
                <a16:creationId xmlns:a16="http://schemas.microsoft.com/office/drawing/2014/main" id="{6AE13D36-6E8B-A9AD-0908-A09A7FB8DD53}"/>
              </a:ext>
            </a:extLst>
          </p:cNvPr>
          <p:cNvSpPr txBox="1"/>
          <p:nvPr/>
        </p:nvSpPr>
        <p:spPr>
          <a:xfrm>
            <a:off x="947351" y="157891"/>
            <a:ext cx="5118440"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sv-SE" sz="2800" b="1">
                <a:solidFill>
                  <a:srgbClr val="FFFFFF"/>
                </a:solidFill>
                <a:latin typeface="Aptos"/>
              </a:rPr>
              <a:t>Slutsats och framtid</a:t>
            </a:r>
            <a:endParaRPr lang="sv-SE" b="1">
              <a:latin typeface="Aptos"/>
            </a:endParaRPr>
          </a:p>
        </p:txBody>
      </p:sp>
      <p:sp>
        <p:nvSpPr>
          <p:cNvPr id="5" name="Rektangel: rundade hörn 4">
            <a:extLst>
              <a:ext uri="{FF2B5EF4-FFF2-40B4-BE49-F238E27FC236}">
                <a16:creationId xmlns:a16="http://schemas.microsoft.com/office/drawing/2014/main" id="{4DB56845-69D0-91F0-B14C-7A16E759E56B}"/>
              </a:ext>
            </a:extLst>
          </p:cNvPr>
          <p:cNvSpPr/>
          <p:nvPr/>
        </p:nvSpPr>
        <p:spPr>
          <a:xfrm>
            <a:off x="270149" y="954603"/>
            <a:ext cx="3233429" cy="871741"/>
          </a:xfrm>
          <a:prstGeom prst="roundRect">
            <a:avLst/>
          </a:prstGeom>
          <a:noFill/>
          <a:ln w="6350">
            <a:solidFill>
              <a:srgbClr val="008C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33" name="Rektangel: rundade hörn 32">
            <a:extLst>
              <a:ext uri="{FF2B5EF4-FFF2-40B4-BE49-F238E27FC236}">
                <a16:creationId xmlns:a16="http://schemas.microsoft.com/office/drawing/2014/main" id="{8F3A3ADE-E672-A122-4049-8124FAD79084}"/>
              </a:ext>
            </a:extLst>
          </p:cNvPr>
          <p:cNvSpPr/>
          <p:nvPr/>
        </p:nvSpPr>
        <p:spPr>
          <a:xfrm>
            <a:off x="351747" y="5676916"/>
            <a:ext cx="11485666" cy="1025428"/>
          </a:xfrm>
          <a:prstGeom prst="roundRect">
            <a:avLst/>
          </a:prstGeom>
          <a:noFill/>
          <a:ln w="6350">
            <a:solidFill>
              <a:srgbClr val="008C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34" name="textruta 33">
            <a:extLst>
              <a:ext uri="{FF2B5EF4-FFF2-40B4-BE49-F238E27FC236}">
                <a16:creationId xmlns:a16="http://schemas.microsoft.com/office/drawing/2014/main" id="{9F55E60E-F331-0A8E-F8E0-DE021086ECCB}"/>
              </a:ext>
            </a:extLst>
          </p:cNvPr>
          <p:cNvSpPr txBox="1"/>
          <p:nvPr/>
        </p:nvSpPr>
        <p:spPr>
          <a:xfrm>
            <a:off x="3522615" y="5779466"/>
            <a:ext cx="7986657" cy="1077218"/>
          </a:xfrm>
          <a:prstGeom prst="rect">
            <a:avLst/>
          </a:prstGeom>
          <a:noFill/>
          <a:ln w="12700">
            <a:no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sv-SE" sz="1200">
                <a:solidFill>
                  <a:srgbClr val="EAF4FF"/>
                </a:solidFill>
                <a:ea typeface="+mn-lt"/>
                <a:cs typeface="+mn-lt"/>
              </a:rPr>
              <a:t>Denna studie visade att regularisering hjälper modeller att generalisera bättre till ny data, men att regulariseringsstyrkan måste balanseras noggrant.</a:t>
            </a:r>
            <a:endParaRPr lang="sv-SE" sz="1200"/>
          </a:p>
          <a:p>
            <a:r>
              <a:rPr lang="sv-SE" sz="1200">
                <a:solidFill>
                  <a:srgbClr val="EAF4FF"/>
                </a:solidFill>
                <a:ea typeface="+mn-lt"/>
                <a:cs typeface="+mn-lt"/>
              </a:rPr>
              <a:t>För stark regularisering gav underfitting medan för svag regularisering ökade risken för overfitting.</a:t>
            </a:r>
            <a:endParaRPr lang="sv-SE" sz="1200">
              <a:ea typeface="+mn-lt"/>
              <a:cs typeface="+mn-lt"/>
            </a:endParaRPr>
          </a:p>
          <a:p>
            <a:r>
              <a:rPr lang="sv-SE" sz="1200">
                <a:solidFill>
                  <a:srgbClr val="EAF4FF"/>
                </a:solidFill>
                <a:ea typeface="+mn-lt"/>
                <a:cs typeface="+mn-lt"/>
              </a:rPr>
              <a:t>Våra resultat visade att Dropout 0.2 gav bäst balans mellan accuracy och generalisering.</a:t>
            </a:r>
            <a:endParaRPr lang="sv-SE" sz="1200">
              <a:ea typeface="+mn-lt"/>
              <a:cs typeface="+mn-lt"/>
            </a:endParaRPr>
          </a:p>
          <a:p>
            <a:endParaRPr lang="sv-SE" sz="1600" dirty="0">
              <a:solidFill>
                <a:srgbClr val="EAF4FF"/>
              </a:solidFill>
            </a:endParaRPr>
          </a:p>
        </p:txBody>
      </p:sp>
      <p:cxnSp>
        <p:nvCxnSpPr>
          <p:cNvPr id="36" name="Rak pilkoppling 35">
            <a:extLst>
              <a:ext uri="{FF2B5EF4-FFF2-40B4-BE49-F238E27FC236}">
                <a16:creationId xmlns:a16="http://schemas.microsoft.com/office/drawing/2014/main" id="{8F13E39A-FAB7-9E79-2AB8-8BBFA890241B}"/>
              </a:ext>
            </a:extLst>
          </p:cNvPr>
          <p:cNvCxnSpPr/>
          <p:nvPr/>
        </p:nvCxnSpPr>
        <p:spPr>
          <a:xfrm flipH="1">
            <a:off x="3329608" y="6038020"/>
            <a:ext cx="8282" cy="505239"/>
          </a:xfrm>
          <a:prstGeom prst="straightConnector1">
            <a:avLst/>
          </a:prstGeom>
        </p:spPr>
        <p:style>
          <a:lnRef idx="2">
            <a:schemeClr val="accent1"/>
          </a:lnRef>
          <a:fillRef idx="0">
            <a:schemeClr val="accent1"/>
          </a:fillRef>
          <a:effectRef idx="1">
            <a:schemeClr val="accent1"/>
          </a:effectRef>
          <a:fontRef idx="minor">
            <a:schemeClr val="tx1"/>
          </a:fontRef>
        </p:style>
      </p:cxnSp>
      <p:sp>
        <p:nvSpPr>
          <p:cNvPr id="40" name="textruta 39">
            <a:extLst>
              <a:ext uri="{FF2B5EF4-FFF2-40B4-BE49-F238E27FC236}">
                <a16:creationId xmlns:a16="http://schemas.microsoft.com/office/drawing/2014/main" id="{3265AAB1-0E47-249D-7E03-19D7BAA27BBF}"/>
              </a:ext>
            </a:extLst>
          </p:cNvPr>
          <p:cNvSpPr txBox="1"/>
          <p:nvPr/>
        </p:nvSpPr>
        <p:spPr>
          <a:xfrm>
            <a:off x="1228946" y="6119668"/>
            <a:ext cx="1821023" cy="338554"/>
          </a:xfrm>
          <a:prstGeom prst="rect">
            <a:avLst/>
          </a:prstGeom>
          <a:noFill/>
          <a:ln w="12700">
            <a:no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sv-SE" sz="1600" b="1">
                <a:solidFill>
                  <a:srgbClr val="008CFF"/>
                </a:solidFill>
              </a:rPr>
              <a:t>Sammanfattning</a:t>
            </a:r>
          </a:p>
        </p:txBody>
      </p:sp>
      <p:sp>
        <p:nvSpPr>
          <p:cNvPr id="16" name="textruta 15">
            <a:extLst>
              <a:ext uri="{FF2B5EF4-FFF2-40B4-BE49-F238E27FC236}">
                <a16:creationId xmlns:a16="http://schemas.microsoft.com/office/drawing/2014/main" id="{A0481D79-CF79-95EB-C538-1609AFE8F10F}"/>
              </a:ext>
            </a:extLst>
          </p:cNvPr>
          <p:cNvSpPr txBox="1"/>
          <p:nvPr/>
        </p:nvSpPr>
        <p:spPr>
          <a:xfrm>
            <a:off x="353750" y="959602"/>
            <a:ext cx="3167713" cy="307777"/>
          </a:xfrm>
          <a:prstGeom prst="rect">
            <a:avLst/>
          </a:prstGeom>
          <a:noFill/>
          <a:ln w="12700">
            <a:no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sv-SE" sz="1400" b="1">
                <a:solidFill>
                  <a:srgbClr val="EAF4FF"/>
                </a:solidFill>
              </a:rPr>
              <a:t>Dropout 0.2 gav bäst balans</a:t>
            </a:r>
          </a:p>
        </p:txBody>
      </p:sp>
      <p:sp>
        <p:nvSpPr>
          <p:cNvPr id="17" name="Rektangel: rundade hörn 16">
            <a:extLst>
              <a:ext uri="{FF2B5EF4-FFF2-40B4-BE49-F238E27FC236}">
                <a16:creationId xmlns:a16="http://schemas.microsoft.com/office/drawing/2014/main" id="{127274A1-0209-F249-9963-EA3795F38286}"/>
              </a:ext>
            </a:extLst>
          </p:cNvPr>
          <p:cNvSpPr/>
          <p:nvPr/>
        </p:nvSpPr>
        <p:spPr>
          <a:xfrm>
            <a:off x="270149" y="3547060"/>
            <a:ext cx="5206221" cy="2037133"/>
          </a:xfrm>
          <a:prstGeom prst="roundRect">
            <a:avLst/>
          </a:prstGeom>
          <a:noFill/>
          <a:ln w="6350">
            <a:solidFill>
              <a:srgbClr val="008C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26" name="textruta 25">
            <a:extLst>
              <a:ext uri="{FF2B5EF4-FFF2-40B4-BE49-F238E27FC236}">
                <a16:creationId xmlns:a16="http://schemas.microsoft.com/office/drawing/2014/main" id="{9C894DFF-A748-72C4-0FB3-150BD233052E}"/>
              </a:ext>
            </a:extLst>
          </p:cNvPr>
          <p:cNvSpPr txBox="1"/>
          <p:nvPr/>
        </p:nvSpPr>
        <p:spPr>
          <a:xfrm>
            <a:off x="1129862" y="3548991"/>
            <a:ext cx="2462158" cy="369332"/>
          </a:xfrm>
          <a:prstGeom prst="rect">
            <a:avLst/>
          </a:prstGeom>
          <a:noFill/>
          <a:ln w="12700">
            <a:no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sv-SE" b="1">
                <a:solidFill>
                  <a:srgbClr val="008CFF"/>
                </a:solidFill>
              </a:rPr>
              <a:t>Vad vi lärde oss</a:t>
            </a:r>
          </a:p>
        </p:txBody>
      </p:sp>
      <p:sp>
        <p:nvSpPr>
          <p:cNvPr id="35" name="textruta 34">
            <a:extLst>
              <a:ext uri="{FF2B5EF4-FFF2-40B4-BE49-F238E27FC236}">
                <a16:creationId xmlns:a16="http://schemas.microsoft.com/office/drawing/2014/main" id="{F8EB681A-1685-1F0F-DE21-D504ADCE1E42}"/>
              </a:ext>
            </a:extLst>
          </p:cNvPr>
          <p:cNvSpPr txBox="1"/>
          <p:nvPr/>
        </p:nvSpPr>
        <p:spPr>
          <a:xfrm>
            <a:off x="355291" y="1268115"/>
            <a:ext cx="2939590" cy="400110"/>
          </a:xfrm>
          <a:prstGeom prst="rect">
            <a:avLst/>
          </a:prstGeom>
          <a:noFill/>
          <a:ln w="12700">
            <a:no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sv-SE" sz="1000">
                <a:solidFill>
                  <a:srgbClr val="EAF4FF"/>
                </a:solidFill>
              </a:rPr>
              <a:t>Dropout 0.2 gav bäst balans mellan träning och validation accuracy.</a:t>
            </a:r>
          </a:p>
        </p:txBody>
      </p:sp>
      <p:sp>
        <p:nvSpPr>
          <p:cNvPr id="39" name="textruta 38">
            <a:extLst>
              <a:ext uri="{FF2B5EF4-FFF2-40B4-BE49-F238E27FC236}">
                <a16:creationId xmlns:a16="http://schemas.microsoft.com/office/drawing/2014/main" id="{AA6E03EA-F024-73E4-961B-540CC076C988}"/>
              </a:ext>
            </a:extLst>
          </p:cNvPr>
          <p:cNvSpPr txBox="1"/>
          <p:nvPr/>
        </p:nvSpPr>
        <p:spPr>
          <a:xfrm>
            <a:off x="947958" y="3883885"/>
            <a:ext cx="4040256" cy="1569660"/>
          </a:xfrm>
          <a:prstGeom prst="rect">
            <a:avLst/>
          </a:prstGeom>
          <a:noFill/>
          <a:ln w="12700">
            <a:no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171450" indent="-171450">
              <a:buFont typeface="Arial"/>
              <a:buChar char="•"/>
            </a:pPr>
            <a:r>
              <a:rPr lang="sv-SE" sz="1200">
                <a:solidFill>
                  <a:srgbClr val="EAF4FF"/>
                </a:solidFill>
              </a:rPr>
              <a:t>Regularisering är viktigt för att modeller ska generalisera bättre.</a:t>
            </a:r>
          </a:p>
          <a:p>
            <a:pPr marL="171450" indent="-171450">
              <a:buFont typeface="Arial"/>
              <a:buChar char="•"/>
            </a:pPr>
            <a:r>
              <a:rPr lang="sv-SE" sz="1200">
                <a:solidFill>
                  <a:srgbClr val="EAF4FF"/>
                </a:solidFill>
              </a:rPr>
              <a:t>Balansen mellan overfitting och underfitting är avgörande.</a:t>
            </a:r>
          </a:p>
          <a:p>
            <a:pPr marL="171450" indent="-171450">
              <a:buFont typeface="Arial"/>
              <a:buChar char="•"/>
            </a:pPr>
            <a:r>
              <a:rPr lang="sv-SE" sz="1200">
                <a:solidFill>
                  <a:srgbClr val="EAF4FF"/>
                </a:solidFill>
              </a:rPr>
              <a:t>Olika regulariseringstekniker påverkar modellen olika.</a:t>
            </a:r>
          </a:p>
          <a:p>
            <a:pPr marL="171450" indent="-171450">
              <a:buFont typeface="Arial"/>
              <a:buChar char="•"/>
            </a:pPr>
            <a:r>
              <a:rPr lang="sv-SE" sz="1200">
                <a:solidFill>
                  <a:srgbClr val="EAF4FF"/>
                </a:solidFill>
              </a:rPr>
              <a:t>Accuracy ensam räcker inte för full analys.</a:t>
            </a:r>
          </a:p>
          <a:p>
            <a:pPr marL="171450" indent="-171450">
              <a:buFont typeface="Arial"/>
              <a:buChar char="•"/>
            </a:pPr>
            <a:r>
              <a:rPr lang="sv-SE" sz="1200">
                <a:solidFill>
                  <a:srgbClr val="EAF4FF"/>
                </a:solidFill>
              </a:rPr>
              <a:t>Confusion matrix och prediction examples ger djupare analys.</a:t>
            </a:r>
          </a:p>
        </p:txBody>
      </p:sp>
      <p:sp>
        <p:nvSpPr>
          <p:cNvPr id="3" name="Rektangel: rundade hörn 2">
            <a:extLst>
              <a:ext uri="{FF2B5EF4-FFF2-40B4-BE49-F238E27FC236}">
                <a16:creationId xmlns:a16="http://schemas.microsoft.com/office/drawing/2014/main" id="{2F18F25C-BAF0-9654-2D5A-DA2365171B6B}"/>
              </a:ext>
            </a:extLst>
          </p:cNvPr>
          <p:cNvSpPr/>
          <p:nvPr/>
        </p:nvSpPr>
        <p:spPr>
          <a:xfrm>
            <a:off x="270149" y="1970603"/>
            <a:ext cx="3233429" cy="871741"/>
          </a:xfrm>
          <a:prstGeom prst="roundRect">
            <a:avLst/>
          </a:prstGeom>
          <a:noFill/>
          <a:ln w="6350">
            <a:solidFill>
              <a:srgbClr val="008C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8" name="textruta 7">
            <a:extLst>
              <a:ext uri="{FF2B5EF4-FFF2-40B4-BE49-F238E27FC236}">
                <a16:creationId xmlns:a16="http://schemas.microsoft.com/office/drawing/2014/main" id="{42012574-4A7D-3842-757A-A1019E49415D}"/>
              </a:ext>
            </a:extLst>
          </p:cNvPr>
          <p:cNvSpPr txBox="1"/>
          <p:nvPr/>
        </p:nvSpPr>
        <p:spPr>
          <a:xfrm>
            <a:off x="304361" y="1961491"/>
            <a:ext cx="3167713" cy="307777"/>
          </a:xfrm>
          <a:prstGeom prst="rect">
            <a:avLst/>
          </a:prstGeom>
          <a:noFill/>
          <a:ln w="12700">
            <a:no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sv-SE" sz="1400" b="1">
                <a:solidFill>
                  <a:srgbClr val="EAF4FF"/>
                </a:solidFill>
              </a:rPr>
              <a:t>Early Stopping fungerade bra</a:t>
            </a:r>
          </a:p>
        </p:txBody>
      </p:sp>
      <p:sp>
        <p:nvSpPr>
          <p:cNvPr id="9" name="textruta 8">
            <a:extLst>
              <a:ext uri="{FF2B5EF4-FFF2-40B4-BE49-F238E27FC236}">
                <a16:creationId xmlns:a16="http://schemas.microsoft.com/office/drawing/2014/main" id="{608AEFF7-C67B-6681-8EE0-48194261BBED}"/>
              </a:ext>
            </a:extLst>
          </p:cNvPr>
          <p:cNvSpPr txBox="1"/>
          <p:nvPr/>
        </p:nvSpPr>
        <p:spPr>
          <a:xfrm>
            <a:off x="355291" y="2270004"/>
            <a:ext cx="3115979" cy="414220"/>
          </a:xfrm>
          <a:prstGeom prst="rect">
            <a:avLst/>
          </a:prstGeom>
          <a:noFill/>
          <a:ln w="12700">
            <a:no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sv-SE" sz="1000">
                <a:solidFill>
                  <a:srgbClr val="EAF4FF"/>
                </a:solidFill>
              </a:rPr>
              <a:t>Early Stopping stoppade träningen innan modellen började overfitta.</a:t>
            </a:r>
          </a:p>
        </p:txBody>
      </p:sp>
      <p:sp>
        <p:nvSpPr>
          <p:cNvPr id="10" name="Rektangel: rundade hörn 9">
            <a:extLst>
              <a:ext uri="{FF2B5EF4-FFF2-40B4-BE49-F238E27FC236}">
                <a16:creationId xmlns:a16="http://schemas.microsoft.com/office/drawing/2014/main" id="{9A4D44A1-11E3-76B5-79A3-37222D2316A0}"/>
              </a:ext>
            </a:extLst>
          </p:cNvPr>
          <p:cNvSpPr/>
          <p:nvPr/>
        </p:nvSpPr>
        <p:spPr>
          <a:xfrm>
            <a:off x="4559927" y="975770"/>
            <a:ext cx="3233429" cy="871741"/>
          </a:xfrm>
          <a:prstGeom prst="roundRect">
            <a:avLst/>
          </a:prstGeom>
          <a:noFill/>
          <a:ln w="6350">
            <a:solidFill>
              <a:srgbClr val="008C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12" name="Rektangel: rundade hörn 11">
            <a:extLst>
              <a:ext uri="{FF2B5EF4-FFF2-40B4-BE49-F238E27FC236}">
                <a16:creationId xmlns:a16="http://schemas.microsoft.com/office/drawing/2014/main" id="{41E69E65-F2E7-10C2-2549-0AF8CBFB885B}"/>
              </a:ext>
            </a:extLst>
          </p:cNvPr>
          <p:cNvSpPr/>
          <p:nvPr/>
        </p:nvSpPr>
        <p:spPr>
          <a:xfrm>
            <a:off x="8602760" y="961658"/>
            <a:ext cx="3233429" cy="871741"/>
          </a:xfrm>
          <a:prstGeom prst="roundRect">
            <a:avLst/>
          </a:prstGeom>
          <a:noFill/>
          <a:ln w="6350">
            <a:solidFill>
              <a:srgbClr val="008C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14" name="Rektangel: rundade hörn 13">
            <a:extLst>
              <a:ext uri="{FF2B5EF4-FFF2-40B4-BE49-F238E27FC236}">
                <a16:creationId xmlns:a16="http://schemas.microsoft.com/office/drawing/2014/main" id="{77D15D95-811F-151E-2B51-833C59C6B17E}"/>
              </a:ext>
            </a:extLst>
          </p:cNvPr>
          <p:cNvSpPr/>
          <p:nvPr/>
        </p:nvSpPr>
        <p:spPr>
          <a:xfrm>
            <a:off x="4559927" y="1970603"/>
            <a:ext cx="3233429" cy="871741"/>
          </a:xfrm>
          <a:prstGeom prst="roundRect">
            <a:avLst/>
          </a:prstGeom>
          <a:noFill/>
          <a:ln w="6350">
            <a:solidFill>
              <a:srgbClr val="008C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25" name="Rektangel: rundade hörn 24">
            <a:extLst>
              <a:ext uri="{FF2B5EF4-FFF2-40B4-BE49-F238E27FC236}">
                <a16:creationId xmlns:a16="http://schemas.microsoft.com/office/drawing/2014/main" id="{053E3B89-D2DB-D098-3C4E-A51A674EBDCF}"/>
              </a:ext>
            </a:extLst>
          </p:cNvPr>
          <p:cNvSpPr/>
          <p:nvPr/>
        </p:nvSpPr>
        <p:spPr>
          <a:xfrm>
            <a:off x="8602760" y="1970603"/>
            <a:ext cx="3233429" cy="871741"/>
          </a:xfrm>
          <a:prstGeom prst="roundRect">
            <a:avLst/>
          </a:prstGeom>
          <a:noFill/>
          <a:ln w="6350">
            <a:solidFill>
              <a:srgbClr val="008C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31" name="textruta 30">
            <a:extLst>
              <a:ext uri="{FF2B5EF4-FFF2-40B4-BE49-F238E27FC236}">
                <a16:creationId xmlns:a16="http://schemas.microsoft.com/office/drawing/2014/main" id="{5B6D5B4B-60C7-E277-DDB6-C0365DCAC5AC}"/>
              </a:ext>
            </a:extLst>
          </p:cNvPr>
          <p:cNvSpPr txBox="1"/>
          <p:nvPr/>
        </p:nvSpPr>
        <p:spPr>
          <a:xfrm>
            <a:off x="4699972" y="959602"/>
            <a:ext cx="3167713" cy="307777"/>
          </a:xfrm>
          <a:prstGeom prst="rect">
            <a:avLst/>
          </a:prstGeom>
          <a:noFill/>
          <a:ln w="12700">
            <a:no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sv-SE" sz="1400" b="1">
                <a:solidFill>
                  <a:srgbClr val="EAF4FF"/>
                </a:solidFill>
              </a:rPr>
              <a:t>L2 gav stabil träning</a:t>
            </a:r>
          </a:p>
        </p:txBody>
      </p:sp>
      <p:sp>
        <p:nvSpPr>
          <p:cNvPr id="37" name="textruta 36">
            <a:extLst>
              <a:ext uri="{FF2B5EF4-FFF2-40B4-BE49-F238E27FC236}">
                <a16:creationId xmlns:a16="http://schemas.microsoft.com/office/drawing/2014/main" id="{3FA31659-C456-BA80-EC0A-CEB712AFE2FC}"/>
              </a:ext>
            </a:extLst>
          </p:cNvPr>
          <p:cNvSpPr txBox="1"/>
          <p:nvPr/>
        </p:nvSpPr>
        <p:spPr>
          <a:xfrm>
            <a:off x="4699973" y="1961490"/>
            <a:ext cx="3379378" cy="307777"/>
          </a:xfrm>
          <a:prstGeom prst="rect">
            <a:avLst/>
          </a:prstGeom>
          <a:noFill/>
          <a:ln w="12700">
            <a:no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sv-SE" sz="1400" b="1">
                <a:solidFill>
                  <a:srgbClr val="EAF4FF"/>
                </a:solidFill>
              </a:rPr>
              <a:t>L1 + L2 visade vikten av balans</a:t>
            </a:r>
          </a:p>
        </p:txBody>
      </p:sp>
      <p:sp>
        <p:nvSpPr>
          <p:cNvPr id="43" name="textruta 42">
            <a:extLst>
              <a:ext uri="{FF2B5EF4-FFF2-40B4-BE49-F238E27FC236}">
                <a16:creationId xmlns:a16="http://schemas.microsoft.com/office/drawing/2014/main" id="{593F984E-BD11-22F3-0171-4BC9C43E5C26}"/>
              </a:ext>
            </a:extLst>
          </p:cNvPr>
          <p:cNvSpPr txBox="1"/>
          <p:nvPr/>
        </p:nvSpPr>
        <p:spPr>
          <a:xfrm>
            <a:off x="8785139" y="959602"/>
            <a:ext cx="3167713" cy="307777"/>
          </a:xfrm>
          <a:prstGeom prst="rect">
            <a:avLst/>
          </a:prstGeom>
          <a:noFill/>
          <a:ln w="12700">
            <a:no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sv-SE" sz="1400" b="1">
                <a:solidFill>
                  <a:srgbClr val="EAF4FF"/>
                </a:solidFill>
              </a:rPr>
              <a:t>Dropout 0.5 gav sämre resultat</a:t>
            </a:r>
          </a:p>
        </p:txBody>
      </p:sp>
      <p:sp>
        <p:nvSpPr>
          <p:cNvPr id="44" name="textruta 43">
            <a:extLst>
              <a:ext uri="{FF2B5EF4-FFF2-40B4-BE49-F238E27FC236}">
                <a16:creationId xmlns:a16="http://schemas.microsoft.com/office/drawing/2014/main" id="{D22B6552-4220-197D-22CD-B72DC1D5FA8A}"/>
              </a:ext>
            </a:extLst>
          </p:cNvPr>
          <p:cNvSpPr txBox="1"/>
          <p:nvPr/>
        </p:nvSpPr>
        <p:spPr>
          <a:xfrm>
            <a:off x="8785139" y="1961490"/>
            <a:ext cx="3167713" cy="523220"/>
          </a:xfrm>
          <a:prstGeom prst="rect">
            <a:avLst/>
          </a:prstGeom>
          <a:noFill/>
          <a:ln w="12700">
            <a:no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sv-SE" sz="1400" b="1">
                <a:solidFill>
                  <a:srgbClr val="EAF4FF"/>
                </a:solidFill>
                <a:ea typeface="+mn-lt"/>
                <a:cs typeface="+mn-lt"/>
              </a:rPr>
              <a:t>Regularisering minskade tecken på overfitting</a:t>
            </a:r>
            <a:endParaRPr lang="sv-SE" sz="1400" b="1">
              <a:solidFill>
                <a:srgbClr val="EAF4FF"/>
              </a:solidFill>
            </a:endParaRPr>
          </a:p>
        </p:txBody>
      </p:sp>
      <p:sp>
        <p:nvSpPr>
          <p:cNvPr id="45" name="textruta 44">
            <a:extLst>
              <a:ext uri="{FF2B5EF4-FFF2-40B4-BE49-F238E27FC236}">
                <a16:creationId xmlns:a16="http://schemas.microsoft.com/office/drawing/2014/main" id="{F150956E-28F3-4AC3-8157-2B7EEF89C7EF}"/>
              </a:ext>
            </a:extLst>
          </p:cNvPr>
          <p:cNvSpPr txBox="1"/>
          <p:nvPr/>
        </p:nvSpPr>
        <p:spPr>
          <a:xfrm>
            <a:off x="4701514" y="1317503"/>
            <a:ext cx="2325757" cy="553998"/>
          </a:xfrm>
          <a:prstGeom prst="rect">
            <a:avLst/>
          </a:prstGeom>
          <a:noFill/>
          <a:ln w="12700">
            <a:no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sv-SE" sz="1000">
                <a:solidFill>
                  <a:srgbClr val="EAF4FF"/>
                </a:solidFill>
              </a:rPr>
              <a:t>L2-regularisering gav stabil träning där training och validation låg nära varandra.</a:t>
            </a:r>
          </a:p>
        </p:txBody>
      </p:sp>
      <p:sp>
        <p:nvSpPr>
          <p:cNvPr id="46" name="textruta 45">
            <a:extLst>
              <a:ext uri="{FF2B5EF4-FFF2-40B4-BE49-F238E27FC236}">
                <a16:creationId xmlns:a16="http://schemas.microsoft.com/office/drawing/2014/main" id="{81D32679-57B2-E90E-511C-A5BAFF707C2B}"/>
              </a:ext>
            </a:extLst>
          </p:cNvPr>
          <p:cNvSpPr txBox="1"/>
          <p:nvPr/>
        </p:nvSpPr>
        <p:spPr>
          <a:xfrm>
            <a:off x="4701513" y="2270003"/>
            <a:ext cx="3094812" cy="553998"/>
          </a:xfrm>
          <a:prstGeom prst="rect">
            <a:avLst/>
          </a:prstGeom>
          <a:noFill/>
          <a:ln w="12700">
            <a:no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sv-SE" sz="1000">
                <a:solidFill>
                  <a:srgbClr val="EAF4FF"/>
                </a:solidFill>
                <a:ea typeface="+mn-lt"/>
                <a:cs typeface="+mn-lt"/>
              </a:rPr>
              <a:t>För stark regularisering gav först underfitting, men bättre balans uppnåddes efter lägre regulariseringsvärden.</a:t>
            </a:r>
            <a:endParaRPr lang="sv-SE">
              <a:ea typeface="+mn-lt"/>
              <a:cs typeface="+mn-lt"/>
            </a:endParaRPr>
          </a:p>
        </p:txBody>
      </p:sp>
      <p:sp>
        <p:nvSpPr>
          <p:cNvPr id="47" name="textruta 46">
            <a:extLst>
              <a:ext uri="{FF2B5EF4-FFF2-40B4-BE49-F238E27FC236}">
                <a16:creationId xmlns:a16="http://schemas.microsoft.com/office/drawing/2014/main" id="{29F85FC6-206D-C44F-CC62-1DD6365989D9}"/>
              </a:ext>
            </a:extLst>
          </p:cNvPr>
          <p:cNvSpPr txBox="1"/>
          <p:nvPr/>
        </p:nvSpPr>
        <p:spPr>
          <a:xfrm>
            <a:off x="8786680" y="1268115"/>
            <a:ext cx="2840812" cy="400110"/>
          </a:xfrm>
          <a:prstGeom prst="rect">
            <a:avLst/>
          </a:prstGeom>
          <a:noFill/>
          <a:ln w="12700">
            <a:no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sv-SE" sz="1000">
                <a:solidFill>
                  <a:srgbClr val="EAF4FF"/>
                </a:solidFill>
                <a:ea typeface="+mn-lt"/>
                <a:cs typeface="+mn-lt"/>
              </a:rPr>
              <a:t>Dropout 0.5 gav stark regularisering men något lägre accuracy.</a:t>
            </a:r>
            <a:endParaRPr lang="sv-SE">
              <a:ea typeface="+mn-lt"/>
              <a:cs typeface="+mn-lt"/>
            </a:endParaRPr>
          </a:p>
        </p:txBody>
      </p:sp>
      <p:sp>
        <p:nvSpPr>
          <p:cNvPr id="48" name="textruta 47">
            <a:extLst>
              <a:ext uri="{FF2B5EF4-FFF2-40B4-BE49-F238E27FC236}">
                <a16:creationId xmlns:a16="http://schemas.microsoft.com/office/drawing/2014/main" id="{5DBE2412-E8BE-1D0F-E8B9-BAEDAB01DF94}"/>
              </a:ext>
            </a:extLst>
          </p:cNvPr>
          <p:cNvSpPr txBox="1"/>
          <p:nvPr/>
        </p:nvSpPr>
        <p:spPr>
          <a:xfrm>
            <a:off x="8786680" y="2411114"/>
            <a:ext cx="2911368" cy="414221"/>
          </a:xfrm>
          <a:prstGeom prst="rect">
            <a:avLst/>
          </a:prstGeom>
          <a:noFill/>
          <a:ln w="12700">
            <a:no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sv-SE" sz="1000">
                <a:solidFill>
                  <a:srgbClr val="EAF4FF"/>
                </a:solidFill>
                <a:ea typeface="+mn-lt"/>
                <a:cs typeface="+mn-lt"/>
              </a:rPr>
              <a:t>För stark regularisering gav sämre generalisering och lägre accuracy.</a:t>
            </a:r>
            <a:endParaRPr lang="sv-SE">
              <a:ea typeface="+mn-lt"/>
              <a:cs typeface="+mn-lt"/>
            </a:endParaRPr>
          </a:p>
        </p:txBody>
      </p:sp>
      <p:sp>
        <p:nvSpPr>
          <p:cNvPr id="49" name="Rektangel: rundade hörn 48">
            <a:extLst>
              <a:ext uri="{FF2B5EF4-FFF2-40B4-BE49-F238E27FC236}">
                <a16:creationId xmlns:a16="http://schemas.microsoft.com/office/drawing/2014/main" id="{30D94AB2-48CF-C984-9A3B-FB0278E54884}"/>
              </a:ext>
            </a:extLst>
          </p:cNvPr>
          <p:cNvSpPr/>
          <p:nvPr/>
        </p:nvSpPr>
        <p:spPr>
          <a:xfrm>
            <a:off x="6598982" y="3427115"/>
            <a:ext cx="5206221" cy="2037133"/>
          </a:xfrm>
          <a:prstGeom prst="roundRect">
            <a:avLst/>
          </a:prstGeom>
          <a:noFill/>
          <a:ln w="6350">
            <a:solidFill>
              <a:srgbClr val="008C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50" name="textruta 49">
            <a:extLst>
              <a:ext uri="{FF2B5EF4-FFF2-40B4-BE49-F238E27FC236}">
                <a16:creationId xmlns:a16="http://schemas.microsoft.com/office/drawing/2014/main" id="{7984719C-D512-8F37-C5C0-156FA3F2C46D}"/>
              </a:ext>
            </a:extLst>
          </p:cNvPr>
          <p:cNvSpPr txBox="1"/>
          <p:nvPr/>
        </p:nvSpPr>
        <p:spPr>
          <a:xfrm>
            <a:off x="7317584" y="3443158"/>
            <a:ext cx="2462158" cy="369332"/>
          </a:xfrm>
          <a:prstGeom prst="rect">
            <a:avLst/>
          </a:prstGeom>
          <a:noFill/>
          <a:ln w="12700">
            <a:no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sv-SE" b="1">
                <a:solidFill>
                  <a:srgbClr val="008CFF"/>
                </a:solidFill>
              </a:rPr>
              <a:t>Framtida arbete</a:t>
            </a:r>
          </a:p>
        </p:txBody>
      </p:sp>
      <p:sp>
        <p:nvSpPr>
          <p:cNvPr id="51" name="textruta 50">
            <a:extLst>
              <a:ext uri="{FF2B5EF4-FFF2-40B4-BE49-F238E27FC236}">
                <a16:creationId xmlns:a16="http://schemas.microsoft.com/office/drawing/2014/main" id="{4553B766-D95B-3704-2015-54A2C8D5D889}"/>
              </a:ext>
            </a:extLst>
          </p:cNvPr>
          <p:cNvSpPr txBox="1"/>
          <p:nvPr/>
        </p:nvSpPr>
        <p:spPr>
          <a:xfrm>
            <a:off x="7178013" y="3919162"/>
            <a:ext cx="4040256" cy="1292662"/>
          </a:xfrm>
          <a:prstGeom prst="rect">
            <a:avLst/>
          </a:prstGeom>
          <a:noFill/>
          <a:ln w="12700">
            <a:no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171450" indent="-171450">
              <a:buFont typeface="Arial"/>
              <a:buChar char="•"/>
            </a:pPr>
            <a:r>
              <a:rPr lang="sv-SE" sz="1200">
                <a:solidFill>
                  <a:srgbClr val="EAF4FF"/>
                </a:solidFill>
              </a:rPr>
              <a:t>Testa fler dropout-värden, exempelvis 0.1 eller 0.3.</a:t>
            </a:r>
          </a:p>
          <a:p>
            <a:pPr marL="171450" indent="-171450">
              <a:lnSpc>
                <a:spcPct val="150000"/>
              </a:lnSpc>
              <a:buFont typeface="Arial"/>
              <a:buChar char="•"/>
            </a:pPr>
            <a:r>
              <a:rPr lang="sv-SE" sz="1200">
                <a:solidFill>
                  <a:srgbClr val="EAF4FF"/>
                </a:solidFill>
              </a:rPr>
              <a:t>Undersöka fler kombinationer av L1 och L2</a:t>
            </a:r>
          </a:p>
          <a:p>
            <a:pPr marL="171450" indent="-171450">
              <a:buFont typeface="Arial"/>
              <a:buChar char="•"/>
            </a:pPr>
            <a:r>
              <a:rPr lang="sv-SE" sz="1200">
                <a:solidFill>
                  <a:srgbClr val="EAF4FF"/>
                </a:solidFill>
              </a:rPr>
              <a:t>Experimentera med olika regulariseringsstyrkor.</a:t>
            </a:r>
          </a:p>
          <a:p>
            <a:pPr marL="171450" indent="-171450">
              <a:buFont typeface="Arial"/>
              <a:buChar char="•"/>
            </a:pPr>
            <a:r>
              <a:rPr lang="sv-SE" sz="1200">
                <a:solidFill>
                  <a:srgbClr val="EAF4FF"/>
                </a:solidFill>
                <a:ea typeface="+mn-lt"/>
                <a:cs typeface="+mn-lt"/>
              </a:rPr>
              <a:t>Undersöka hur olika hyperparametrar och antal epoker påverkar modellen.</a:t>
            </a:r>
          </a:p>
          <a:p>
            <a:pPr marL="171450" indent="-171450">
              <a:buFont typeface="Arial"/>
              <a:buChar char="•"/>
            </a:pPr>
            <a:r>
              <a:rPr lang="sv-SE" sz="1200">
                <a:solidFill>
                  <a:srgbClr val="EAF4FF"/>
                </a:solidFill>
              </a:rPr>
              <a:t>Jämföra fler regulariseringstekniker inom deep learning</a:t>
            </a:r>
          </a:p>
        </p:txBody>
      </p:sp>
      <p:pic>
        <p:nvPicPr>
          <p:cNvPr id="52" name="Bild 51" descr="Kikare med hel fyllning">
            <a:extLst>
              <a:ext uri="{FF2B5EF4-FFF2-40B4-BE49-F238E27FC236}">
                <a16:creationId xmlns:a16="http://schemas.microsoft.com/office/drawing/2014/main" id="{9CF4595C-B2A2-CA19-F3A7-A73FDD20112C}"/>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6732411" y="3430411"/>
            <a:ext cx="498122" cy="378178"/>
          </a:xfrm>
          <a:prstGeom prst="rect">
            <a:avLst/>
          </a:prstGeom>
        </p:spPr>
      </p:pic>
      <p:pic>
        <p:nvPicPr>
          <p:cNvPr id="53" name="Bild 52" descr="Studentmössa med hel fyllning">
            <a:extLst>
              <a:ext uri="{FF2B5EF4-FFF2-40B4-BE49-F238E27FC236}">
                <a16:creationId xmlns:a16="http://schemas.microsoft.com/office/drawing/2014/main" id="{E85AA811-2C9E-8BA4-79B0-B7B69A98DED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16467" y="3550355"/>
            <a:ext cx="427567" cy="392290"/>
          </a:xfrm>
          <a:prstGeom prst="rect">
            <a:avLst/>
          </a:prstGeom>
        </p:spPr>
      </p:pic>
      <p:pic>
        <p:nvPicPr>
          <p:cNvPr id="54" name="Bild 53" descr="Blogg kontur">
            <a:extLst>
              <a:ext uri="{FF2B5EF4-FFF2-40B4-BE49-F238E27FC236}">
                <a16:creationId xmlns:a16="http://schemas.microsoft.com/office/drawing/2014/main" id="{5D47C159-B3A1-A482-6905-4AF4AA1CCD8C}"/>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43466" y="6033910"/>
            <a:ext cx="554568" cy="505179"/>
          </a:xfrm>
          <a:prstGeom prst="rect">
            <a:avLst/>
          </a:prstGeom>
        </p:spPr>
      </p:pic>
    </p:spTree>
    <p:extLst>
      <p:ext uri="{BB962C8B-B14F-4D97-AF65-F5344CB8AC3E}">
        <p14:creationId xmlns:p14="http://schemas.microsoft.com/office/powerpoint/2010/main" val="2151665175"/>
      </p:ext>
    </p:extLst>
  </p:cSld>
  <p:clrMapOvr>
    <a:masterClrMapping/>
  </p:clrMapOvr>
</p:sld>
</file>

<file path=ppt/theme/theme1.xml><?xml version="1.0" encoding="utf-8"?>
<a:theme xmlns:a="http://schemas.openxmlformats.org/drawingml/2006/main" name="Office-tema">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panose="020B0004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Application>Microsoft Office PowerPoint</Application>
  <PresentationFormat>Bredbild</PresentationFormat>
  <Slides>10</Slides>
  <Notes>0</Notes>
  <HiddenSlides>0</HiddenSlides>
  <ScaleCrop>false</ScaleCrop>
  <HeadingPairs>
    <vt:vector size="4" baseType="variant">
      <vt:variant>
        <vt:lpstr>Tema</vt:lpstr>
      </vt:variant>
      <vt:variant>
        <vt:i4>1</vt:i4>
      </vt:variant>
      <vt:variant>
        <vt:lpstr>Bildrubriker</vt:lpstr>
      </vt:variant>
      <vt:variant>
        <vt:i4>10</vt:i4>
      </vt:variant>
    </vt:vector>
  </HeadingPairs>
  <TitlesOfParts>
    <vt:vector size="11" baseType="lpstr">
      <vt:lpstr>Office-tema</vt:lpstr>
      <vt:lpstr>PowerPoint-presentation</vt:lpstr>
      <vt:lpstr>PowerPoint-presentation</vt:lpstr>
      <vt:lpstr>PowerPoint-presentation</vt:lpstr>
      <vt:lpstr>PowerPoint-presentation</vt:lpstr>
      <vt:lpstr>PowerPoint-presentation</vt:lpstr>
      <vt:lpstr>PowerPoint-presentation</vt:lpstr>
      <vt:lpstr>PowerPoint-presentation</vt:lpstr>
      <vt:lpstr>PowerPoint-presentation</vt:lpstr>
      <vt:lpstr>PowerPoint-presentation</vt:lpstr>
      <vt:lpstr>PowerPoint-presentation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revision>13</cp:revision>
  <dcterms:created xsi:type="dcterms:W3CDTF">2026-05-20T09:01:41Z</dcterms:created>
  <dcterms:modified xsi:type="dcterms:W3CDTF">2026-05-26T05:34:52Z</dcterms:modified>
</cp:coreProperties>
</file>